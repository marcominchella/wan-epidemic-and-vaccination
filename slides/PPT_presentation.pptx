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8288000" cy="10287000"/>
  <p:notesSz cx="6858000" cy="9144000"/>
  <p:embeddedFontLst>
    <p:embeddedFont>
      <p:font typeface="Lato" panose="020F0502020204030203" pitchFamily="34" charset="0"/>
      <p:regular r:id="rId43"/>
      <p:bold r:id="rId44"/>
      <p:italic r:id="rId45"/>
      <p:boldItalic r:id="rId46"/>
    </p:embeddedFont>
    <p:embeddedFont>
      <p:font typeface="Lato Bold" panose="020F0502020204030203" pitchFamily="34" charset="0"/>
      <p:regular r:id="rId47"/>
      <p:bold r:id="rId48"/>
    </p:embeddedFont>
    <p:embeddedFont>
      <p:font typeface="Open Sans" panose="020B0606030504020204" pitchFamily="34" charset="0"/>
      <p:regular r:id="rId49"/>
    </p:embeddedFont>
    <p:embeddedFont>
      <p:font typeface="Open Sans Bold" panose="020B0806030504020204" charset="0"/>
      <p:regular r:id="rId50"/>
    </p:embeddedFont>
    <p:embeddedFont>
      <p:font typeface="Poppins Bold" panose="020B0604020202020204" charset="0"/>
      <p:regular r:id="rId51"/>
    </p:embeddedFont>
    <p:embeddedFont>
      <p:font typeface="Roboto" panose="02000000000000000000" pitchFamily="2" charset="0"/>
      <p:regular r:id="rId52"/>
    </p:embeddedFont>
    <p:embeddedFont>
      <p:font typeface="Roboto Bold" panose="02000000000000000000" charset="0"/>
      <p:regular r:id="rId53"/>
    </p:embeddedFont>
    <p:embeddedFont>
      <p:font typeface="Roboto Bold Italics" panose="020B0604020202020204" charset="0"/>
      <p:regular r:id="rId54"/>
    </p:embeddedFont>
    <p:embeddedFont>
      <p:font typeface="Roboto Italics" panose="020B0604020202020204" charset="0"/>
      <p:regular r:id="rId5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openflights.org" TargetMode="External"/><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hyperlink" Target="http://worldpopulationreview.com/world-cities/" TargetMode="External"/><Relationship Id="rId4" Type="http://schemas.openxmlformats.org/officeDocument/2006/relationships/hyperlink" Target="http://flightconnections.com"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2.svg"/><Relationship Id="rId7" Type="http://schemas.openxmlformats.org/officeDocument/2006/relationships/image" Target="../media/image46.png"/><Relationship Id="rId2" Type="http://schemas.openxmlformats.org/officeDocument/2006/relationships/image" Target="../media/image41.sv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svg"/></Relationships>
</file>

<file path=ppt/slides/_rels/slide26.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2" Type="http://schemas.openxmlformats.org/officeDocument/2006/relationships/image" Target="../media/image50.sv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0.sv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0.sv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svg"/><Relationship Id="rId1" Type="http://schemas.openxmlformats.org/officeDocument/2006/relationships/slideLayout" Target="../slideLayouts/slideLayout7.xml"/><Relationship Id="rId4" Type="http://schemas.openxmlformats.org/officeDocument/2006/relationships/image" Target="../media/image55.svg"/></Relationships>
</file>

<file path=ppt/slides/_rels/slide32.xml.rels><?xml version="1.0" encoding="UTF-8" standalone="yes"?>
<Relationships xmlns="http://schemas.openxmlformats.org/package/2006/relationships"><Relationship Id="rId2" Type="http://schemas.openxmlformats.org/officeDocument/2006/relationships/image" Target="../media/image56.sv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sv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https://www.pnas.org/doi/full/10.1073/pnas.0400087101#con2" TargetMode="External"/><Relationship Id="rId2" Type="http://schemas.openxmlformats.org/officeDocument/2006/relationships/hyperlink" Target="https://www.pnas.org/doi/full/10.1073/pnas.0400087101#con1" TargetMode="External"/><Relationship Id="rId1" Type="http://schemas.openxmlformats.org/officeDocument/2006/relationships/slideLayout" Target="../slideLayouts/slideLayout7.xml"/><Relationship Id="rId5" Type="http://schemas.openxmlformats.org/officeDocument/2006/relationships/hyperlink" Target="https://www.pnas.org/doi/full/10.1073/pnas.0400087101#con4" TargetMode="External"/><Relationship Id="rId4" Type="http://schemas.openxmlformats.org/officeDocument/2006/relationships/hyperlink" Target="https://www.pnas.org/doi/full/10.1073/pnas.0400087101#con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8451060" y="1732022"/>
            <a:ext cx="4688860" cy="2183058"/>
          </a:xfrm>
          <a:custGeom>
            <a:avLst/>
            <a:gdLst/>
            <a:ahLst/>
            <a:cxnLst/>
            <a:rect l="l" t="t" r="r" b="b"/>
            <a:pathLst>
              <a:path w="4688860" h="2183058">
                <a:moveTo>
                  <a:pt x="0" y="0"/>
                </a:moveTo>
                <a:lnTo>
                  <a:pt x="4688860" y="0"/>
                </a:lnTo>
                <a:lnTo>
                  <a:pt x="4688860" y="2183057"/>
                </a:lnTo>
                <a:lnTo>
                  <a:pt x="0" y="218305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3" name="Freeform 3"/>
          <p:cNvSpPr/>
          <p:nvPr/>
        </p:nvSpPr>
        <p:spPr>
          <a:xfrm>
            <a:off x="5808922" y="1093400"/>
            <a:ext cx="2837155" cy="2821680"/>
          </a:xfrm>
          <a:custGeom>
            <a:avLst/>
            <a:gdLst/>
            <a:ahLst/>
            <a:cxnLst/>
            <a:rect l="l" t="t" r="r" b="b"/>
            <a:pathLst>
              <a:path w="2837155" h="2821680">
                <a:moveTo>
                  <a:pt x="0" y="0"/>
                </a:moveTo>
                <a:lnTo>
                  <a:pt x="2837155" y="0"/>
                </a:lnTo>
                <a:lnTo>
                  <a:pt x="2837155" y="2821679"/>
                </a:lnTo>
                <a:lnTo>
                  <a:pt x="0" y="2821679"/>
                </a:lnTo>
                <a:lnTo>
                  <a:pt x="0" y="0"/>
                </a:lnTo>
                <a:close/>
              </a:path>
            </a:pathLst>
          </a:custGeom>
          <a:blipFill>
            <a:blip r:embed="rId3"/>
            <a:stretch>
              <a:fillRect/>
            </a:stretch>
          </a:blipFill>
          <a:ln cap="sq">
            <a:noFill/>
            <a:prstDash val="solid"/>
            <a:miter/>
          </a:ln>
        </p:spPr>
        <p:txBody>
          <a:bodyPr/>
          <a:lstStyle/>
          <a:p>
            <a:endParaRPr lang="it-IT"/>
          </a:p>
        </p:txBody>
      </p:sp>
      <p:sp>
        <p:nvSpPr>
          <p:cNvPr id="4" name="TextBox 4"/>
          <p:cNvSpPr txBox="1"/>
          <p:nvPr/>
        </p:nvSpPr>
        <p:spPr>
          <a:xfrm>
            <a:off x="786056" y="4105579"/>
            <a:ext cx="16634725" cy="2929717"/>
          </a:xfrm>
          <a:prstGeom prst="rect">
            <a:avLst/>
          </a:prstGeom>
        </p:spPr>
        <p:txBody>
          <a:bodyPr lIns="0" tIns="0" rIns="0" bIns="0" rtlCol="0" anchor="t">
            <a:spAutoFit/>
          </a:bodyPr>
          <a:lstStyle/>
          <a:p>
            <a:pPr algn="ctr">
              <a:lnSpc>
                <a:spcPts val="11412"/>
              </a:lnSpc>
              <a:spcBef>
                <a:spcPct val="0"/>
              </a:spcBef>
            </a:pPr>
            <a:r>
              <a:rPr lang="en-US" sz="8151" b="1" spc="-415">
                <a:solidFill>
                  <a:srgbClr val="FFFFFF"/>
                </a:solidFill>
                <a:latin typeface="Poppins Bold"/>
                <a:ea typeface="Poppins Bold"/>
                <a:cs typeface="Poppins Bold"/>
                <a:sym typeface="Poppins Bold"/>
              </a:rPr>
              <a:t>ANALYSIS OF AN AIRPORT NETWORK DISEASE SPREAD MODEL</a:t>
            </a:r>
          </a:p>
        </p:txBody>
      </p:sp>
      <p:grpSp>
        <p:nvGrpSpPr>
          <p:cNvPr id="5" name="Group 5"/>
          <p:cNvGrpSpPr/>
          <p:nvPr/>
        </p:nvGrpSpPr>
        <p:grpSpPr>
          <a:xfrm>
            <a:off x="6670354" y="7468053"/>
            <a:ext cx="4947291" cy="1055898"/>
            <a:chOff x="0" y="0"/>
            <a:chExt cx="6596388" cy="1407864"/>
          </a:xfrm>
        </p:grpSpPr>
        <p:grpSp>
          <p:nvGrpSpPr>
            <p:cNvPr id="6" name="Group 6"/>
            <p:cNvGrpSpPr/>
            <p:nvPr/>
          </p:nvGrpSpPr>
          <p:grpSpPr>
            <a:xfrm>
              <a:off x="0" y="0"/>
              <a:ext cx="6596388" cy="1407864"/>
              <a:chOff x="0" y="0"/>
              <a:chExt cx="835142" cy="178244"/>
            </a:xfrm>
          </p:grpSpPr>
          <p:sp>
            <p:nvSpPr>
              <p:cNvPr id="7" name="Freeform 7"/>
              <p:cNvSpPr/>
              <p:nvPr/>
            </p:nvSpPr>
            <p:spPr>
              <a:xfrm>
                <a:off x="0" y="0"/>
                <a:ext cx="835142" cy="178244"/>
              </a:xfrm>
              <a:custGeom>
                <a:avLst/>
                <a:gdLst/>
                <a:ahLst/>
                <a:cxnLst/>
                <a:rect l="l" t="t" r="r" b="b"/>
                <a:pathLst>
                  <a:path w="835142" h="178244">
                    <a:moveTo>
                      <a:pt x="89122" y="0"/>
                    </a:moveTo>
                    <a:lnTo>
                      <a:pt x="746020" y="0"/>
                    </a:lnTo>
                    <a:cubicBezTo>
                      <a:pt x="795241" y="0"/>
                      <a:pt x="835142" y="39901"/>
                      <a:pt x="835142" y="89122"/>
                    </a:cubicBezTo>
                    <a:lnTo>
                      <a:pt x="835142" y="89122"/>
                    </a:lnTo>
                    <a:cubicBezTo>
                      <a:pt x="835142" y="138343"/>
                      <a:pt x="795241" y="178244"/>
                      <a:pt x="746020" y="178244"/>
                    </a:cubicBezTo>
                    <a:lnTo>
                      <a:pt x="89122" y="178244"/>
                    </a:lnTo>
                    <a:cubicBezTo>
                      <a:pt x="39901" y="178244"/>
                      <a:pt x="0" y="138343"/>
                      <a:pt x="0" y="89122"/>
                    </a:cubicBezTo>
                    <a:lnTo>
                      <a:pt x="0" y="89122"/>
                    </a:lnTo>
                    <a:cubicBezTo>
                      <a:pt x="0" y="39901"/>
                      <a:pt x="39901" y="0"/>
                      <a:pt x="89122" y="0"/>
                    </a:cubicBezTo>
                    <a:close/>
                  </a:path>
                </a:pathLst>
              </a:custGeom>
              <a:solidFill>
                <a:srgbClr val="FFFFFF"/>
              </a:solidFill>
            </p:spPr>
            <p:txBody>
              <a:bodyPr/>
              <a:lstStyle/>
              <a:p>
                <a:endParaRPr lang="it-IT"/>
              </a:p>
            </p:txBody>
          </p:sp>
          <p:sp>
            <p:nvSpPr>
              <p:cNvPr id="8" name="TextBox 8"/>
              <p:cNvSpPr txBox="1"/>
              <p:nvPr/>
            </p:nvSpPr>
            <p:spPr>
              <a:xfrm>
                <a:off x="0" y="-38100"/>
                <a:ext cx="835142" cy="216344"/>
              </a:xfrm>
              <a:prstGeom prst="rect">
                <a:avLst/>
              </a:prstGeom>
            </p:spPr>
            <p:txBody>
              <a:bodyPr lIns="50800" tIns="50800" rIns="50800" bIns="50800" rtlCol="0" anchor="ctr"/>
              <a:lstStyle/>
              <a:p>
                <a:pPr algn="ctr">
                  <a:lnSpc>
                    <a:spcPts val="2799"/>
                  </a:lnSpc>
                </a:pPr>
                <a:endParaRPr/>
              </a:p>
            </p:txBody>
          </p:sp>
        </p:grpSp>
        <p:sp>
          <p:nvSpPr>
            <p:cNvPr id="9" name="TextBox 9"/>
            <p:cNvSpPr txBox="1"/>
            <p:nvPr/>
          </p:nvSpPr>
          <p:spPr>
            <a:xfrm>
              <a:off x="1098964" y="323526"/>
              <a:ext cx="4398461" cy="694136"/>
            </a:xfrm>
            <a:prstGeom prst="rect">
              <a:avLst/>
            </a:prstGeom>
          </p:spPr>
          <p:txBody>
            <a:bodyPr lIns="0" tIns="0" rIns="0" bIns="0" rtlCol="0" anchor="t">
              <a:spAutoFit/>
            </a:bodyPr>
            <a:lstStyle/>
            <a:p>
              <a:pPr algn="ctr">
                <a:lnSpc>
                  <a:spcPts val="4368"/>
                </a:lnSpc>
                <a:spcBef>
                  <a:spcPct val="0"/>
                </a:spcBef>
              </a:pPr>
              <a:r>
                <a:rPr lang="en-US" sz="3120" b="1">
                  <a:solidFill>
                    <a:srgbClr val="09A5FF"/>
                  </a:solidFill>
                  <a:latin typeface="Lato Bold"/>
                  <a:ea typeface="Lato Bold"/>
                  <a:cs typeface="Lato Bold"/>
                  <a:sym typeface="Lato Bold"/>
                </a:rPr>
                <a:t>Marco Minchella</a:t>
              </a:r>
            </a:p>
          </p:txBody>
        </p:sp>
      </p:grpSp>
      <p:sp>
        <p:nvSpPr>
          <p:cNvPr id="10" name="TextBox 10"/>
          <p:cNvSpPr txBox="1"/>
          <p:nvPr/>
        </p:nvSpPr>
        <p:spPr>
          <a:xfrm>
            <a:off x="6716014" y="8914476"/>
            <a:ext cx="4774807" cy="333664"/>
          </a:xfrm>
          <a:prstGeom prst="rect">
            <a:avLst/>
          </a:prstGeom>
        </p:spPr>
        <p:txBody>
          <a:bodyPr lIns="0" tIns="0" rIns="0" bIns="0" rtlCol="0" anchor="t">
            <a:spAutoFit/>
          </a:bodyPr>
          <a:lstStyle/>
          <a:p>
            <a:pPr algn="ctr">
              <a:lnSpc>
                <a:spcPts val="2715"/>
              </a:lnSpc>
              <a:spcBef>
                <a:spcPct val="0"/>
              </a:spcBef>
            </a:pPr>
            <a:r>
              <a:rPr lang="en-US" sz="1939">
                <a:solidFill>
                  <a:srgbClr val="FFFFFF"/>
                </a:solidFill>
                <a:latin typeface="Lato"/>
                <a:ea typeface="Lato"/>
                <a:cs typeface="Lato"/>
                <a:sym typeface="Lato"/>
              </a:rPr>
              <a:t>marco.minchella@studenti.unipd.it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5436453" y="2508191"/>
            <a:ext cx="6750109" cy="6750109"/>
          </a:xfrm>
          <a:custGeom>
            <a:avLst/>
            <a:gdLst/>
            <a:ahLst/>
            <a:cxnLst/>
            <a:rect l="l" t="t" r="r" b="b"/>
            <a:pathLst>
              <a:path w="6750109" h="6750109">
                <a:moveTo>
                  <a:pt x="0" y="0"/>
                </a:moveTo>
                <a:lnTo>
                  <a:pt x="6750109" y="0"/>
                </a:lnTo>
                <a:lnTo>
                  <a:pt x="6750109" y="6750109"/>
                </a:lnTo>
                <a:lnTo>
                  <a:pt x="0" y="675010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3" name="TextBox 3"/>
          <p:cNvSpPr txBox="1"/>
          <p:nvPr/>
        </p:nvSpPr>
        <p:spPr>
          <a:xfrm>
            <a:off x="220137" y="59028"/>
            <a:ext cx="17847727" cy="1286472"/>
          </a:xfrm>
          <a:prstGeom prst="rect">
            <a:avLst/>
          </a:prstGeom>
        </p:spPr>
        <p:txBody>
          <a:bodyPr lIns="0" tIns="0" rIns="0" bIns="0" rtlCol="0" anchor="t">
            <a:spAutoFit/>
          </a:bodyPr>
          <a:lstStyle/>
          <a:p>
            <a:pPr algn="ctr">
              <a:lnSpc>
                <a:spcPts val="9926"/>
              </a:lnSpc>
            </a:pPr>
            <a:r>
              <a:rPr lang="en-US" sz="7090" b="1">
                <a:solidFill>
                  <a:srgbClr val="FFFFFF"/>
                </a:solidFill>
                <a:latin typeface="Poppins Bold"/>
                <a:ea typeface="Poppins Bold"/>
                <a:cs typeface="Poppins Bold"/>
                <a:sym typeface="Poppins Bold"/>
              </a:rPr>
              <a:t>CONTENT ROADMAP</a:t>
            </a:r>
          </a:p>
        </p:txBody>
      </p:sp>
      <p:sp>
        <p:nvSpPr>
          <p:cNvPr id="4" name="Freeform 4"/>
          <p:cNvSpPr/>
          <p:nvPr/>
        </p:nvSpPr>
        <p:spPr>
          <a:xfrm>
            <a:off x="9144000" y="2024478"/>
            <a:ext cx="3640185" cy="942796"/>
          </a:xfrm>
          <a:custGeom>
            <a:avLst/>
            <a:gdLst/>
            <a:ahLst/>
            <a:cxnLst/>
            <a:rect l="l" t="t" r="r" b="b"/>
            <a:pathLst>
              <a:path w="3640185" h="942796">
                <a:moveTo>
                  <a:pt x="0" y="942797"/>
                </a:moveTo>
                <a:lnTo>
                  <a:pt x="0" y="228600"/>
                </a:lnTo>
                <a:cubicBezTo>
                  <a:pt x="0" y="167972"/>
                  <a:pt x="24085" y="109826"/>
                  <a:pt x="66956" y="66956"/>
                </a:cubicBezTo>
                <a:cubicBezTo>
                  <a:pt x="109826" y="24085"/>
                  <a:pt x="167971" y="0"/>
                  <a:pt x="228600" y="0"/>
                </a:cubicBezTo>
                <a:lnTo>
                  <a:pt x="3640185" y="0"/>
                </a:lnTo>
              </a:path>
            </a:pathLst>
          </a:custGeom>
          <a:ln w="190500" cap="flat">
            <a:solidFill>
              <a:srgbClr val="000000"/>
            </a:solidFill>
            <a:prstDash val="sysDash"/>
            <a:headEnd type="none" w="sm" len="sm"/>
            <a:tailEnd type="none" w="sm" len="sm"/>
          </a:ln>
        </p:spPr>
        <p:txBody>
          <a:bodyPr/>
          <a:lstStyle/>
          <a:p>
            <a:endParaRPr lang="it-IT"/>
          </a:p>
        </p:txBody>
      </p:sp>
      <p:sp>
        <p:nvSpPr>
          <p:cNvPr id="5" name="Freeform 5"/>
          <p:cNvSpPr/>
          <p:nvPr/>
        </p:nvSpPr>
        <p:spPr>
          <a:xfrm>
            <a:off x="9961384" y="6370710"/>
            <a:ext cx="3172233" cy="362544"/>
          </a:xfrm>
          <a:custGeom>
            <a:avLst/>
            <a:gdLst/>
            <a:ahLst/>
            <a:cxnLst/>
            <a:rect l="l" t="t" r="r" b="b"/>
            <a:pathLst>
              <a:path w="3172233" h="362544">
                <a:moveTo>
                  <a:pt x="0" y="0"/>
                </a:moveTo>
                <a:lnTo>
                  <a:pt x="0" y="181272"/>
                </a:lnTo>
                <a:cubicBezTo>
                  <a:pt x="0" y="229348"/>
                  <a:pt x="19098" y="275456"/>
                  <a:pt x="53094" y="309450"/>
                </a:cubicBezTo>
                <a:cubicBezTo>
                  <a:pt x="87089" y="343446"/>
                  <a:pt x="133196" y="362544"/>
                  <a:pt x="181272" y="362544"/>
                </a:cubicBezTo>
                <a:lnTo>
                  <a:pt x="3172233" y="362544"/>
                </a:lnTo>
              </a:path>
            </a:pathLst>
          </a:custGeom>
          <a:ln w="190500" cap="flat">
            <a:solidFill>
              <a:srgbClr val="000000"/>
            </a:solidFill>
            <a:prstDash val="sysDash"/>
            <a:headEnd type="none" w="sm" len="sm"/>
            <a:tailEnd type="none" w="sm" len="sm"/>
          </a:ln>
        </p:spPr>
        <p:txBody>
          <a:bodyPr/>
          <a:lstStyle/>
          <a:p>
            <a:endParaRPr lang="it-IT"/>
          </a:p>
        </p:txBody>
      </p:sp>
      <p:sp>
        <p:nvSpPr>
          <p:cNvPr id="6" name="Freeform 6"/>
          <p:cNvSpPr/>
          <p:nvPr/>
        </p:nvSpPr>
        <p:spPr>
          <a:xfrm>
            <a:off x="4713581" y="4841442"/>
            <a:ext cx="2838782" cy="524102"/>
          </a:xfrm>
          <a:custGeom>
            <a:avLst/>
            <a:gdLst/>
            <a:ahLst/>
            <a:cxnLst/>
            <a:rect l="l" t="t" r="r" b="b"/>
            <a:pathLst>
              <a:path w="2838782" h="524102">
                <a:moveTo>
                  <a:pt x="2838781" y="524102"/>
                </a:moveTo>
                <a:lnTo>
                  <a:pt x="2838781" y="228600"/>
                </a:lnTo>
                <a:cubicBezTo>
                  <a:pt x="2838781" y="102348"/>
                  <a:pt x="2736433" y="0"/>
                  <a:pt x="2610181" y="0"/>
                </a:cubicBezTo>
                <a:lnTo>
                  <a:pt x="0" y="0"/>
                </a:lnTo>
              </a:path>
            </a:pathLst>
          </a:custGeom>
          <a:ln w="190500" cap="flat">
            <a:solidFill>
              <a:srgbClr val="000000"/>
            </a:solidFill>
            <a:prstDash val="sysDash"/>
            <a:headEnd type="none" w="sm" len="sm"/>
            <a:tailEnd type="none" w="sm" len="sm"/>
          </a:ln>
        </p:spPr>
        <p:txBody>
          <a:bodyPr/>
          <a:lstStyle/>
          <a:p>
            <a:endParaRPr lang="it-IT"/>
          </a:p>
        </p:txBody>
      </p:sp>
      <p:sp>
        <p:nvSpPr>
          <p:cNvPr id="7" name="Freeform 7"/>
          <p:cNvSpPr/>
          <p:nvPr/>
        </p:nvSpPr>
        <p:spPr>
          <a:xfrm>
            <a:off x="5206162" y="8793609"/>
            <a:ext cx="3262102" cy="394065"/>
          </a:xfrm>
          <a:custGeom>
            <a:avLst/>
            <a:gdLst/>
            <a:ahLst/>
            <a:cxnLst/>
            <a:rect l="l" t="t" r="r" b="b"/>
            <a:pathLst>
              <a:path w="3262102" h="394065">
                <a:moveTo>
                  <a:pt x="3262102" y="0"/>
                </a:moveTo>
                <a:lnTo>
                  <a:pt x="3262102" y="197033"/>
                </a:lnTo>
                <a:cubicBezTo>
                  <a:pt x="3262102" y="249289"/>
                  <a:pt x="3241343" y="299405"/>
                  <a:pt x="3204392" y="336355"/>
                </a:cubicBezTo>
                <a:cubicBezTo>
                  <a:pt x="3167442" y="373307"/>
                  <a:pt x="3117325" y="394065"/>
                  <a:pt x="3065070" y="394065"/>
                </a:cubicBezTo>
                <a:lnTo>
                  <a:pt x="0" y="394065"/>
                </a:lnTo>
              </a:path>
            </a:pathLst>
          </a:custGeom>
          <a:ln w="190500" cap="flat">
            <a:solidFill>
              <a:srgbClr val="000000"/>
            </a:solidFill>
            <a:prstDash val="sysDash"/>
            <a:headEnd type="none" w="sm" len="sm"/>
            <a:tailEnd type="none" w="sm" len="sm"/>
          </a:ln>
        </p:spPr>
        <p:txBody>
          <a:bodyPr/>
          <a:lstStyle/>
          <a:p>
            <a:endParaRPr lang="it-IT"/>
          </a:p>
        </p:txBody>
      </p:sp>
      <p:sp>
        <p:nvSpPr>
          <p:cNvPr id="8" name="TextBox 8"/>
          <p:cNvSpPr txBox="1"/>
          <p:nvPr/>
        </p:nvSpPr>
        <p:spPr>
          <a:xfrm>
            <a:off x="12981217" y="1734941"/>
            <a:ext cx="5503815" cy="2066025"/>
          </a:xfrm>
          <a:prstGeom prst="rect">
            <a:avLst/>
          </a:prstGeom>
        </p:spPr>
        <p:txBody>
          <a:bodyPr lIns="0" tIns="0" rIns="0" bIns="0" rtlCol="0" anchor="t">
            <a:spAutoFit/>
          </a:bodyPr>
          <a:lstStyle/>
          <a:p>
            <a:pPr algn="l">
              <a:lnSpc>
                <a:spcPts val="4178"/>
              </a:lnSpc>
            </a:pPr>
            <a:r>
              <a:rPr lang="en-US" sz="2984" b="1">
                <a:solidFill>
                  <a:srgbClr val="FFFFFF"/>
                </a:solidFill>
                <a:latin typeface="Open Sans Bold"/>
                <a:ea typeface="Open Sans Bold"/>
                <a:cs typeface="Open Sans Bold"/>
                <a:sym typeface="Open Sans Bold"/>
              </a:rPr>
              <a:t>The network: </a:t>
            </a:r>
          </a:p>
          <a:p>
            <a:pPr algn="l">
              <a:lnSpc>
                <a:spcPts val="4178"/>
              </a:lnSpc>
            </a:pPr>
            <a:r>
              <a:rPr lang="en-US" sz="2984">
                <a:solidFill>
                  <a:srgbClr val="FFFFFF"/>
                </a:solidFill>
                <a:latin typeface="Open Sans"/>
                <a:ea typeface="Open Sans"/>
                <a:cs typeface="Open Sans"/>
                <a:sym typeface="Open Sans"/>
              </a:rPr>
              <a:t>dataset, degree distributions, centralities, assortativity, robustness</a:t>
            </a:r>
          </a:p>
        </p:txBody>
      </p:sp>
      <p:sp>
        <p:nvSpPr>
          <p:cNvPr id="9" name="TextBox 9"/>
          <p:cNvSpPr txBox="1"/>
          <p:nvPr/>
        </p:nvSpPr>
        <p:spPr>
          <a:xfrm>
            <a:off x="13330650" y="6468345"/>
            <a:ext cx="4957350" cy="1029085"/>
          </a:xfrm>
          <a:prstGeom prst="rect">
            <a:avLst/>
          </a:prstGeom>
        </p:spPr>
        <p:txBody>
          <a:bodyPr lIns="0" tIns="0" rIns="0" bIns="0" rtlCol="0" anchor="t">
            <a:spAutoFit/>
          </a:bodyPr>
          <a:lstStyle/>
          <a:p>
            <a:pPr algn="l">
              <a:lnSpc>
                <a:spcPts val="4178"/>
              </a:lnSpc>
            </a:pPr>
            <a:r>
              <a:rPr lang="en-US" sz="2984" b="1">
                <a:solidFill>
                  <a:srgbClr val="FFFFFF"/>
                </a:solidFill>
                <a:latin typeface="Open Sans Bold"/>
                <a:ea typeface="Open Sans Bold"/>
                <a:cs typeface="Open Sans Bold"/>
                <a:sym typeface="Open Sans Bold"/>
              </a:rPr>
              <a:t>Community structure: </a:t>
            </a:r>
          </a:p>
          <a:p>
            <a:pPr algn="l">
              <a:lnSpc>
                <a:spcPts val="4178"/>
              </a:lnSpc>
            </a:pPr>
            <a:r>
              <a:rPr lang="en-US" sz="2984">
                <a:solidFill>
                  <a:srgbClr val="FFFFFF"/>
                </a:solidFill>
                <a:latin typeface="Open Sans"/>
                <a:ea typeface="Open Sans"/>
                <a:cs typeface="Open Sans"/>
                <a:sym typeface="Open Sans"/>
              </a:rPr>
              <a:t>Louvain and InfoMap</a:t>
            </a:r>
          </a:p>
        </p:txBody>
      </p:sp>
      <p:sp>
        <p:nvSpPr>
          <p:cNvPr id="10" name="TextBox 10"/>
          <p:cNvSpPr txBox="1"/>
          <p:nvPr/>
        </p:nvSpPr>
        <p:spPr>
          <a:xfrm>
            <a:off x="220137" y="4600382"/>
            <a:ext cx="4247153" cy="1029085"/>
          </a:xfrm>
          <a:prstGeom prst="rect">
            <a:avLst/>
          </a:prstGeom>
        </p:spPr>
        <p:txBody>
          <a:bodyPr lIns="0" tIns="0" rIns="0" bIns="0" rtlCol="0" anchor="t">
            <a:spAutoFit/>
          </a:bodyPr>
          <a:lstStyle/>
          <a:p>
            <a:pPr algn="r">
              <a:lnSpc>
                <a:spcPts val="4178"/>
              </a:lnSpc>
            </a:pPr>
            <a:r>
              <a:rPr lang="en-US" sz="2984" b="1">
                <a:solidFill>
                  <a:srgbClr val="FFFFFF"/>
                </a:solidFill>
                <a:latin typeface="Open Sans Bold"/>
                <a:ea typeface="Open Sans Bold"/>
                <a:cs typeface="Open Sans Bold"/>
                <a:sym typeface="Open Sans Bold"/>
              </a:rPr>
              <a:t>The epidemic model:</a:t>
            </a:r>
          </a:p>
          <a:p>
            <a:pPr algn="r">
              <a:lnSpc>
                <a:spcPts val="4178"/>
              </a:lnSpc>
            </a:pPr>
            <a:r>
              <a:rPr lang="en-US" sz="2984">
                <a:solidFill>
                  <a:srgbClr val="FFFFFF"/>
                </a:solidFill>
                <a:latin typeface="Open Sans"/>
                <a:ea typeface="Open Sans"/>
                <a:cs typeface="Open Sans"/>
                <a:sym typeface="Open Sans"/>
              </a:rPr>
              <a:t>SEIR model on the WAN</a:t>
            </a:r>
          </a:p>
        </p:txBody>
      </p:sp>
      <p:sp>
        <p:nvSpPr>
          <p:cNvPr id="11" name="TextBox 11"/>
          <p:cNvSpPr txBox="1"/>
          <p:nvPr/>
        </p:nvSpPr>
        <p:spPr>
          <a:xfrm>
            <a:off x="220137" y="8908862"/>
            <a:ext cx="4764363" cy="1029085"/>
          </a:xfrm>
          <a:prstGeom prst="rect">
            <a:avLst/>
          </a:prstGeom>
        </p:spPr>
        <p:txBody>
          <a:bodyPr lIns="0" tIns="0" rIns="0" bIns="0" rtlCol="0" anchor="t">
            <a:spAutoFit/>
          </a:bodyPr>
          <a:lstStyle/>
          <a:p>
            <a:pPr algn="r">
              <a:lnSpc>
                <a:spcPts val="4178"/>
              </a:lnSpc>
            </a:pPr>
            <a:r>
              <a:rPr lang="en-US" sz="2984" b="1">
                <a:solidFill>
                  <a:srgbClr val="FFFFFF"/>
                </a:solidFill>
                <a:latin typeface="Open Sans Bold"/>
                <a:ea typeface="Open Sans Bold"/>
                <a:cs typeface="Open Sans Bold"/>
                <a:sym typeface="Open Sans Bold"/>
              </a:rPr>
              <a:t>Vaccination strategies :</a:t>
            </a:r>
          </a:p>
          <a:p>
            <a:pPr algn="r">
              <a:lnSpc>
                <a:spcPts val="4178"/>
              </a:lnSpc>
            </a:pPr>
            <a:r>
              <a:rPr lang="en-US" sz="2984">
                <a:solidFill>
                  <a:srgbClr val="FFFFFF"/>
                </a:solidFill>
                <a:latin typeface="Open Sans"/>
                <a:ea typeface="Open Sans"/>
                <a:cs typeface="Open Sans"/>
                <a:sym typeface="Open Sans"/>
              </a:rPr>
              <a:t>Strategies results analyisis</a:t>
            </a:r>
          </a:p>
        </p:txBody>
      </p:sp>
      <p:sp>
        <p:nvSpPr>
          <p:cNvPr id="12" name="TextBox 12"/>
          <p:cNvSpPr txBox="1"/>
          <p:nvPr/>
        </p:nvSpPr>
        <p:spPr>
          <a:xfrm>
            <a:off x="10182756" y="9394830"/>
            <a:ext cx="2274726" cy="505210"/>
          </a:xfrm>
          <a:prstGeom prst="rect">
            <a:avLst/>
          </a:prstGeom>
        </p:spPr>
        <p:txBody>
          <a:bodyPr lIns="0" tIns="0" rIns="0" bIns="0" rtlCol="0" anchor="t">
            <a:spAutoFit/>
          </a:bodyPr>
          <a:lstStyle/>
          <a:p>
            <a:pPr algn="l">
              <a:lnSpc>
                <a:spcPts val="4178"/>
              </a:lnSpc>
            </a:pPr>
            <a:r>
              <a:rPr lang="en-US" sz="2984" b="1">
                <a:solidFill>
                  <a:srgbClr val="FFFFFF"/>
                </a:solidFill>
                <a:latin typeface="Open Sans Bold"/>
                <a:ea typeface="Open Sans Bold"/>
                <a:cs typeface="Open Sans Bold"/>
                <a:sym typeface="Open Sans Bold"/>
              </a:rPr>
              <a:t>Conclusions</a:t>
            </a:r>
          </a:p>
        </p:txBody>
      </p:sp>
      <p:sp>
        <p:nvSpPr>
          <p:cNvPr id="13" name="TextBox 13"/>
          <p:cNvSpPr txBox="1"/>
          <p:nvPr/>
        </p:nvSpPr>
        <p:spPr>
          <a:xfrm>
            <a:off x="4467290" y="1734941"/>
            <a:ext cx="3716177" cy="505210"/>
          </a:xfrm>
          <a:prstGeom prst="rect">
            <a:avLst/>
          </a:prstGeom>
        </p:spPr>
        <p:txBody>
          <a:bodyPr lIns="0" tIns="0" rIns="0" bIns="0" rtlCol="0" anchor="t">
            <a:spAutoFit/>
          </a:bodyPr>
          <a:lstStyle/>
          <a:p>
            <a:pPr algn="l">
              <a:lnSpc>
                <a:spcPts val="4178"/>
              </a:lnSpc>
            </a:pPr>
            <a:r>
              <a:rPr lang="en-US" sz="2984" b="1">
                <a:solidFill>
                  <a:srgbClr val="FFFFFF"/>
                </a:solidFill>
                <a:latin typeface="Open Sans Bold"/>
                <a:ea typeface="Open Sans Bold"/>
                <a:cs typeface="Open Sans Bold"/>
                <a:sym typeface="Open Sans Bold"/>
              </a:rPr>
              <a:t>Research questions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TextBox 2"/>
          <p:cNvSpPr txBox="1"/>
          <p:nvPr/>
        </p:nvSpPr>
        <p:spPr>
          <a:xfrm>
            <a:off x="6533277" y="2693778"/>
            <a:ext cx="11175734" cy="5678524"/>
          </a:xfrm>
          <a:prstGeom prst="rect">
            <a:avLst/>
          </a:prstGeom>
        </p:spPr>
        <p:txBody>
          <a:bodyPr lIns="0" tIns="0" rIns="0" bIns="0" rtlCol="0" anchor="t">
            <a:spAutoFit/>
          </a:bodyPr>
          <a:lstStyle/>
          <a:p>
            <a:pPr marL="762243" lvl="1" indent="-381121" algn="l">
              <a:lnSpc>
                <a:spcPts val="5648"/>
              </a:lnSpc>
              <a:buFont typeface="Arial"/>
              <a:buChar char="•"/>
            </a:pPr>
            <a:r>
              <a:rPr lang="en-US" sz="3530">
                <a:solidFill>
                  <a:srgbClr val="FFFFFF"/>
                </a:solidFill>
                <a:latin typeface="Roboto"/>
                <a:ea typeface="Roboto"/>
                <a:cs typeface="Roboto"/>
                <a:sym typeface="Roboto"/>
              </a:rPr>
              <a:t>What are the</a:t>
            </a:r>
            <a:r>
              <a:rPr lang="en-US" sz="3530" b="1">
                <a:solidFill>
                  <a:srgbClr val="FFFFFF"/>
                </a:solidFill>
                <a:latin typeface="Roboto Bold"/>
                <a:ea typeface="Roboto Bold"/>
                <a:cs typeface="Roboto Bold"/>
                <a:sym typeface="Roboto Bold"/>
              </a:rPr>
              <a:t> characteristics of the World Airport Network?</a:t>
            </a:r>
            <a:r>
              <a:rPr lang="en-US" sz="3530">
                <a:solidFill>
                  <a:srgbClr val="FFFFFF"/>
                </a:solidFill>
                <a:latin typeface="Roboto"/>
                <a:ea typeface="Roboto"/>
                <a:cs typeface="Roboto"/>
                <a:sym typeface="Roboto"/>
              </a:rPr>
              <a:t> Does it have any </a:t>
            </a:r>
            <a:r>
              <a:rPr lang="en-US" sz="3530" b="1">
                <a:solidFill>
                  <a:srgbClr val="FFFFFF"/>
                </a:solidFill>
                <a:latin typeface="Roboto Bold"/>
                <a:ea typeface="Roboto Bold"/>
                <a:cs typeface="Roboto Bold"/>
                <a:sym typeface="Roboto Bold"/>
              </a:rPr>
              <a:t>interesting properties?</a:t>
            </a:r>
          </a:p>
          <a:p>
            <a:pPr algn="l">
              <a:lnSpc>
                <a:spcPts val="5648"/>
              </a:lnSpc>
            </a:pPr>
            <a:endParaRPr lang="en-US" sz="3530" b="1">
              <a:solidFill>
                <a:srgbClr val="FFFFFF"/>
              </a:solidFill>
              <a:latin typeface="Roboto Bold"/>
              <a:ea typeface="Roboto Bold"/>
              <a:cs typeface="Roboto Bold"/>
              <a:sym typeface="Roboto Bold"/>
            </a:endParaRPr>
          </a:p>
          <a:p>
            <a:pPr marL="762243" lvl="1" indent="-381121" algn="l">
              <a:lnSpc>
                <a:spcPts val="5648"/>
              </a:lnSpc>
              <a:buFont typeface="Arial"/>
              <a:buChar char="•"/>
            </a:pPr>
            <a:r>
              <a:rPr lang="en-US" sz="3530">
                <a:solidFill>
                  <a:srgbClr val="FFFFFF"/>
                </a:solidFill>
                <a:latin typeface="Roboto"/>
                <a:ea typeface="Roboto"/>
                <a:cs typeface="Roboto"/>
                <a:sym typeface="Roboto"/>
              </a:rPr>
              <a:t>Is </a:t>
            </a:r>
            <a:r>
              <a:rPr lang="en-US" sz="3530" b="1">
                <a:solidFill>
                  <a:srgbClr val="FFFFFF"/>
                </a:solidFill>
                <a:latin typeface="Roboto Bold"/>
                <a:ea typeface="Roboto Bold"/>
                <a:cs typeface="Roboto Bold"/>
                <a:sym typeface="Roboto Bold"/>
              </a:rPr>
              <a:t>hub targeting</a:t>
            </a:r>
            <a:r>
              <a:rPr lang="en-US" sz="3530">
                <a:solidFill>
                  <a:srgbClr val="FFFFFF"/>
                </a:solidFill>
                <a:latin typeface="Roboto"/>
                <a:ea typeface="Roboto"/>
                <a:cs typeface="Roboto"/>
                <a:sym typeface="Roboto"/>
              </a:rPr>
              <a:t> the best way to obstruct a disease spread? Are there </a:t>
            </a:r>
            <a:r>
              <a:rPr lang="en-US" sz="3530" b="1">
                <a:solidFill>
                  <a:srgbClr val="FFFFFF"/>
                </a:solidFill>
                <a:latin typeface="Roboto Bold"/>
                <a:ea typeface="Roboto Bold"/>
                <a:cs typeface="Roboto Bold"/>
                <a:sym typeface="Roboto Bold"/>
              </a:rPr>
              <a:t>other preferable approaches?</a:t>
            </a:r>
          </a:p>
          <a:p>
            <a:pPr algn="l">
              <a:lnSpc>
                <a:spcPts val="5648"/>
              </a:lnSpc>
            </a:pPr>
            <a:endParaRPr lang="en-US" sz="3530" b="1">
              <a:solidFill>
                <a:srgbClr val="FFFFFF"/>
              </a:solidFill>
              <a:latin typeface="Roboto Bold"/>
              <a:ea typeface="Roboto Bold"/>
              <a:cs typeface="Roboto Bold"/>
              <a:sym typeface="Roboto Bold"/>
            </a:endParaRPr>
          </a:p>
          <a:p>
            <a:pPr marL="762243" lvl="1" indent="-381121" algn="l">
              <a:lnSpc>
                <a:spcPts val="5648"/>
              </a:lnSpc>
              <a:buFont typeface="Arial"/>
              <a:buChar char="•"/>
            </a:pPr>
            <a:r>
              <a:rPr lang="en-US" sz="3530">
                <a:solidFill>
                  <a:srgbClr val="FFFFFF"/>
                </a:solidFill>
                <a:latin typeface="Roboto"/>
                <a:ea typeface="Roboto"/>
                <a:cs typeface="Roboto"/>
                <a:sym typeface="Roboto"/>
              </a:rPr>
              <a:t>How do our results change if we factor in the </a:t>
            </a:r>
            <a:r>
              <a:rPr lang="en-US" sz="3530" b="1">
                <a:solidFill>
                  <a:srgbClr val="FFFFFF"/>
                </a:solidFill>
                <a:latin typeface="Roboto Bold"/>
                <a:ea typeface="Roboto Bold"/>
                <a:cs typeface="Roboto Bold"/>
                <a:sym typeface="Roboto Bold"/>
              </a:rPr>
              <a:t>economic aspect</a:t>
            </a:r>
            <a:r>
              <a:rPr lang="en-US" sz="3530">
                <a:solidFill>
                  <a:srgbClr val="FFFFFF"/>
                </a:solidFill>
                <a:latin typeface="Roboto"/>
                <a:ea typeface="Roboto"/>
                <a:cs typeface="Roboto"/>
                <a:sym typeface="Roboto"/>
              </a:rPr>
              <a:t> of shutting down entire airports?</a:t>
            </a:r>
          </a:p>
        </p:txBody>
      </p:sp>
      <p:sp>
        <p:nvSpPr>
          <p:cNvPr id="3" name="Freeform 3"/>
          <p:cNvSpPr/>
          <p:nvPr/>
        </p:nvSpPr>
        <p:spPr>
          <a:xfrm>
            <a:off x="1048552" y="3226312"/>
            <a:ext cx="4451282" cy="5145991"/>
          </a:xfrm>
          <a:custGeom>
            <a:avLst/>
            <a:gdLst/>
            <a:ahLst/>
            <a:cxnLst/>
            <a:rect l="l" t="t" r="r" b="b"/>
            <a:pathLst>
              <a:path w="4451282" h="5145991">
                <a:moveTo>
                  <a:pt x="0" y="0"/>
                </a:moveTo>
                <a:lnTo>
                  <a:pt x="4451282" y="0"/>
                </a:lnTo>
                <a:lnTo>
                  <a:pt x="4451282" y="5145990"/>
                </a:lnTo>
                <a:lnTo>
                  <a:pt x="0" y="5145990"/>
                </a:lnTo>
                <a:lnTo>
                  <a:pt x="0" y="0"/>
                </a:lnTo>
                <a:close/>
              </a:path>
            </a:pathLst>
          </a:custGeom>
          <a:blipFill>
            <a:blip r:embed="rId2"/>
            <a:stretch>
              <a:fillRect/>
            </a:stretch>
          </a:blipFill>
          <a:ln cap="sq">
            <a:noFill/>
            <a:prstDash val="solid"/>
            <a:miter/>
          </a:ln>
        </p:spPr>
        <p:txBody>
          <a:bodyPr/>
          <a:lstStyle/>
          <a:p>
            <a:endParaRPr lang="it-IT"/>
          </a:p>
        </p:txBody>
      </p:sp>
      <p:sp>
        <p:nvSpPr>
          <p:cNvPr id="4" name="TextBox 4"/>
          <p:cNvSpPr txBox="1"/>
          <p:nvPr/>
        </p:nvSpPr>
        <p:spPr>
          <a:xfrm>
            <a:off x="220137" y="280689"/>
            <a:ext cx="17847727" cy="1286472"/>
          </a:xfrm>
          <a:prstGeom prst="rect">
            <a:avLst/>
          </a:prstGeom>
        </p:spPr>
        <p:txBody>
          <a:bodyPr lIns="0" tIns="0" rIns="0" bIns="0" rtlCol="0" anchor="t">
            <a:spAutoFit/>
          </a:bodyPr>
          <a:lstStyle/>
          <a:p>
            <a:pPr algn="ctr">
              <a:lnSpc>
                <a:spcPts val="9926"/>
              </a:lnSpc>
            </a:pPr>
            <a:r>
              <a:rPr lang="en-US" sz="7090" b="1">
                <a:solidFill>
                  <a:srgbClr val="FFFFFF"/>
                </a:solidFill>
                <a:latin typeface="Poppins Bold"/>
                <a:ea typeface="Poppins Bold"/>
                <a:cs typeface="Poppins Bold"/>
                <a:sym typeface="Poppins Bold"/>
              </a:rPr>
              <a:t>WHAT ARE THE RESEARCH QUESTIONS?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2664810" y="3411998"/>
            <a:ext cx="5692807" cy="5692807"/>
          </a:xfrm>
          <a:custGeom>
            <a:avLst/>
            <a:gdLst/>
            <a:ahLst/>
            <a:cxnLst/>
            <a:rect l="l" t="t" r="r" b="b"/>
            <a:pathLst>
              <a:path w="5692807" h="5692807">
                <a:moveTo>
                  <a:pt x="0" y="0"/>
                </a:moveTo>
                <a:lnTo>
                  <a:pt x="5692807" y="0"/>
                </a:lnTo>
                <a:lnTo>
                  <a:pt x="5692807" y="5692807"/>
                </a:lnTo>
                <a:lnTo>
                  <a:pt x="0" y="5692807"/>
                </a:lnTo>
                <a:lnTo>
                  <a:pt x="0" y="0"/>
                </a:lnTo>
                <a:close/>
              </a:path>
            </a:pathLst>
          </a:custGeom>
          <a:blipFill>
            <a:blip r:embed="rId2"/>
            <a:stretch>
              <a:fillRect/>
            </a:stretch>
          </a:blipFill>
        </p:spPr>
        <p:txBody>
          <a:bodyPr/>
          <a:lstStyle/>
          <a:p>
            <a:endParaRPr lang="it-IT"/>
          </a:p>
        </p:txBody>
      </p:sp>
      <p:sp>
        <p:nvSpPr>
          <p:cNvPr id="3" name="Freeform 3"/>
          <p:cNvSpPr/>
          <p:nvPr/>
        </p:nvSpPr>
        <p:spPr>
          <a:xfrm>
            <a:off x="9296793" y="3775714"/>
            <a:ext cx="6647983" cy="4952747"/>
          </a:xfrm>
          <a:custGeom>
            <a:avLst/>
            <a:gdLst/>
            <a:ahLst/>
            <a:cxnLst/>
            <a:rect l="l" t="t" r="r" b="b"/>
            <a:pathLst>
              <a:path w="6647983" h="4952747">
                <a:moveTo>
                  <a:pt x="0" y="0"/>
                </a:moveTo>
                <a:lnTo>
                  <a:pt x="6647983" y="0"/>
                </a:lnTo>
                <a:lnTo>
                  <a:pt x="6647983" y="4952747"/>
                </a:lnTo>
                <a:lnTo>
                  <a:pt x="0" y="495274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t-IT"/>
          </a:p>
        </p:txBody>
      </p:sp>
      <p:sp>
        <p:nvSpPr>
          <p:cNvPr id="4" name="TextBox 4"/>
          <p:cNvSpPr txBox="1"/>
          <p:nvPr/>
        </p:nvSpPr>
        <p:spPr>
          <a:xfrm>
            <a:off x="5212948" y="1282330"/>
            <a:ext cx="8045851" cy="1474827"/>
          </a:xfrm>
          <a:prstGeom prst="rect">
            <a:avLst/>
          </a:prstGeom>
        </p:spPr>
        <p:txBody>
          <a:bodyPr wrap="square" lIns="0" tIns="0" rIns="0" bIns="0" rtlCol="0" anchor="t">
            <a:spAutoFit/>
          </a:bodyPr>
          <a:lstStyle/>
          <a:p>
            <a:pPr algn="ctr">
              <a:lnSpc>
                <a:spcPts val="12128"/>
              </a:lnSpc>
              <a:spcBef>
                <a:spcPct val="0"/>
              </a:spcBef>
            </a:pPr>
            <a:r>
              <a:rPr lang="en-US" sz="8663" b="1" dirty="0">
                <a:solidFill>
                  <a:srgbClr val="FFFFFF"/>
                </a:solidFill>
                <a:latin typeface="Poppins Bold"/>
                <a:ea typeface="Poppins Bold"/>
                <a:cs typeface="Poppins Bold"/>
                <a:sym typeface="Poppins Bold"/>
              </a:rPr>
              <a:t>THE NETWORK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11395871" y="2490819"/>
            <a:ext cx="6394981" cy="6195138"/>
          </a:xfrm>
          <a:custGeom>
            <a:avLst/>
            <a:gdLst/>
            <a:ahLst/>
            <a:cxnLst/>
            <a:rect l="l" t="t" r="r" b="b"/>
            <a:pathLst>
              <a:path w="6394981" h="6195138">
                <a:moveTo>
                  <a:pt x="0" y="0"/>
                </a:moveTo>
                <a:lnTo>
                  <a:pt x="6394981" y="0"/>
                </a:lnTo>
                <a:lnTo>
                  <a:pt x="6394981" y="6195138"/>
                </a:lnTo>
                <a:lnTo>
                  <a:pt x="0" y="6195138"/>
                </a:lnTo>
                <a:lnTo>
                  <a:pt x="0" y="0"/>
                </a:lnTo>
                <a:close/>
              </a:path>
            </a:pathLst>
          </a:custGeom>
          <a:blipFill>
            <a:blip r:embed="rId2"/>
            <a:stretch>
              <a:fillRect/>
            </a:stretch>
          </a:blipFill>
          <a:ln cap="sq">
            <a:noFill/>
            <a:prstDash val="solid"/>
            <a:miter/>
          </a:ln>
        </p:spPr>
        <p:txBody>
          <a:bodyPr/>
          <a:lstStyle/>
          <a:p>
            <a:endParaRPr lang="it-IT"/>
          </a:p>
        </p:txBody>
      </p:sp>
      <p:sp>
        <p:nvSpPr>
          <p:cNvPr id="3" name="TextBox 3"/>
          <p:cNvSpPr txBox="1"/>
          <p:nvPr/>
        </p:nvSpPr>
        <p:spPr>
          <a:xfrm>
            <a:off x="220137" y="280689"/>
            <a:ext cx="17847727" cy="1286472"/>
          </a:xfrm>
          <a:prstGeom prst="rect">
            <a:avLst/>
          </a:prstGeom>
        </p:spPr>
        <p:txBody>
          <a:bodyPr lIns="0" tIns="0" rIns="0" bIns="0" rtlCol="0" anchor="t">
            <a:spAutoFit/>
          </a:bodyPr>
          <a:lstStyle/>
          <a:p>
            <a:pPr algn="ctr">
              <a:lnSpc>
                <a:spcPts val="9926"/>
              </a:lnSpc>
            </a:pPr>
            <a:r>
              <a:rPr lang="en-US" sz="7090" b="1">
                <a:solidFill>
                  <a:srgbClr val="FFFFFF"/>
                </a:solidFill>
                <a:latin typeface="Poppins Bold"/>
                <a:ea typeface="Poppins Bold"/>
                <a:cs typeface="Poppins Bold"/>
                <a:sym typeface="Poppins Bold"/>
              </a:rPr>
              <a:t>WHY THE GLOBAL AIRPORT NETWORK?</a:t>
            </a:r>
          </a:p>
        </p:txBody>
      </p:sp>
      <p:sp>
        <p:nvSpPr>
          <p:cNvPr id="4" name="TextBox 4"/>
          <p:cNvSpPr txBox="1"/>
          <p:nvPr/>
        </p:nvSpPr>
        <p:spPr>
          <a:xfrm>
            <a:off x="220137" y="1875613"/>
            <a:ext cx="11175734" cy="7821649"/>
          </a:xfrm>
          <a:prstGeom prst="rect">
            <a:avLst/>
          </a:prstGeom>
        </p:spPr>
        <p:txBody>
          <a:bodyPr lIns="0" tIns="0" rIns="0" bIns="0" rtlCol="0" anchor="t">
            <a:spAutoFit/>
          </a:bodyPr>
          <a:lstStyle/>
          <a:p>
            <a:pPr marL="762243" lvl="1" indent="-381121" algn="l">
              <a:lnSpc>
                <a:spcPts val="5648"/>
              </a:lnSpc>
              <a:buFont typeface="Arial"/>
              <a:buChar char="•"/>
            </a:pPr>
            <a:r>
              <a:rPr lang="en-US" sz="3530">
                <a:solidFill>
                  <a:srgbClr val="FFFFFF"/>
                </a:solidFill>
                <a:latin typeface="Roboto"/>
                <a:ea typeface="Roboto"/>
                <a:cs typeface="Roboto"/>
                <a:sym typeface="Roboto"/>
              </a:rPr>
              <a:t>Air transport is defined as a major channel for the spread of epidemics [1] </a:t>
            </a:r>
          </a:p>
          <a:p>
            <a:pPr algn="l">
              <a:lnSpc>
                <a:spcPts val="5648"/>
              </a:lnSpc>
            </a:pPr>
            <a:endParaRPr lang="en-US" sz="3530">
              <a:solidFill>
                <a:srgbClr val="FFFFFF"/>
              </a:solidFill>
              <a:latin typeface="Roboto"/>
              <a:ea typeface="Roboto"/>
              <a:cs typeface="Roboto"/>
              <a:sym typeface="Roboto"/>
            </a:endParaRPr>
          </a:p>
          <a:p>
            <a:pPr marL="762243" lvl="1" indent="-381121" algn="l">
              <a:lnSpc>
                <a:spcPts val="5648"/>
              </a:lnSpc>
              <a:buFont typeface="Arial"/>
              <a:buChar char="•"/>
            </a:pPr>
            <a:r>
              <a:rPr lang="en-US" sz="3530">
                <a:solidFill>
                  <a:srgbClr val="FFFFFF"/>
                </a:solidFill>
                <a:latin typeface="Roboto"/>
                <a:ea typeface="Roboto"/>
                <a:cs typeface="Roboto"/>
                <a:sym typeface="Roboto"/>
              </a:rPr>
              <a:t>Airport networks are also used as benchmarks to verify whether a centrality measure really works [2]</a:t>
            </a:r>
          </a:p>
          <a:p>
            <a:pPr algn="l">
              <a:lnSpc>
                <a:spcPts val="5648"/>
              </a:lnSpc>
            </a:pPr>
            <a:endParaRPr lang="en-US" sz="3530">
              <a:solidFill>
                <a:srgbClr val="FFFFFF"/>
              </a:solidFill>
              <a:latin typeface="Roboto"/>
              <a:ea typeface="Roboto"/>
              <a:cs typeface="Roboto"/>
              <a:sym typeface="Roboto"/>
            </a:endParaRPr>
          </a:p>
          <a:p>
            <a:pPr marL="762243" lvl="1" indent="-381121" algn="l">
              <a:lnSpc>
                <a:spcPts val="5648"/>
              </a:lnSpc>
              <a:buFont typeface="Arial"/>
              <a:buChar char="•"/>
            </a:pPr>
            <a:r>
              <a:rPr lang="en-US" sz="3530">
                <a:solidFill>
                  <a:srgbClr val="FFFFFF"/>
                </a:solidFill>
                <a:latin typeface="Roboto"/>
                <a:ea typeface="Roboto"/>
                <a:cs typeface="Roboto"/>
                <a:sym typeface="Roboto"/>
              </a:rPr>
              <a:t>On a global scale, the WAN is the primary driver of viral seeding across distant urban hubs. Given its massive throughput and point-to-point topology, air traffic data provides a high-fidelity approximation for long-range epidemic forecasting [3]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663298" y="2263931"/>
            <a:ext cx="9910024" cy="6638141"/>
          </a:xfrm>
          <a:custGeom>
            <a:avLst/>
            <a:gdLst/>
            <a:ahLst/>
            <a:cxnLst/>
            <a:rect l="l" t="t" r="r" b="b"/>
            <a:pathLst>
              <a:path w="9910024" h="6638141">
                <a:moveTo>
                  <a:pt x="0" y="0"/>
                </a:moveTo>
                <a:lnTo>
                  <a:pt x="9910023" y="0"/>
                </a:lnTo>
                <a:lnTo>
                  <a:pt x="9910023" y="6638142"/>
                </a:lnTo>
                <a:lnTo>
                  <a:pt x="0" y="6638142"/>
                </a:lnTo>
                <a:lnTo>
                  <a:pt x="0" y="0"/>
                </a:lnTo>
                <a:close/>
              </a:path>
            </a:pathLst>
          </a:custGeom>
          <a:blipFill>
            <a:blip r:embed="rId2"/>
            <a:stretch>
              <a:fillRect l="-2959" t="-35132" r="-2009" b="-21575"/>
            </a:stretch>
          </a:blipFill>
        </p:spPr>
        <p:txBody>
          <a:bodyPr/>
          <a:lstStyle/>
          <a:p>
            <a:endParaRPr lang="it-IT"/>
          </a:p>
        </p:txBody>
      </p:sp>
      <p:graphicFrame>
        <p:nvGraphicFramePr>
          <p:cNvPr id="3" name="Table 3"/>
          <p:cNvGraphicFramePr>
            <a:graphicFrameLocks noGrp="1"/>
          </p:cNvGraphicFramePr>
          <p:nvPr/>
        </p:nvGraphicFramePr>
        <p:xfrm>
          <a:off x="11145632" y="6806573"/>
          <a:ext cx="6762574" cy="2095500"/>
        </p:xfrm>
        <a:graphic>
          <a:graphicData uri="http://schemas.openxmlformats.org/drawingml/2006/table">
            <a:tbl>
              <a:tblPr/>
              <a:tblGrid>
                <a:gridCol w="1965483">
                  <a:extLst>
                    <a:ext uri="{9D8B030D-6E8A-4147-A177-3AD203B41FA5}">
                      <a16:colId xmlns:a16="http://schemas.microsoft.com/office/drawing/2014/main" val="20000"/>
                    </a:ext>
                  </a:extLst>
                </a:gridCol>
                <a:gridCol w="1965483">
                  <a:extLst>
                    <a:ext uri="{9D8B030D-6E8A-4147-A177-3AD203B41FA5}">
                      <a16:colId xmlns:a16="http://schemas.microsoft.com/office/drawing/2014/main" val="20001"/>
                    </a:ext>
                  </a:extLst>
                </a:gridCol>
                <a:gridCol w="2831608">
                  <a:extLst>
                    <a:ext uri="{9D8B030D-6E8A-4147-A177-3AD203B41FA5}">
                      <a16:colId xmlns:a16="http://schemas.microsoft.com/office/drawing/2014/main" val="20002"/>
                    </a:ext>
                  </a:extLst>
                </a:gridCol>
              </a:tblGrid>
              <a:tr h="1057634">
                <a:tc>
                  <a:txBody>
                    <a:bodyPr/>
                    <a:lstStyle/>
                    <a:p>
                      <a:pPr algn="ctr">
                        <a:lnSpc>
                          <a:spcPts val="4115"/>
                        </a:lnSpc>
                        <a:defRPr/>
                      </a:pPr>
                      <a:r>
                        <a:rPr lang="en-US" sz="2939" b="1">
                          <a:solidFill>
                            <a:srgbClr val="FCFDFC"/>
                          </a:solidFill>
                          <a:latin typeface="Roboto Bold"/>
                          <a:ea typeface="Roboto Bold"/>
                          <a:cs typeface="Roboto Bold"/>
                          <a:sym typeface="Roboto Bold"/>
                        </a:rPr>
                        <a:t>NODES</a:t>
                      </a:r>
                      <a:endParaRPr lang="en-US" sz="1100"/>
                    </a:p>
                  </a:txBody>
                  <a:tcPr marL="190500" marR="190500" marT="190500" marB="190500" anchor="ctr">
                    <a:lnL w="76200" cap="flat" cmpd="sng" algn="ctr">
                      <a:solidFill>
                        <a:srgbClr val="FCFDFC"/>
                      </a:solidFill>
                      <a:prstDash val="solid"/>
                      <a:round/>
                      <a:headEnd type="none" w="med" len="med"/>
                      <a:tailEnd type="none" w="med" len="med"/>
                    </a:lnL>
                    <a:lnR w="76200" cap="flat" cmpd="sng" algn="ctr">
                      <a:solidFill>
                        <a:srgbClr val="FCFDFC"/>
                      </a:solidFill>
                      <a:prstDash val="solid"/>
                      <a:round/>
                      <a:headEnd type="none" w="med" len="med"/>
                      <a:tailEnd type="none" w="med" len="med"/>
                    </a:lnR>
                    <a:lnT w="76200" cap="flat" cmpd="sng" algn="ctr">
                      <a:solidFill>
                        <a:srgbClr val="FCFDFC"/>
                      </a:solidFill>
                      <a:prstDash val="solid"/>
                      <a:round/>
                      <a:headEnd type="none" w="med" len="med"/>
                      <a:tailEnd type="none" w="med" len="med"/>
                    </a:lnT>
                    <a:lnB w="76200" cap="flat" cmpd="sng" algn="ctr">
                      <a:solidFill>
                        <a:srgbClr val="FCFDFC"/>
                      </a:solidFill>
                      <a:prstDash val="solid"/>
                      <a:round/>
                      <a:headEnd type="none" w="med" len="med"/>
                      <a:tailEnd type="none" w="med" len="med"/>
                    </a:lnB>
                  </a:tcPr>
                </a:tc>
                <a:tc>
                  <a:txBody>
                    <a:bodyPr/>
                    <a:lstStyle/>
                    <a:p>
                      <a:pPr algn="ctr">
                        <a:lnSpc>
                          <a:spcPts val="4115"/>
                        </a:lnSpc>
                        <a:defRPr/>
                      </a:pPr>
                      <a:r>
                        <a:rPr lang="en-US" sz="2939" b="1">
                          <a:solidFill>
                            <a:srgbClr val="FCFDFC"/>
                          </a:solidFill>
                          <a:latin typeface="Roboto Bold"/>
                          <a:ea typeface="Roboto Bold"/>
                          <a:cs typeface="Roboto Bold"/>
                          <a:sym typeface="Roboto Bold"/>
                        </a:rPr>
                        <a:t>EDGES</a:t>
                      </a:r>
                      <a:endParaRPr lang="en-US" sz="1100"/>
                    </a:p>
                  </a:txBody>
                  <a:tcPr marL="190500" marR="190500" marT="190500" marB="190500" anchor="ctr">
                    <a:lnL w="76200" cap="flat" cmpd="sng" algn="ctr">
                      <a:solidFill>
                        <a:srgbClr val="FCFDFC"/>
                      </a:solidFill>
                      <a:prstDash val="solid"/>
                      <a:round/>
                      <a:headEnd type="none" w="med" len="med"/>
                      <a:tailEnd type="none" w="med" len="med"/>
                    </a:lnL>
                    <a:lnR w="76200" cap="flat" cmpd="sng" algn="ctr">
                      <a:solidFill>
                        <a:srgbClr val="FCFDFC"/>
                      </a:solidFill>
                      <a:prstDash val="solid"/>
                      <a:round/>
                      <a:headEnd type="none" w="med" len="med"/>
                      <a:tailEnd type="none" w="med" len="med"/>
                    </a:lnR>
                    <a:lnT w="76200" cap="flat" cmpd="sng" algn="ctr">
                      <a:solidFill>
                        <a:srgbClr val="FCFDFC"/>
                      </a:solidFill>
                      <a:prstDash val="solid"/>
                      <a:round/>
                      <a:headEnd type="none" w="med" len="med"/>
                      <a:tailEnd type="none" w="med" len="med"/>
                    </a:lnT>
                    <a:lnB w="76200" cap="flat" cmpd="sng" algn="ctr">
                      <a:solidFill>
                        <a:srgbClr val="FCFDFC"/>
                      </a:solidFill>
                      <a:prstDash val="solid"/>
                      <a:round/>
                      <a:headEnd type="none" w="med" len="med"/>
                      <a:tailEnd type="none" w="med" len="med"/>
                    </a:lnB>
                  </a:tcPr>
                </a:tc>
                <a:tc>
                  <a:txBody>
                    <a:bodyPr/>
                    <a:lstStyle/>
                    <a:p>
                      <a:pPr algn="ctr">
                        <a:lnSpc>
                          <a:spcPts val="4116"/>
                        </a:lnSpc>
                        <a:defRPr/>
                      </a:pPr>
                      <a:r>
                        <a:rPr lang="en-US" sz="2940" b="1">
                          <a:solidFill>
                            <a:srgbClr val="FCFDFC"/>
                          </a:solidFill>
                          <a:latin typeface="Roboto Bold"/>
                          <a:ea typeface="Roboto Bold"/>
                          <a:cs typeface="Roboto Bold"/>
                          <a:sym typeface="Roboto Bold"/>
                        </a:rPr>
                        <a:t>POPULATION</a:t>
                      </a:r>
                      <a:endParaRPr lang="en-US" sz="1100"/>
                    </a:p>
                  </a:txBody>
                  <a:tcPr marL="190500" marR="190500" marT="190500" marB="190500" anchor="ctr">
                    <a:lnL w="76200" cap="flat" cmpd="sng" algn="ctr">
                      <a:solidFill>
                        <a:srgbClr val="FCFDFC"/>
                      </a:solidFill>
                      <a:prstDash val="solid"/>
                      <a:round/>
                      <a:headEnd type="none" w="med" len="med"/>
                      <a:tailEnd type="none" w="med" len="med"/>
                    </a:lnL>
                    <a:lnR w="76200" cap="flat" cmpd="sng" algn="ctr">
                      <a:solidFill>
                        <a:srgbClr val="FCFDFC"/>
                      </a:solidFill>
                      <a:prstDash val="solid"/>
                      <a:round/>
                      <a:headEnd type="none" w="med" len="med"/>
                      <a:tailEnd type="none" w="med" len="med"/>
                    </a:lnR>
                    <a:lnT w="76200" cap="flat" cmpd="sng" algn="ctr">
                      <a:solidFill>
                        <a:srgbClr val="FCFDFC"/>
                      </a:solidFill>
                      <a:prstDash val="solid"/>
                      <a:round/>
                      <a:headEnd type="none" w="med" len="med"/>
                      <a:tailEnd type="none" w="med" len="med"/>
                    </a:lnT>
                    <a:lnB w="76200"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0"/>
                  </a:ext>
                </a:extLst>
              </a:tr>
              <a:tr h="1037866">
                <a:tc>
                  <a:txBody>
                    <a:bodyPr/>
                    <a:lstStyle/>
                    <a:p>
                      <a:pPr algn="ctr">
                        <a:lnSpc>
                          <a:spcPts val="3835"/>
                        </a:lnSpc>
                        <a:defRPr/>
                      </a:pPr>
                      <a:r>
                        <a:rPr lang="en-US" sz="2739">
                          <a:solidFill>
                            <a:srgbClr val="FCFDFC"/>
                          </a:solidFill>
                          <a:latin typeface="Roboto"/>
                          <a:ea typeface="Roboto"/>
                          <a:cs typeface="Roboto"/>
                          <a:sym typeface="Roboto"/>
                        </a:rPr>
                        <a:t>3933</a:t>
                      </a:r>
                      <a:endParaRPr lang="en-US" sz="1100"/>
                    </a:p>
                  </a:txBody>
                  <a:tcPr marL="190500" marR="190500" marT="190500" marB="190500" anchor="ctr">
                    <a:lnL w="76200" cap="flat" cmpd="sng" algn="ctr">
                      <a:solidFill>
                        <a:srgbClr val="FCFDFC"/>
                      </a:solidFill>
                      <a:prstDash val="solid"/>
                      <a:round/>
                      <a:headEnd type="none" w="med" len="med"/>
                      <a:tailEnd type="none" w="med" len="med"/>
                    </a:lnL>
                    <a:lnR w="76200" cap="flat" cmpd="sng" algn="ctr">
                      <a:solidFill>
                        <a:srgbClr val="FCFDFC"/>
                      </a:solidFill>
                      <a:prstDash val="solid"/>
                      <a:round/>
                      <a:headEnd type="none" w="med" len="med"/>
                      <a:tailEnd type="none" w="med" len="med"/>
                    </a:lnR>
                    <a:lnT w="76200" cap="flat" cmpd="sng" algn="ctr">
                      <a:solidFill>
                        <a:srgbClr val="FCFDFC"/>
                      </a:solidFill>
                      <a:prstDash val="solid"/>
                      <a:round/>
                      <a:headEnd type="none" w="med" len="med"/>
                      <a:tailEnd type="none" w="med" len="med"/>
                    </a:lnT>
                    <a:lnB w="76200" cap="flat" cmpd="sng" algn="ctr">
                      <a:solidFill>
                        <a:srgbClr val="FCFDFC"/>
                      </a:solidFill>
                      <a:prstDash val="solid"/>
                      <a:round/>
                      <a:headEnd type="none" w="med" len="med"/>
                      <a:tailEnd type="none" w="med" len="med"/>
                    </a:lnB>
                  </a:tcPr>
                </a:tc>
                <a:tc>
                  <a:txBody>
                    <a:bodyPr/>
                    <a:lstStyle/>
                    <a:p>
                      <a:pPr algn="ctr">
                        <a:lnSpc>
                          <a:spcPts val="3835"/>
                        </a:lnSpc>
                        <a:defRPr/>
                      </a:pPr>
                      <a:r>
                        <a:rPr lang="en-US" sz="2739">
                          <a:solidFill>
                            <a:srgbClr val="FCFDFC"/>
                          </a:solidFill>
                          <a:latin typeface="Roboto"/>
                          <a:ea typeface="Roboto"/>
                          <a:cs typeface="Roboto"/>
                          <a:sym typeface="Roboto"/>
                        </a:rPr>
                        <a:t>50158</a:t>
                      </a:r>
                      <a:endParaRPr lang="en-US" sz="1100"/>
                    </a:p>
                  </a:txBody>
                  <a:tcPr marL="190500" marR="190500" marT="190500" marB="190500" anchor="ctr">
                    <a:lnL w="76200" cap="flat" cmpd="sng" algn="ctr">
                      <a:solidFill>
                        <a:srgbClr val="FCFDFC"/>
                      </a:solidFill>
                      <a:prstDash val="solid"/>
                      <a:round/>
                      <a:headEnd type="none" w="med" len="med"/>
                      <a:tailEnd type="none" w="med" len="med"/>
                    </a:lnL>
                    <a:lnR w="76200" cap="flat" cmpd="sng" algn="ctr">
                      <a:solidFill>
                        <a:srgbClr val="FCFDFC"/>
                      </a:solidFill>
                      <a:prstDash val="solid"/>
                      <a:round/>
                      <a:headEnd type="none" w="med" len="med"/>
                      <a:tailEnd type="none" w="med" len="med"/>
                    </a:lnR>
                    <a:lnT w="76200" cap="flat" cmpd="sng" algn="ctr">
                      <a:solidFill>
                        <a:srgbClr val="FCFDFC"/>
                      </a:solidFill>
                      <a:prstDash val="solid"/>
                      <a:round/>
                      <a:headEnd type="none" w="med" len="med"/>
                      <a:tailEnd type="none" w="med" len="med"/>
                    </a:lnT>
                    <a:lnB w="76200" cap="flat" cmpd="sng" algn="ctr">
                      <a:solidFill>
                        <a:srgbClr val="FCFDFC"/>
                      </a:solidFill>
                      <a:prstDash val="solid"/>
                      <a:round/>
                      <a:headEnd type="none" w="med" len="med"/>
                      <a:tailEnd type="none" w="med" len="med"/>
                    </a:lnB>
                  </a:tcPr>
                </a:tc>
                <a:tc>
                  <a:txBody>
                    <a:bodyPr/>
                    <a:lstStyle/>
                    <a:p>
                      <a:pPr algn="ctr">
                        <a:lnSpc>
                          <a:spcPts val="3919"/>
                        </a:lnSpc>
                        <a:defRPr/>
                      </a:pPr>
                      <a:r>
                        <a:rPr lang="en-US" sz="2799">
                          <a:solidFill>
                            <a:srgbClr val="FEFEFE"/>
                          </a:solidFill>
                          <a:latin typeface="Roboto"/>
                          <a:ea typeface="Roboto"/>
                          <a:cs typeface="Roboto"/>
                          <a:sym typeface="Roboto"/>
                        </a:rPr>
                        <a:t>2.685.490.062</a:t>
                      </a:r>
                      <a:endParaRPr lang="en-US" sz="1100"/>
                    </a:p>
                  </a:txBody>
                  <a:tcPr marL="190500" marR="190500" marT="190500" marB="190500" anchor="ctr">
                    <a:lnL w="76200" cap="flat" cmpd="sng" algn="ctr">
                      <a:solidFill>
                        <a:srgbClr val="FCFDFC"/>
                      </a:solidFill>
                      <a:prstDash val="solid"/>
                      <a:round/>
                      <a:headEnd type="none" w="med" len="med"/>
                      <a:tailEnd type="none" w="med" len="med"/>
                    </a:lnL>
                    <a:lnR w="76200" cap="flat" cmpd="sng" algn="ctr">
                      <a:solidFill>
                        <a:srgbClr val="FCFDFC"/>
                      </a:solidFill>
                      <a:prstDash val="solid"/>
                      <a:round/>
                      <a:headEnd type="none" w="med" len="med"/>
                      <a:tailEnd type="none" w="med" len="med"/>
                    </a:lnR>
                    <a:lnT w="76200" cap="flat" cmpd="sng" algn="ctr">
                      <a:solidFill>
                        <a:srgbClr val="FCFDFC"/>
                      </a:solidFill>
                      <a:prstDash val="solid"/>
                      <a:round/>
                      <a:headEnd type="none" w="med" len="med"/>
                      <a:tailEnd type="none" w="med" len="med"/>
                    </a:lnT>
                    <a:lnB w="76200"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4" name="TextBox 4"/>
          <p:cNvSpPr txBox="1"/>
          <p:nvPr/>
        </p:nvSpPr>
        <p:spPr>
          <a:xfrm>
            <a:off x="6166187" y="280551"/>
            <a:ext cx="5955625" cy="1286748"/>
          </a:xfrm>
          <a:prstGeom prst="rect">
            <a:avLst/>
          </a:prstGeom>
        </p:spPr>
        <p:txBody>
          <a:bodyPr lIns="0" tIns="0" rIns="0" bIns="0" rtlCol="0" anchor="t">
            <a:spAutoFit/>
          </a:bodyPr>
          <a:lstStyle/>
          <a:p>
            <a:pPr algn="ctr">
              <a:lnSpc>
                <a:spcPts val="9926"/>
              </a:lnSpc>
              <a:spcBef>
                <a:spcPct val="0"/>
              </a:spcBef>
            </a:pPr>
            <a:r>
              <a:rPr lang="en-US" sz="7090" b="1">
                <a:solidFill>
                  <a:srgbClr val="FFFFFF"/>
                </a:solidFill>
                <a:latin typeface="Poppins Bold"/>
                <a:ea typeface="Poppins Bold"/>
                <a:cs typeface="Poppins Bold"/>
                <a:sym typeface="Poppins Bold"/>
              </a:rPr>
              <a:t>THE DATASET</a:t>
            </a:r>
          </a:p>
        </p:txBody>
      </p:sp>
      <p:grpSp>
        <p:nvGrpSpPr>
          <p:cNvPr id="5" name="Group 5"/>
          <p:cNvGrpSpPr/>
          <p:nvPr/>
        </p:nvGrpSpPr>
        <p:grpSpPr>
          <a:xfrm>
            <a:off x="11145632" y="2263931"/>
            <a:ext cx="6617180" cy="3603498"/>
            <a:chOff x="0" y="0"/>
            <a:chExt cx="8822907" cy="4804665"/>
          </a:xfrm>
        </p:grpSpPr>
        <p:sp>
          <p:nvSpPr>
            <p:cNvPr id="6" name="TextBox 6"/>
            <p:cNvSpPr txBox="1"/>
            <p:nvPr/>
          </p:nvSpPr>
          <p:spPr>
            <a:xfrm>
              <a:off x="0" y="-76200"/>
              <a:ext cx="8525075" cy="1419541"/>
            </a:xfrm>
            <a:prstGeom prst="rect">
              <a:avLst/>
            </a:prstGeom>
          </p:spPr>
          <p:txBody>
            <a:bodyPr lIns="0" tIns="0" rIns="0" bIns="0" rtlCol="0" anchor="t">
              <a:spAutoFit/>
            </a:bodyPr>
            <a:lstStyle/>
            <a:p>
              <a:pPr marL="665925" lvl="1" indent="-332962" algn="l">
                <a:lnSpc>
                  <a:spcPts val="4318"/>
                </a:lnSpc>
                <a:buFont typeface="Arial"/>
                <a:buChar char="•"/>
              </a:pPr>
              <a:r>
                <a:rPr lang="en-US" sz="3084">
                  <a:solidFill>
                    <a:srgbClr val="FCFDFC"/>
                  </a:solidFill>
                  <a:latin typeface="Roboto"/>
                  <a:ea typeface="Roboto"/>
                  <a:cs typeface="Roboto"/>
                  <a:sym typeface="Roboto"/>
                </a:rPr>
                <a:t>Airports &amp; routes taken from </a:t>
              </a:r>
              <a:r>
                <a:rPr lang="en-US" sz="3084" u="sng">
                  <a:solidFill>
                    <a:srgbClr val="FCFDFC"/>
                  </a:solidFill>
                  <a:latin typeface="Roboto"/>
                  <a:ea typeface="Roboto"/>
                  <a:cs typeface="Roboto"/>
                  <a:sym typeface="Roboto"/>
                  <a:hlinkClick r:id="rId3" tooltip="http://openflights.org"/>
                </a:rPr>
                <a:t>OpenFlights.org</a:t>
              </a:r>
            </a:p>
          </p:txBody>
        </p:sp>
        <p:sp>
          <p:nvSpPr>
            <p:cNvPr id="7" name="TextBox 7"/>
            <p:cNvSpPr txBox="1"/>
            <p:nvPr/>
          </p:nvSpPr>
          <p:spPr>
            <a:xfrm>
              <a:off x="0" y="1657373"/>
              <a:ext cx="8525075" cy="1419541"/>
            </a:xfrm>
            <a:prstGeom prst="rect">
              <a:avLst/>
            </a:prstGeom>
          </p:spPr>
          <p:txBody>
            <a:bodyPr lIns="0" tIns="0" rIns="0" bIns="0" rtlCol="0" anchor="t">
              <a:spAutoFit/>
            </a:bodyPr>
            <a:lstStyle/>
            <a:p>
              <a:pPr marL="665925" lvl="1" indent="-332962" algn="l">
                <a:lnSpc>
                  <a:spcPts val="4318"/>
                </a:lnSpc>
                <a:buFont typeface="Arial"/>
                <a:buChar char="•"/>
              </a:pPr>
              <a:r>
                <a:rPr lang="en-US" sz="3084">
                  <a:solidFill>
                    <a:srgbClr val="FCFDFC"/>
                  </a:solidFill>
                  <a:latin typeface="Roboto"/>
                  <a:ea typeface="Roboto"/>
                  <a:cs typeface="Roboto"/>
                  <a:sym typeface="Roboto"/>
                </a:rPr>
                <a:t>Mean daily flights taken from </a:t>
              </a:r>
              <a:r>
                <a:rPr lang="en-US" sz="3084" u="sng">
                  <a:solidFill>
                    <a:srgbClr val="FCFDFC"/>
                  </a:solidFill>
                  <a:latin typeface="Roboto"/>
                  <a:ea typeface="Roboto"/>
                  <a:cs typeface="Roboto"/>
                  <a:sym typeface="Roboto"/>
                  <a:hlinkClick r:id="rId4" tooltip="http://flightconnections.com"/>
                </a:rPr>
                <a:t>FlightConnections.com</a:t>
              </a:r>
            </a:p>
          </p:txBody>
        </p:sp>
        <p:sp>
          <p:nvSpPr>
            <p:cNvPr id="8" name="TextBox 8"/>
            <p:cNvSpPr txBox="1"/>
            <p:nvPr/>
          </p:nvSpPr>
          <p:spPr>
            <a:xfrm>
              <a:off x="0" y="3385123"/>
              <a:ext cx="8822907" cy="1419541"/>
            </a:xfrm>
            <a:prstGeom prst="rect">
              <a:avLst/>
            </a:prstGeom>
          </p:spPr>
          <p:txBody>
            <a:bodyPr lIns="0" tIns="0" rIns="0" bIns="0" rtlCol="0" anchor="t">
              <a:spAutoFit/>
            </a:bodyPr>
            <a:lstStyle/>
            <a:p>
              <a:pPr marL="665925" lvl="1" indent="-332962" algn="l">
                <a:lnSpc>
                  <a:spcPts val="4318"/>
                </a:lnSpc>
                <a:buFont typeface="Arial"/>
                <a:buChar char="•"/>
              </a:pPr>
              <a:r>
                <a:rPr lang="en-US" sz="3084">
                  <a:solidFill>
                    <a:srgbClr val="FCFDFC"/>
                  </a:solidFill>
                  <a:latin typeface="Roboto"/>
                  <a:ea typeface="Roboto"/>
                  <a:cs typeface="Roboto"/>
                  <a:sym typeface="Roboto"/>
                </a:rPr>
                <a:t>Airports/city population taken from </a:t>
              </a:r>
              <a:r>
                <a:rPr lang="en-US" sz="3084" u="sng">
                  <a:solidFill>
                    <a:srgbClr val="FCFDFC"/>
                  </a:solidFill>
                  <a:latin typeface="Roboto"/>
                  <a:ea typeface="Roboto"/>
                  <a:cs typeface="Roboto"/>
                  <a:sym typeface="Roboto"/>
                  <a:hlinkClick r:id="rId5" tooltip="http://worldpopulationreview.com/world-cities/"/>
                </a:rPr>
                <a:t>WorldPopulationReview.com</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994774" y="2085112"/>
            <a:ext cx="8015568" cy="6365304"/>
          </a:xfrm>
          <a:custGeom>
            <a:avLst/>
            <a:gdLst/>
            <a:ahLst/>
            <a:cxnLst/>
            <a:rect l="l" t="t" r="r" b="b"/>
            <a:pathLst>
              <a:path w="8015568" h="6365304">
                <a:moveTo>
                  <a:pt x="0" y="0"/>
                </a:moveTo>
                <a:lnTo>
                  <a:pt x="8015568" y="0"/>
                </a:lnTo>
                <a:lnTo>
                  <a:pt x="8015568" y="6365304"/>
                </a:lnTo>
                <a:lnTo>
                  <a:pt x="0" y="6365304"/>
                </a:lnTo>
                <a:lnTo>
                  <a:pt x="0" y="0"/>
                </a:lnTo>
                <a:close/>
              </a:path>
            </a:pathLst>
          </a:custGeom>
          <a:blipFill>
            <a:blip r:embed="rId2"/>
            <a:stretch>
              <a:fillRect/>
            </a:stretch>
          </a:blipFill>
        </p:spPr>
        <p:txBody>
          <a:bodyPr/>
          <a:lstStyle/>
          <a:p>
            <a:endParaRPr lang="it-IT"/>
          </a:p>
        </p:txBody>
      </p:sp>
      <p:sp>
        <p:nvSpPr>
          <p:cNvPr id="3" name="Freeform 3"/>
          <p:cNvSpPr/>
          <p:nvPr/>
        </p:nvSpPr>
        <p:spPr>
          <a:xfrm>
            <a:off x="9243732" y="2085112"/>
            <a:ext cx="8015568" cy="6365304"/>
          </a:xfrm>
          <a:custGeom>
            <a:avLst/>
            <a:gdLst/>
            <a:ahLst/>
            <a:cxnLst/>
            <a:rect l="l" t="t" r="r" b="b"/>
            <a:pathLst>
              <a:path w="8015568" h="6365304">
                <a:moveTo>
                  <a:pt x="0" y="0"/>
                </a:moveTo>
                <a:lnTo>
                  <a:pt x="8015568" y="0"/>
                </a:lnTo>
                <a:lnTo>
                  <a:pt x="8015568" y="6365304"/>
                </a:lnTo>
                <a:lnTo>
                  <a:pt x="0" y="6365304"/>
                </a:lnTo>
                <a:lnTo>
                  <a:pt x="0" y="0"/>
                </a:lnTo>
                <a:close/>
              </a:path>
            </a:pathLst>
          </a:custGeom>
          <a:blipFill>
            <a:blip r:embed="rId3"/>
            <a:stretch>
              <a:fillRect/>
            </a:stretch>
          </a:blipFill>
        </p:spPr>
        <p:txBody>
          <a:bodyPr/>
          <a:lstStyle/>
          <a:p>
            <a:endParaRPr lang="it-IT"/>
          </a:p>
        </p:txBody>
      </p:sp>
      <p:sp>
        <p:nvSpPr>
          <p:cNvPr id="4" name="TextBox 4"/>
          <p:cNvSpPr txBox="1"/>
          <p:nvPr/>
        </p:nvSpPr>
        <p:spPr>
          <a:xfrm>
            <a:off x="763012" y="13851"/>
            <a:ext cx="16761976" cy="1286748"/>
          </a:xfrm>
          <a:prstGeom prst="rect">
            <a:avLst/>
          </a:prstGeom>
        </p:spPr>
        <p:txBody>
          <a:bodyPr lIns="0" tIns="0" rIns="0" bIns="0" rtlCol="0" anchor="t">
            <a:spAutoFit/>
          </a:bodyPr>
          <a:lstStyle/>
          <a:p>
            <a:pPr algn="ctr">
              <a:lnSpc>
                <a:spcPts val="9926"/>
              </a:lnSpc>
              <a:spcBef>
                <a:spcPct val="0"/>
              </a:spcBef>
            </a:pPr>
            <a:r>
              <a:rPr lang="en-US" sz="7090" b="1">
                <a:solidFill>
                  <a:srgbClr val="FFFFFF"/>
                </a:solidFill>
                <a:latin typeface="Poppins Bold"/>
                <a:ea typeface="Poppins Bold"/>
                <a:cs typeface="Poppins Bold"/>
                <a:sym typeface="Poppins Bold"/>
              </a:rPr>
              <a:t>DEGREE CENTRALITIES DISTRIBUTIONS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1028700" y="1567299"/>
            <a:ext cx="5122552" cy="4067909"/>
          </a:xfrm>
          <a:custGeom>
            <a:avLst/>
            <a:gdLst/>
            <a:ahLst/>
            <a:cxnLst/>
            <a:rect l="l" t="t" r="r" b="b"/>
            <a:pathLst>
              <a:path w="5122552" h="4067909">
                <a:moveTo>
                  <a:pt x="0" y="0"/>
                </a:moveTo>
                <a:lnTo>
                  <a:pt x="5122552" y="0"/>
                </a:lnTo>
                <a:lnTo>
                  <a:pt x="5122552" y="4067909"/>
                </a:lnTo>
                <a:lnTo>
                  <a:pt x="0" y="4067909"/>
                </a:lnTo>
                <a:lnTo>
                  <a:pt x="0" y="0"/>
                </a:lnTo>
                <a:close/>
              </a:path>
            </a:pathLst>
          </a:custGeom>
          <a:blipFill>
            <a:blip r:embed="rId2"/>
            <a:stretch>
              <a:fillRect/>
            </a:stretch>
          </a:blipFill>
        </p:spPr>
        <p:txBody>
          <a:bodyPr/>
          <a:lstStyle/>
          <a:p>
            <a:endParaRPr lang="it-IT"/>
          </a:p>
        </p:txBody>
      </p:sp>
      <p:sp>
        <p:nvSpPr>
          <p:cNvPr id="3" name="Freeform 3"/>
          <p:cNvSpPr/>
          <p:nvPr/>
        </p:nvSpPr>
        <p:spPr>
          <a:xfrm>
            <a:off x="1028700" y="5699177"/>
            <a:ext cx="5122552" cy="4067909"/>
          </a:xfrm>
          <a:custGeom>
            <a:avLst/>
            <a:gdLst/>
            <a:ahLst/>
            <a:cxnLst/>
            <a:rect l="l" t="t" r="r" b="b"/>
            <a:pathLst>
              <a:path w="5122552" h="4067909">
                <a:moveTo>
                  <a:pt x="0" y="0"/>
                </a:moveTo>
                <a:lnTo>
                  <a:pt x="5122552" y="0"/>
                </a:lnTo>
                <a:lnTo>
                  <a:pt x="5122552" y="4067909"/>
                </a:lnTo>
                <a:lnTo>
                  <a:pt x="0" y="4067909"/>
                </a:lnTo>
                <a:lnTo>
                  <a:pt x="0" y="0"/>
                </a:lnTo>
                <a:close/>
              </a:path>
            </a:pathLst>
          </a:custGeom>
          <a:blipFill>
            <a:blip r:embed="rId3"/>
            <a:stretch>
              <a:fillRect/>
            </a:stretch>
          </a:blipFill>
        </p:spPr>
        <p:txBody>
          <a:bodyPr/>
          <a:lstStyle/>
          <a:p>
            <a:endParaRPr lang="it-IT"/>
          </a:p>
        </p:txBody>
      </p:sp>
      <p:sp>
        <p:nvSpPr>
          <p:cNvPr id="4" name="TextBox 4"/>
          <p:cNvSpPr txBox="1"/>
          <p:nvPr/>
        </p:nvSpPr>
        <p:spPr>
          <a:xfrm>
            <a:off x="6611237" y="2113813"/>
            <a:ext cx="11172065" cy="1722233"/>
          </a:xfrm>
          <a:prstGeom prst="rect">
            <a:avLst/>
          </a:prstGeom>
        </p:spPr>
        <p:txBody>
          <a:bodyPr lIns="0" tIns="0" rIns="0" bIns="0" rtlCol="0" anchor="t">
            <a:spAutoFit/>
          </a:bodyPr>
          <a:lstStyle/>
          <a:p>
            <a:pPr algn="l">
              <a:lnSpc>
                <a:spcPts val="2700"/>
              </a:lnSpc>
              <a:spcBef>
                <a:spcPct val="0"/>
              </a:spcBef>
            </a:pPr>
            <a:r>
              <a:rPr lang="en-US" sz="1929">
                <a:solidFill>
                  <a:srgbClr val="FEFEFE"/>
                </a:solidFill>
                <a:latin typeface="Roboto"/>
                <a:ea typeface="Roboto"/>
                <a:cs typeface="Roboto"/>
                <a:sym typeface="Roboto"/>
              </a:rPr>
              <a:t>Both weighted degree distributions are heavy-tailed, but neither follows a pure power law</a:t>
            </a:r>
          </a:p>
          <a:p>
            <a:pPr algn="l">
              <a:lnSpc>
                <a:spcPts val="2700"/>
              </a:lnSpc>
              <a:spcBef>
                <a:spcPct val="0"/>
              </a:spcBef>
            </a:pPr>
            <a:endParaRPr lang="en-US" sz="1929">
              <a:solidFill>
                <a:srgbClr val="FEFEFE"/>
              </a:solidFill>
              <a:latin typeface="Roboto"/>
              <a:ea typeface="Roboto"/>
              <a:cs typeface="Roboto"/>
              <a:sym typeface="Roboto"/>
            </a:endParaRPr>
          </a:p>
          <a:p>
            <a:pPr algn="l">
              <a:lnSpc>
                <a:spcPts val="2700"/>
              </a:lnSpc>
              <a:spcBef>
                <a:spcPct val="0"/>
              </a:spcBef>
            </a:pPr>
            <a:endParaRPr lang="en-US" sz="1929">
              <a:solidFill>
                <a:srgbClr val="FEFEFE"/>
              </a:solidFill>
              <a:latin typeface="Roboto"/>
              <a:ea typeface="Roboto"/>
              <a:cs typeface="Roboto"/>
              <a:sym typeface="Roboto"/>
            </a:endParaRPr>
          </a:p>
          <a:p>
            <a:pPr algn="l">
              <a:lnSpc>
                <a:spcPts val="2700"/>
              </a:lnSpc>
              <a:spcBef>
                <a:spcPct val="0"/>
              </a:spcBef>
            </a:pPr>
            <a:r>
              <a:rPr lang="en-US" sz="1929">
                <a:solidFill>
                  <a:srgbClr val="FEFEFE"/>
                </a:solidFill>
                <a:latin typeface="Roboto"/>
                <a:ea typeface="Roboto"/>
                <a:cs typeface="Roboto"/>
                <a:sym typeface="Roboto"/>
              </a:rPr>
              <a:t> Likelihood-ratio tests favour a </a:t>
            </a:r>
            <a:r>
              <a:rPr lang="en-US" sz="1929" b="1">
                <a:solidFill>
                  <a:srgbClr val="FEFEFE"/>
                </a:solidFill>
                <a:latin typeface="Roboto Bold"/>
                <a:ea typeface="Roboto Bold"/>
                <a:cs typeface="Roboto Bold"/>
                <a:sym typeface="Roboto Bold"/>
              </a:rPr>
              <a:t>truncated power law</a:t>
            </a:r>
            <a:r>
              <a:rPr lang="en-US" sz="1929">
                <a:solidFill>
                  <a:srgbClr val="FEFEFE"/>
                </a:solidFill>
                <a:latin typeface="Roboto"/>
                <a:ea typeface="Roboto"/>
                <a:cs typeface="Roboto"/>
                <a:sym typeface="Roboto"/>
              </a:rPr>
              <a:t> in both directions, more decisively for out-strength (R = −48.4) than for in-strength (R = −23.7)</a:t>
            </a:r>
          </a:p>
        </p:txBody>
      </p:sp>
      <p:graphicFrame>
        <p:nvGraphicFramePr>
          <p:cNvPr id="5" name="Table 5"/>
          <p:cNvGraphicFramePr>
            <a:graphicFrameLocks noGrp="1"/>
          </p:cNvGraphicFramePr>
          <p:nvPr/>
        </p:nvGraphicFramePr>
        <p:xfrm>
          <a:off x="6611237" y="4764317"/>
          <a:ext cx="11321177" cy="2390775"/>
        </p:xfrm>
        <a:graphic>
          <a:graphicData uri="http://schemas.openxmlformats.org/drawingml/2006/table">
            <a:tbl>
              <a:tblPr/>
              <a:tblGrid>
                <a:gridCol w="2499557">
                  <a:extLst>
                    <a:ext uri="{9D8B030D-6E8A-4147-A177-3AD203B41FA5}">
                      <a16:colId xmlns:a16="http://schemas.microsoft.com/office/drawing/2014/main" val="20000"/>
                    </a:ext>
                  </a:extLst>
                </a:gridCol>
                <a:gridCol w="1003980">
                  <a:extLst>
                    <a:ext uri="{9D8B030D-6E8A-4147-A177-3AD203B41FA5}">
                      <a16:colId xmlns:a16="http://schemas.microsoft.com/office/drawing/2014/main" val="20001"/>
                    </a:ext>
                  </a:extLst>
                </a:gridCol>
                <a:gridCol w="2254176">
                  <a:extLst>
                    <a:ext uri="{9D8B030D-6E8A-4147-A177-3AD203B41FA5}">
                      <a16:colId xmlns:a16="http://schemas.microsoft.com/office/drawing/2014/main" val="20002"/>
                    </a:ext>
                  </a:extLst>
                </a:gridCol>
                <a:gridCol w="2794156">
                  <a:extLst>
                    <a:ext uri="{9D8B030D-6E8A-4147-A177-3AD203B41FA5}">
                      <a16:colId xmlns:a16="http://schemas.microsoft.com/office/drawing/2014/main" val="20003"/>
                    </a:ext>
                  </a:extLst>
                </a:gridCol>
                <a:gridCol w="2769308">
                  <a:extLst>
                    <a:ext uri="{9D8B030D-6E8A-4147-A177-3AD203B41FA5}">
                      <a16:colId xmlns:a16="http://schemas.microsoft.com/office/drawing/2014/main" val="20004"/>
                    </a:ext>
                  </a:extLst>
                </a:gridCol>
              </a:tblGrid>
              <a:tr h="803378">
                <a:tc>
                  <a:txBody>
                    <a:bodyPr/>
                    <a:lstStyle/>
                    <a:p>
                      <a:pPr algn="ctr">
                        <a:lnSpc>
                          <a:spcPts val="2295"/>
                        </a:lnSpc>
                        <a:defRPr/>
                      </a:pPr>
                      <a:endParaRPr lang="en-US" sz="1100"/>
                    </a:p>
                  </a:txBody>
                  <a:tcPr marL="190500" marR="190500" marT="190500" marB="190500" anchor="ctr">
                    <a:lnL w="38100" cap="flat" cmpd="sng" algn="ctr">
                      <a:solidFill>
                        <a:srgbClr val="FCFDFC"/>
                      </a:solidFill>
                      <a:prstDash val="solid"/>
                      <a:round/>
                      <a:headEnd type="none" w="med" len="med"/>
                      <a:tailEnd type="none" w="med" len="med"/>
                    </a:lnL>
                    <a:lnR w="66675"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66675" cap="flat" cmpd="sng" algn="ctr">
                      <a:solidFill>
                        <a:srgbClr val="FCFDFC"/>
                      </a:solidFill>
                      <a:prstDash val="solid"/>
                      <a:round/>
                      <a:headEnd type="none" w="med" len="med"/>
                      <a:tailEnd type="none" w="med" len="med"/>
                    </a:lnB>
                    <a:solidFill>
                      <a:srgbClr val="FEFEFE"/>
                    </a:solidFill>
                  </a:tcPr>
                </a:tc>
                <a:tc>
                  <a:txBody>
                    <a:bodyPr/>
                    <a:lstStyle/>
                    <a:p>
                      <a:pPr algn="ctr">
                        <a:lnSpc>
                          <a:spcPts val="2575"/>
                        </a:lnSpc>
                        <a:defRPr/>
                      </a:pPr>
                      <a:r>
                        <a:rPr lang="en-US" sz="1839" b="1">
                          <a:solidFill>
                            <a:srgbClr val="FCFDFC"/>
                          </a:solidFill>
                          <a:latin typeface="Roboto Bold"/>
                          <a:ea typeface="Roboto Bold"/>
                          <a:cs typeface="Roboto Bold"/>
                          <a:sym typeface="Roboto Bold"/>
                        </a:rPr>
                        <a:t>x min</a:t>
                      </a:r>
                      <a:endParaRPr lang="en-US" sz="1100"/>
                    </a:p>
                  </a:txBody>
                  <a:tcPr marL="190500" marR="190500" marT="190500" marB="190500" anchor="ctr">
                    <a:lnL w="66675" cap="flat" cmpd="sng" algn="ctr">
                      <a:solidFill>
                        <a:srgbClr val="FCFDFC"/>
                      </a:solidFill>
                      <a:prstDash val="solid"/>
                      <a:round/>
                      <a:headEnd type="none" w="med" len="med"/>
                      <a:tailEnd type="none" w="med" len="med"/>
                    </a:lnL>
                    <a:lnR w="28575"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66675" cap="flat" cmpd="sng" algn="ctr">
                      <a:solidFill>
                        <a:srgbClr val="FCFDFC"/>
                      </a:solidFill>
                      <a:prstDash val="solid"/>
                      <a:round/>
                      <a:headEnd type="none" w="med" len="med"/>
                      <a:tailEnd type="none" w="med" len="med"/>
                    </a:lnB>
                  </a:tcPr>
                </a:tc>
                <a:tc>
                  <a:txBody>
                    <a:bodyPr/>
                    <a:lstStyle/>
                    <a:p>
                      <a:pPr algn="ctr">
                        <a:lnSpc>
                          <a:spcPts val="2576"/>
                        </a:lnSpc>
                        <a:defRPr/>
                      </a:pPr>
                      <a:r>
                        <a:rPr lang="en-US" sz="1840" b="1">
                          <a:solidFill>
                            <a:srgbClr val="FCFDFC"/>
                          </a:solidFill>
                          <a:latin typeface="Roboto Bold"/>
                          <a:ea typeface="Roboto Bold"/>
                          <a:cs typeface="Roboto Bold"/>
                          <a:sym typeface="Roboto Bold"/>
                        </a:rPr>
                        <a:t>gamma (pure PL)</a:t>
                      </a:r>
                      <a:endParaRPr lang="en-US" sz="1100"/>
                    </a:p>
                  </a:txBody>
                  <a:tcPr marL="190500" marR="190500" marT="190500" marB="190500" anchor="ctr">
                    <a:lnL w="28575" cap="flat" cmpd="sng" algn="ctr">
                      <a:solidFill>
                        <a:srgbClr val="FCFDFC"/>
                      </a:solidFill>
                      <a:prstDash val="solid"/>
                      <a:round/>
                      <a:headEnd type="none" w="med" len="med"/>
                      <a:tailEnd type="none" w="med" len="med"/>
                    </a:lnL>
                    <a:lnR w="66675"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66675" cap="flat" cmpd="sng" algn="ctr">
                      <a:solidFill>
                        <a:srgbClr val="FCFDFC"/>
                      </a:solidFill>
                      <a:prstDash val="solid"/>
                      <a:round/>
                      <a:headEnd type="none" w="med" len="med"/>
                      <a:tailEnd type="none" w="med" len="med"/>
                    </a:lnB>
                  </a:tcPr>
                </a:tc>
                <a:tc>
                  <a:txBody>
                    <a:bodyPr/>
                    <a:lstStyle/>
                    <a:p>
                      <a:pPr algn="ctr">
                        <a:lnSpc>
                          <a:spcPts val="2576"/>
                        </a:lnSpc>
                        <a:defRPr/>
                      </a:pPr>
                      <a:r>
                        <a:rPr lang="en-US" sz="1840" b="1">
                          <a:solidFill>
                            <a:srgbClr val="FCFDFC"/>
                          </a:solidFill>
                          <a:latin typeface="Roboto Bold"/>
                          <a:ea typeface="Roboto Bold"/>
                          <a:cs typeface="Roboto Bold"/>
                          <a:sym typeface="Roboto Bold"/>
                        </a:rPr>
                        <a:t>k_c (truncated PL)</a:t>
                      </a:r>
                      <a:endParaRPr lang="en-US" sz="1100"/>
                    </a:p>
                  </a:txBody>
                  <a:tcPr marL="190500" marR="190500" marT="190500" marB="190500" anchor="ctr">
                    <a:lnL w="66675"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66675" cap="flat" cmpd="sng" algn="ctr">
                      <a:solidFill>
                        <a:srgbClr val="FCFDFC"/>
                      </a:solidFill>
                      <a:prstDash val="solid"/>
                      <a:round/>
                      <a:headEnd type="none" w="med" len="med"/>
                      <a:tailEnd type="none" w="med" len="med"/>
                    </a:lnB>
                  </a:tcPr>
                </a:tc>
                <a:tc>
                  <a:txBody>
                    <a:bodyPr/>
                    <a:lstStyle/>
                    <a:p>
                      <a:pPr algn="ctr">
                        <a:lnSpc>
                          <a:spcPts val="2576"/>
                        </a:lnSpc>
                        <a:defRPr/>
                      </a:pPr>
                      <a:r>
                        <a:rPr lang="en-US" sz="1840" b="1">
                          <a:solidFill>
                            <a:srgbClr val="FCFDFC"/>
                          </a:solidFill>
                          <a:latin typeface="Roboto Bold"/>
                          <a:ea typeface="Roboto Bold"/>
                          <a:cs typeface="Roboto Bold"/>
                          <a:sym typeface="Roboto Bold"/>
                        </a:rPr>
                        <a:t>gamma (truncated PL)</a:t>
                      </a:r>
                      <a:endParaRPr lang="en-US" sz="1100"/>
                    </a:p>
                  </a:txBody>
                  <a:tcPr marL="190500" marR="190500" marT="190500" marB="190500" anchor="ctr">
                    <a:lnL w="38100" cap="flat" cmpd="sng" algn="ctr">
                      <a:solidFill>
                        <a:srgbClr val="FCFDFC"/>
                      </a:solidFill>
                      <a:prstDash val="solid"/>
                      <a:round/>
                      <a:headEnd type="none" w="med" len="med"/>
                      <a:tailEnd type="none" w="med" len="med"/>
                    </a:lnL>
                    <a:lnR w="28575"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66675"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0"/>
                  </a:ext>
                </a:extLst>
              </a:tr>
              <a:tr h="803378">
                <a:tc>
                  <a:txBody>
                    <a:bodyPr/>
                    <a:lstStyle/>
                    <a:p>
                      <a:pPr algn="ctr">
                        <a:lnSpc>
                          <a:spcPts val="2435"/>
                        </a:lnSpc>
                        <a:defRPr/>
                      </a:pPr>
                      <a:r>
                        <a:rPr lang="en-US" sz="1739" b="1">
                          <a:solidFill>
                            <a:srgbClr val="FCFDFC"/>
                          </a:solidFill>
                          <a:latin typeface="Roboto Bold"/>
                          <a:ea typeface="Roboto Bold"/>
                          <a:cs typeface="Roboto Bold"/>
                          <a:sym typeface="Roboto Bold"/>
                        </a:rPr>
                        <a:t>Weighted in-degree</a:t>
                      </a:r>
                      <a:endParaRPr lang="en-US" sz="1100"/>
                    </a:p>
                  </a:txBody>
                  <a:tcPr marL="190500" marR="190500" marT="190500" marB="190500" anchor="ctr">
                    <a:lnL w="38100" cap="flat" cmpd="sng" algn="ctr">
                      <a:solidFill>
                        <a:srgbClr val="FCFDFC"/>
                      </a:solidFill>
                      <a:prstDash val="solid"/>
                      <a:round/>
                      <a:headEnd type="none" w="med" len="med"/>
                      <a:tailEnd type="none" w="med" len="med"/>
                    </a:lnL>
                    <a:lnR w="66675" cap="flat" cmpd="sng" algn="ctr">
                      <a:solidFill>
                        <a:srgbClr val="FCFDFC"/>
                      </a:solidFill>
                      <a:prstDash val="solid"/>
                      <a:round/>
                      <a:headEnd type="none" w="med" len="med"/>
                      <a:tailEnd type="none" w="med" len="med"/>
                    </a:lnR>
                    <a:lnT w="66675" cap="flat" cmpd="sng" algn="ctr">
                      <a:solidFill>
                        <a:srgbClr val="FCFDFC"/>
                      </a:solidFill>
                      <a:prstDash val="solid"/>
                      <a:round/>
                      <a:headEnd type="none" w="med" len="med"/>
                      <a:tailEnd type="none" w="med" len="med"/>
                    </a:lnT>
                    <a:lnB w="28575" cap="flat" cmpd="sng" algn="ctr">
                      <a:solidFill>
                        <a:srgbClr val="FCFDFC"/>
                      </a:solidFill>
                      <a:prstDash val="solid"/>
                      <a:round/>
                      <a:headEnd type="none" w="med" len="med"/>
                      <a:tailEnd type="none" w="med" len="med"/>
                    </a:lnB>
                  </a:tcPr>
                </a:tc>
                <a:tc>
                  <a:txBody>
                    <a:bodyPr/>
                    <a:lstStyle/>
                    <a:p>
                      <a:pPr algn="ctr">
                        <a:lnSpc>
                          <a:spcPts val="2575"/>
                        </a:lnSpc>
                        <a:defRPr/>
                      </a:pPr>
                      <a:r>
                        <a:rPr lang="en-US" sz="1839" b="1">
                          <a:solidFill>
                            <a:srgbClr val="FCFDFC"/>
                          </a:solidFill>
                          <a:latin typeface="Roboto Bold"/>
                          <a:ea typeface="Roboto Bold"/>
                          <a:cs typeface="Roboto Bold"/>
                          <a:sym typeface="Roboto Bold"/>
                        </a:rPr>
                        <a:t>8,6</a:t>
                      </a:r>
                      <a:endParaRPr lang="en-US" sz="1100"/>
                    </a:p>
                  </a:txBody>
                  <a:tcPr marL="190500" marR="190500" marT="190500" marB="190500" anchor="ctr">
                    <a:lnL w="66675" cap="flat" cmpd="sng" algn="ctr">
                      <a:solidFill>
                        <a:srgbClr val="FCFDFC"/>
                      </a:solidFill>
                      <a:prstDash val="solid"/>
                      <a:round/>
                      <a:headEnd type="none" w="med" len="med"/>
                      <a:tailEnd type="none" w="med" len="med"/>
                    </a:lnL>
                    <a:lnR w="28575" cap="flat" cmpd="sng" algn="ctr">
                      <a:solidFill>
                        <a:srgbClr val="FCFDFC"/>
                      </a:solidFill>
                      <a:prstDash val="solid"/>
                      <a:round/>
                      <a:headEnd type="none" w="med" len="med"/>
                      <a:tailEnd type="none" w="med" len="med"/>
                    </a:lnR>
                    <a:lnT w="66675" cap="flat" cmpd="sng" algn="ctr">
                      <a:solidFill>
                        <a:srgbClr val="FCFDFC"/>
                      </a:solidFill>
                      <a:prstDash val="solid"/>
                      <a:round/>
                      <a:headEnd type="none" w="med" len="med"/>
                      <a:tailEnd type="none" w="med" len="med"/>
                    </a:lnT>
                    <a:lnB w="28575" cap="flat" cmpd="sng" algn="ctr">
                      <a:solidFill>
                        <a:srgbClr val="FCFDFC"/>
                      </a:solidFill>
                      <a:prstDash val="solid"/>
                      <a:round/>
                      <a:headEnd type="none" w="med" len="med"/>
                      <a:tailEnd type="none" w="med" len="med"/>
                    </a:lnB>
                  </a:tcPr>
                </a:tc>
                <a:tc>
                  <a:txBody>
                    <a:bodyPr/>
                    <a:lstStyle/>
                    <a:p>
                      <a:pPr algn="ctr">
                        <a:lnSpc>
                          <a:spcPts val="2576"/>
                        </a:lnSpc>
                        <a:defRPr/>
                      </a:pPr>
                      <a:r>
                        <a:rPr lang="en-US" sz="1840" b="1">
                          <a:solidFill>
                            <a:srgbClr val="FCFDFC"/>
                          </a:solidFill>
                          <a:latin typeface="Roboto Bold"/>
                          <a:ea typeface="Roboto Bold"/>
                          <a:cs typeface="Roboto Bold"/>
                          <a:sym typeface="Roboto Bold"/>
                        </a:rPr>
                        <a:t>1,787</a:t>
                      </a:r>
                      <a:endParaRPr lang="en-US" sz="1100"/>
                    </a:p>
                  </a:txBody>
                  <a:tcPr marL="190500" marR="190500" marT="190500" marB="190500" anchor="ctr">
                    <a:lnL w="28575" cap="flat" cmpd="sng" algn="ctr">
                      <a:solidFill>
                        <a:srgbClr val="FCFDFC"/>
                      </a:solidFill>
                      <a:prstDash val="solid"/>
                      <a:round/>
                      <a:headEnd type="none" w="med" len="med"/>
                      <a:tailEnd type="none" w="med" len="med"/>
                    </a:lnL>
                    <a:lnR w="66675" cap="flat" cmpd="sng" algn="ctr">
                      <a:solidFill>
                        <a:srgbClr val="FCFDFC"/>
                      </a:solidFill>
                      <a:prstDash val="solid"/>
                      <a:round/>
                      <a:headEnd type="none" w="med" len="med"/>
                      <a:tailEnd type="none" w="med" len="med"/>
                    </a:lnR>
                    <a:lnT w="66675" cap="flat" cmpd="sng" algn="ctr">
                      <a:solidFill>
                        <a:srgbClr val="FCFDFC"/>
                      </a:solidFill>
                      <a:prstDash val="solid"/>
                      <a:round/>
                      <a:headEnd type="none" w="med" len="med"/>
                      <a:tailEnd type="none" w="med" len="med"/>
                    </a:lnT>
                    <a:lnB w="28575" cap="flat" cmpd="sng" algn="ctr">
                      <a:solidFill>
                        <a:srgbClr val="FCFDFC"/>
                      </a:solidFill>
                      <a:prstDash val="solid"/>
                      <a:round/>
                      <a:headEnd type="none" w="med" len="med"/>
                      <a:tailEnd type="none" w="med" len="med"/>
                    </a:lnB>
                  </a:tcPr>
                </a:tc>
                <a:tc>
                  <a:txBody>
                    <a:bodyPr/>
                    <a:lstStyle/>
                    <a:p>
                      <a:pPr algn="ctr">
                        <a:lnSpc>
                          <a:spcPts val="2576"/>
                        </a:lnSpc>
                        <a:defRPr/>
                      </a:pPr>
                      <a:r>
                        <a:rPr lang="en-US" sz="1840" b="1">
                          <a:solidFill>
                            <a:srgbClr val="FCFDFC"/>
                          </a:solidFill>
                          <a:latin typeface="Roboto Bold"/>
                          <a:ea typeface="Roboto Bold"/>
                          <a:cs typeface="Roboto Bold"/>
                          <a:sym typeface="Roboto Bold"/>
                        </a:rPr>
                        <a:t>1/0,0013 = 750</a:t>
                      </a:r>
                      <a:endParaRPr lang="en-US" sz="1100"/>
                    </a:p>
                  </a:txBody>
                  <a:tcPr marL="190500" marR="190500" marT="190500" marB="190500" anchor="ctr">
                    <a:lnL w="66675"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66675" cap="flat" cmpd="sng" algn="ctr">
                      <a:solidFill>
                        <a:srgbClr val="FCFDFC"/>
                      </a:solidFill>
                      <a:prstDash val="solid"/>
                      <a:round/>
                      <a:headEnd type="none" w="med" len="med"/>
                      <a:tailEnd type="none" w="med" len="med"/>
                    </a:lnT>
                    <a:lnB w="28575" cap="flat" cmpd="sng" algn="ctr">
                      <a:solidFill>
                        <a:srgbClr val="FCFDFC"/>
                      </a:solidFill>
                      <a:prstDash val="solid"/>
                      <a:round/>
                      <a:headEnd type="none" w="med" len="med"/>
                      <a:tailEnd type="none" w="med" len="med"/>
                    </a:lnB>
                  </a:tcPr>
                </a:tc>
                <a:tc>
                  <a:txBody>
                    <a:bodyPr/>
                    <a:lstStyle/>
                    <a:p>
                      <a:pPr algn="ctr">
                        <a:lnSpc>
                          <a:spcPts val="2576"/>
                        </a:lnSpc>
                        <a:defRPr/>
                      </a:pPr>
                      <a:r>
                        <a:rPr lang="en-US" sz="1840" b="1">
                          <a:solidFill>
                            <a:srgbClr val="FCFDFC"/>
                          </a:solidFill>
                          <a:latin typeface="Roboto Bold"/>
                          <a:ea typeface="Roboto Bold"/>
                          <a:cs typeface="Roboto Bold"/>
                          <a:sym typeface="Roboto Bold"/>
                        </a:rPr>
                        <a:t>1,58</a:t>
                      </a:r>
                      <a:endParaRPr lang="en-US" sz="1100"/>
                    </a:p>
                  </a:txBody>
                  <a:tcPr marL="190500" marR="190500" marT="190500" marB="190500" anchor="ctr">
                    <a:lnL w="38100" cap="flat" cmpd="sng" algn="ctr">
                      <a:solidFill>
                        <a:srgbClr val="FCFDFC"/>
                      </a:solidFill>
                      <a:prstDash val="solid"/>
                      <a:round/>
                      <a:headEnd type="none" w="med" len="med"/>
                      <a:tailEnd type="none" w="med" len="med"/>
                    </a:lnL>
                    <a:lnR w="28575" cap="flat" cmpd="sng" algn="ctr">
                      <a:solidFill>
                        <a:srgbClr val="FCFDFC"/>
                      </a:solidFill>
                      <a:prstDash val="solid"/>
                      <a:round/>
                      <a:headEnd type="none" w="med" len="med"/>
                      <a:tailEnd type="none" w="med" len="med"/>
                    </a:lnR>
                    <a:lnT w="66675" cap="flat" cmpd="sng" algn="ctr">
                      <a:solidFill>
                        <a:srgbClr val="FCFDFC"/>
                      </a:solidFill>
                      <a:prstDash val="solid"/>
                      <a:round/>
                      <a:headEnd type="none" w="med" len="med"/>
                      <a:tailEnd type="none" w="med" len="med"/>
                    </a:lnT>
                    <a:lnB w="28575"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1"/>
                  </a:ext>
                </a:extLst>
              </a:tr>
              <a:tr h="784019">
                <a:tc>
                  <a:txBody>
                    <a:bodyPr/>
                    <a:lstStyle/>
                    <a:p>
                      <a:pPr algn="ctr">
                        <a:lnSpc>
                          <a:spcPts val="2295"/>
                        </a:lnSpc>
                        <a:defRPr/>
                      </a:pPr>
                      <a:r>
                        <a:rPr lang="en-US" sz="1639" b="1">
                          <a:solidFill>
                            <a:srgbClr val="FCFDFC"/>
                          </a:solidFill>
                          <a:latin typeface="Roboto Bold"/>
                          <a:ea typeface="Roboto Bold"/>
                          <a:cs typeface="Roboto Bold"/>
                          <a:sym typeface="Roboto Bold"/>
                        </a:rPr>
                        <a:t>Weighted out-degree</a:t>
                      </a:r>
                      <a:endParaRPr lang="en-US" sz="1100"/>
                    </a:p>
                  </a:txBody>
                  <a:tcPr marL="190500" marR="190500" marT="190500" marB="190500" anchor="ctr">
                    <a:lnL w="38100" cap="flat" cmpd="sng" algn="ctr">
                      <a:solidFill>
                        <a:srgbClr val="FCFDFC"/>
                      </a:solidFill>
                      <a:prstDash val="solid"/>
                      <a:round/>
                      <a:headEnd type="none" w="med" len="med"/>
                      <a:tailEnd type="none" w="med" len="med"/>
                    </a:lnL>
                    <a:lnR w="66675" cap="flat" cmpd="sng" algn="ctr">
                      <a:solidFill>
                        <a:srgbClr val="FCFDFC"/>
                      </a:solidFill>
                      <a:prstDash val="solid"/>
                      <a:round/>
                      <a:headEnd type="none" w="med" len="med"/>
                      <a:tailEnd type="none" w="med" len="med"/>
                    </a:lnR>
                    <a:lnT w="28575"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2576"/>
                        </a:lnSpc>
                        <a:defRPr/>
                      </a:pPr>
                      <a:r>
                        <a:rPr lang="en-US" sz="1840" b="1">
                          <a:solidFill>
                            <a:srgbClr val="FCFDFC"/>
                          </a:solidFill>
                          <a:latin typeface="Roboto Bold"/>
                          <a:ea typeface="Roboto Bold"/>
                          <a:cs typeface="Roboto Bold"/>
                          <a:sym typeface="Roboto Bold"/>
                        </a:rPr>
                        <a:t>13,5</a:t>
                      </a:r>
                      <a:endParaRPr lang="en-US" sz="1100"/>
                    </a:p>
                  </a:txBody>
                  <a:tcPr marL="190500" marR="190500" marT="190500" marB="190500" anchor="ctr">
                    <a:lnL w="66675" cap="flat" cmpd="sng" algn="ctr">
                      <a:solidFill>
                        <a:srgbClr val="FCFDFC"/>
                      </a:solidFill>
                      <a:prstDash val="solid"/>
                      <a:round/>
                      <a:headEnd type="none" w="med" len="med"/>
                      <a:tailEnd type="none" w="med" len="med"/>
                    </a:lnL>
                    <a:lnR w="28575" cap="flat" cmpd="sng" algn="ctr">
                      <a:solidFill>
                        <a:srgbClr val="FCFDFC"/>
                      </a:solidFill>
                      <a:prstDash val="solid"/>
                      <a:round/>
                      <a:headEnd type="none" w="med" len="med"/>
                      <a:tailEnd type="none" w="med" len="med"/>
                    </a:lnR>
                    <a:lnT w="28575"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2576"/>
                        </a:lnSpc>
                        <a:defRPr/>
                      </a:pPr>
                      <a:r>
                        <a:rPr lang="en-US" sz="1840" b="1">
                          <a:solidFill>
                            <a:srgbClr val="FEFEFE"/>
                          </a:solidFill>
                          <a:latin typeface="Roboto Bold"/>
                          <a:ea typeface="Roboto Bold"/>
                          <a:cs typeface="Roboto Bold"/>
                          <a:sym typeface="Roboto Bold"/>
                        </a:rPr>
                        <a:t>1,817</a:t>
                      </a:r>
                      <a:endParaRPr lang="en-US" sz="1100"/>
                    </a:p>
                  </a:txBody>
                  <a:tcPr marL="190500" marR="190500" marT="190500" marB="190500" anchor="ctr">
                    <a:lnL w="28575" cap="flat" cmpd="sng" algn="ctr">
                      <a:solidFill>
                        <a:srgbClr val="FCFDFC"/>
                      </a:solidFill>
                      <a:prstDash val="solid"/>
                      <a:round/>
                      <a:headEnd type="none" w="med" len="med"/>
                      <a:tailEnd type="none" w="med" len="med"/>
                    </a:lnL>
                    <a:lnR w="66675" cap="flat" cmpd="sng" algn="ctr">
                      <a:solidFill>
                        <a:srgbClr val="FCFDFC"/>
                      </a:solidFill>
                      <a:prstDash val="solid"/>
                      <a:round/>
                      <a:headEnd type="none" w="med" len="med"/>
                      <a:tailEnd type="none" w="med" len="med"/>
                    </a:lnR>
                    <a:lnT w="28575"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2575"/>
                        </a:lnSpc>
                        <a:defRPr/>
                      </a:pPr>
                      <a:r>
                        <a:rPr lang="en-US" sz="1839" b="1">
                          <a:solidFill>
                            <a:srgbClr val="FEFEFE"/>
                          </a:solidFill>
                          <a:latin typeface="Roboto Bold"/>
                          <a:ea typeface="Roboto Bold"/>
                          <a:cs typeface="Roboto Bold"/>
                          <a:sym typeface="Roboto Bold"/>
                        </a:rPr>
                        <a:t>1/0,0034 = 292</a:t>
                      </a:r>
                      <a:endParaRPr lang="en-US" sz="1100"/>
                    </a:p>
                  </a:txBody>
                  <a:tcPr marL="190500" marR="190500" marT="190500" marB="190500" anchor="ctr">
                    <a:lnL w="66675"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28575"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2576"/>
                        </a:lnSpc>
                        <a:defRPr/>
                      </a:pPr>
                      <a:r>
                        <a:rPr lang="en-US" sz="1840" b="1">
                          <a:solidFill>
                            <a:srgbClr val="FEFEFE"/>
                          </a:solidFill>
                          <a:latin typeface="Roboto Bold"/>
                          <a:ea typeface="Roboto Bold"/>
                          <a:cs typeface="Roboto Bold"/>
                          <a:sym typeface="Roboto Bold"/>
                        </a:rPr>
                        <a:t>1,328</a:t>
                      </a:r>
                      <a:endParaRPr lang="en-US" sz="1100"/>
                    </a:p>
                  </a:txBody>
                  <a:tcPr marL="190500" marR="190500" marT="190500" marB="190500" anchor="ctr">
                    <a:lnL w="38100" cap="flat" cmpd="sng" algn="ctr">
                      <a:solidFill>
                        <a:srgbClr val="FCFDFC"/>
                      </a:solidFill>
                      <a:prstDash val="solid"/>
                      <a:round/>
                      <a:headEnd type="none" w="med" len="med"/>
                      <a:tailEnd type="none" w="med" len="med"/>
                    </a:lnL>
                    <a:lnR w="28575" cap="flat" cmpd="sng" algn="ctr">
                      <a:solidFill>
                        <a:srgbClr val="FCFDFC"/>
                      </a:solidFill>
                      <a:prstDash val="solid"/>
                      <a:round/>
                      <a:headEnd type="none" w="med" len="med"/>
                      <a:tailEnd type="none" w="med" len="med"/>
                    </a:lnR>
                    <a:lnT w="28575"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6" name="Picture 6"/>
          <p:cNvPicPr>
            <a:picLocks noChangeAspect="1"/>
          </p:cNvPicPr>
          <p:nvPr/>
        </p:nvPicPr>
        <p:blipFill>
          <a:blip r:embed="rId4"/>
          <a:stretch>
            <a:fillRect/>
          </a:stretch>
        </p:blipFill>
        <p:spPr>
          <a:xfrm>
            <a:off x="10874457" y="2425399"/>
            <a:ext cx="2435988" cy="781105"/>
          </a:xfrm>
          <a:prstGeom prst="rect">
            <a:avLst/>
          </a:prstGeom>
        </p:spPr>
      </p:pic>
      <p:pic>
        <p:nvPicPr>
          <p:cNvPr id="7" name="Picture 7"/>
          <p:cNvPicPr>
            <a:picLocks noChangeAspect="1"/>
          </p:cNvPicPr>
          <p:nvPr/>
        </p:nvPicPr>
        <p:blipFill>
          <a:blip r:embed="rId5"/>
          <a:stretch>
            <a:fillRect/>
          </a:stretch>
        </p:blipFill>
        <p:spPr>
          <a:xfrm>
            <a:off x="10574878" y="3772426"/>
            <a:ext cx="3163736" cy="934545"/>
          </a:xfrm>
          <a:prstGeom prst="rect">
            <a:avLst/>
          </a:prstGeom>
        </p:spPr>
      </p:pic>
      <p:sp>
        <p:nvSpPr>
          <p:cNvPr id="8" name="Freeform 8"/>
          <p:cNvSpPr/>
          <p:nvPr/>
        </p:nvSpPr>
        <p:spPr>
          <a:xfrm>
            <a:off x="1028700" y="5699177"/>
            <a:ext cx="5122552" cy="4067909"/>
          </a:xfrm>
          <a:custGeom>
            <a:avLst/>
            <a:gdLst/>
            <a:ahLst/>
            <a:cxnLst/>
            <a:rect l="l" t="t" r="r" b="b"/>
            <a:pathLst>
              <a:path w="5122552" h="4067909">
                <a:moveTo>
                  <a:pt x="0" y="0"/>
                </a:moveTo>
                <a:lnTo>
                  <a:pt x="5122552" y="0"/>
                </a:lnTo>
                <a:lnTo>
                  <a:pt x="5122552" y="4067909"/>
                </a:lnTo>
                <a:lnTo>
                  <a:pt x="0" y="4067909"/>
                </a:lnTo>
                <a:lnTo>
                  <a:pt x="0" y="0"/>
                </a:lnTo>
                <a:close/>
              </a:path>
            </a:pathLst>
          </a:custGeom>
          <a:blipFill>
            <a:blip r:embed="rId6"/>
            <a:stretch>
              <a:fillRect l="-692" r="-692"/>
            </a:stretch>
          </a:blipFill>
        </p:spPr>
        <p:txBody>
          <a:bodyPr/>
          <a:lstStyle/>
          <a:p>
            <a:endParaRPr lang="it-IT"/>
          </a:p>
        </p:txBody>
      </p:sp>
      <p:sp>
        <p:nvSpPr>
          <p:cNvPr id="9" name="TextBox 9"/>
          <p:cNvSpPr txBox="1"/>
          <p:nvPr/>
        </p:nvSpPr>
        <p:spPr>
          <a:xfrm>
            <a:off x="763012" y="13851"/>
            <a:ext cx="16761976" cy="1286748"/>
          </a:xfrm>
          <a:prstGeom prst="rect">
            <a:avLst/>
          </a:prstGeom>
        </p:spPr>
        <p:txBody>
          <a:bodyPr lIns="0" tIns="0" rIns="0" bIns="0" rtlCol="0" anchor="t">
            <a:spAutoFit/>
          </a:bodyPr>
          <a:lstStyle/>
          <a:p>
            <a:pPr algn="ctr">
              <a:lnSpc>
                <a:spcPts val="9926"/>
              </a:lnSpc>
              <a:spcBef>
                <a:spcPct val="0"/>
              </a:spcBef>
            </a:pPr>
            <a:r>
              <a:rPr lang="en-US" sz="7090" b="1">
                <a:solidFill>
                  <a:srgbClr val="FFFFFF"/>
                </a:solidFill>
                <a:latin typeface="Poppins Bold"/>
                <a:ea typeface="Poppins Bold"/>
                <a:cs typeface="Poppins Bold"/>
                <a:sym typeface="Poppins Bold"/>
              </a:rPr>
              <a:t>DEGREE CENTRALITIES DISTRIBUTIONS</a:t>
            </a:r>
          </a:p>
        </p:txBody>
      </p:sp>
      <p:sp>
        <p:nvSpPr>
          <p:cNvPr id="10" name="TextBox 10"/>
          <p:cNvSpPr txBox="1"/>
          <p:nvPr/>
        </p:nvSpPr>
        <p:spPr>
          <a:xfrm>
            <a:off x="6611237" y="1423027"/>
            <a:ext cx="6903100" cy="614586"/>
          </a:xfrm>
          <a:prstGeom prst="rect">
            <a:avLst/>
          </a:prstGeom>
        </p:spPr>
        <p:txBody>
          <a:bodyPr lIns="0" tIns="0" rIns="0" bIns="0" rtlCol="0" anchor="t">
            <a:spAutoFit/>
          </a:bodyPr>
          <a:lstStyle/>
          <a:p>
            <a:pPr algn="l">
              <a:lnSpc>
                <a:spcPts val="4975"/>
              </a:lnSpc>
            </a:pPr>
            <a:r>
              <a:rPr lang="en-US" sz="3553" b="1">
                <a:solidFill>
                  <a:srgbClr val="FEFEFE"/>
                </a:solidFill>
                <a:latin typeface="Roboto Bold"/>
                <a:ea typeface="Roboto Bold"/>
                <a:cs typeface="Roboto Bold"/>
                <a:sym typeface="Roboto Bold"/>
              </a:rPr>
              <a:t>What do these graphs tell us?</a:t>
            </a:r>
          </a:p>
        </p:txBody>
      </p:sp>
      <p:sp>
        <p:nvSpPr>
          <p:cNvPr id="11" name="TextBox 11"/>
          <p:cNvSpPr txBox="1"/>
          <p:nvPr/>
        </p:nvSpPr>
        <p:spPr>
          <a:xfrm>
            <a:off x="6611237" y="7399883"/>
            <a:ext cx="5993435" cy="614695"/>
          </a:xfrm>
          <a:prstGeom prst="rect">
            <a:avLst/>
          </a:prstGeom>
        </p:spPr>
        <p:txBody>
          <a:bodyPr lIns="0" tIns="0" rIns="0" bIns="0" rtlCol="0" anchor="t">
            <a:spAutoFit/>
          </a:bodyPr>
          <a:lstStyle/>
          <a:p>
            <a:pPr algn="l">
              <a:lnSpc>
                <a:spcPts val="4969"/>
              </a:lnSpc>
            </a:pPr>
            <a:r>
              <a:rPr lang="en-US" sz="3549" b="1">
                <a:solidFill>
                  <a:srgbClr val="FEFEFE"/>
                </a:solidFill>
                <a:latin typeface="Roboto Bold"/>
                <a:ea typeface="Roboto Bold"/>
                <a:cs typeface="Roboto Bold"/>
                <a:sym typeface="Roboto Bold"/>
              </a:rPr>
              <a:t>Why does this happen?</a:t>
            </a:r>
          </a:p>
        </p:txBody>
      </p:sp>
      <p:sp>
        <p:nvSpPr>
          <p:cNvPr id="12" name="TextBox 12"/>
          <p:cNvSpPr txBox="1"/>
          <p:nvPr/>
        </p:nvSpPr>
        <p:spPr>
          <a:xfrm>
            <a:off x="6675533" y="8101504"/>
            <a:ext cx="10962428" cy="1665582"/>
          </a:xfrm>
          <a:prstGeom prst="rect">
            <a:avLst/>
          </a:prstGeom>
        </p:spPr>
        <p:txBody>
          <a:bodyPr lIns="0" tIns="0" rIns="0" bIns="0" rtlCol="0" anchor="t">
            <a:spAutoFit/>
          </a:bodyPr>
          <a:lstStyle/>
          <a:p>
            <a:pPr algn="l">
              <a:lnSpc>
                <a:spcPts val="2696"/>
              </a:lnSpc>
              <a:spcBef>
                <a:spcPct val="0"/>
              </a:spcBef>
            </a:pPr>
            <a:r>
              <a:rPr lang="en-US" sz="1925">
                <a:solidFill>
                  <a:srgbClr val="FCFDFC"/>
                </a:solidFill>
                <a:latin typeface="Roboto"/>
                <a:ea typeface="Roboto"/>
                <a:cs typeface="Roboto"/>
                <a:sym typeface="Roboto"/>
              </a:rPr>
              <a:t>Heavy-tailed degree distributions are expected (i.e. </a:t>
            </a:r>
            <a:r>
              <a:rPr lang="en-US" sz="1925" b="1">
                <a:solidFill>
                  <a:srgbClr val="FCFDFC"/>
                </a:solidFill>
                <a:latin typeface="Roboto Bold"/>
                <a:ea typeface="Roboto Bold"/>
                <a:cs typeface="Roboto Bold"/>
                <a:sym typeface="Roboto Bold"/>
              </a:rPr>
              <a:t>demand concentration in major metropolitan areas</a:t>
            </a:r>
            <a:r>
              <a:rPr lang="en-US" sz="1925">
                <a:solidFill>
                  <a:srgbClr val="FCFDFC"/>
                </a:solidFill>
                <a:latin typeface="Roboto"/>
                <a:ea typeface="Roboto"/>
                <a:cs typeface="Roboto"/>
                <a:sym typeface="Roboto"/>
              </a:rPr>
              <a:t>), but there are </a:t>
            </a:r>
            <a:r>
              <a:rPr lang="en-US" sz="1925" b="1">
                <a:solidFill>
                  <a:srgbClr val="FCFDFC"/>
                </a:solidFill>
                <a:latin typeface="Roboto Bold"/>
                <a:ea typeface="Roboto Bold"/>
                <a:cs typeface="Roboto Bold"/>
                <a:sym typeface="Roboto Bold"/>
              </a:rPr>
              <a:t>strong real-world constraints</a:t>
            </a:r>
            <a:r>
              <a:rPr lang="en-US" sz="1925">
                <a:solidFill>
                  <a:srgbClr val="FCFDFC"/>
                </a:solidFill>
                <a:latin typeface="Roboto"/>
                <a:ea typeface="Roboto"/>
                <a:cs typeface="Roboto"/>
                <a:sym typeface="Roboto"/>
              </a:rPr>
              <a:t> that introduce a cutoff: </a:t>
            </a:r>
          </a:p>
          <a:p>
            <a:pPr marL="415806" lvl="1" indent="-207903" algn="l">
              <a:lnSpc>
                <a:spcPts val="2696"/>
              </a:lnSpc>
              <a:buFont typeface="Arial"/>
              <a:buChar char="•"/>
            </a:pPr>
            <a:r>
              <a:rPr lang="en-US" sz="1925" b="1">
                <a:solidFill>
                  <a:srgbClr val="FCFDFC"/>
                </a:solidFill>
                <a:latin typeface="Roboto Bold"/>
                <a:ea typeface="Roboto Bold"/>
                <a:cs typeface="Roboto Bold"/>
                <a:sym typeface="Roboto Bold"/>
              </a:rPr>
              <a:t>Finite capacity </a:t>
            </a:r>
            <a:r>
              <a:rPr lang="en-US" sz="1925">
                <a:solidFill>
                  <a:srgbClr val="FCFDFC"/>
                </a:solidFill>
                <a:latin typeface="Roboto"/>
                <a:ea typeface="Roboto"/>
                <a:cs typeface="Roboto"/>
                <a:sym typeface="Roboto"/>
              </a:rPr>
              <a:t>at airports (runway slots, gates, crew and fleet limitations, etc)</a:t>
            </a:r>
          </a:p>
          <a:p>
            <a:pPr marL="415806" lvl="1" indent="-207903" algn="l">
              <a:lnSpc>
                <a:spcPts val="2696"/>
              </a:lnSpc>
              <a:buFont typeface="Arial"/>
              <a:buChar char="•"/>
            </a:pPr>
            <a:r>
              <a:rPr lang="en-US" sz="1925" b="1">
                <a:solidFill>
                  <a:srgbClr val="FCFDFC"/>
                </a:solidFill>
                <a:latin typeface="Roboto Bold"/>
                <a:ea typeface="Roboto Bold"/>
                <a:cs typeface="Roboto Bold"/>
                <a:sym typeface="Roboto Bold"/>
              </a:rPr>
              <a:t>Scheduling </a:t>
            </a:r>
            <a:r>
              <a:rPr lang="en-US" sz="1925">
                <a:solidFill>
                  <a:srgbClr val="FCFDFC"/>
                </a:solidFill>
                <a:latin typeface="Roboto"/>
                <a:ea typeface="Roboto"/>
                <a:cs typeface="Roboto"/>
                <a:sym typeface="Roboto"/>
              </a:rPr>
              <a:t>and</a:t>
            </a:r>
            <a:r>
              <a:rPr lang="en-US" sz="1925" b="1">
                <a:solidFill>
                  <a:srgbClr val="FCFDFC"/>
                </a:solidFill>
                <a:latin typeface="Roboto Bold"/>
                <a:ea typeface="Roboto Bold"/>
                <a:cs typeface="Roboto Bold"/>
                <a:sym typeface="Roboto Bold"/>
              </a:rPr>
              <a:t> regulatory constraints</a:t>
            </a:r>
          </a:p>
          <a:p>
            <a:pPr marL="415806" lvl="1" indent="-207903" algn="l">
              <a:lnSpc>
                <a:spcPts val="2696"/>
              </a:lnSpc>
              <a:buFont typeface="Arial"/>
              <a:buChar char="•"/>
            </a:pPr>
            <a:r>
              <a:rPr lang="en-US" sz="1925">
                <a:solidFill>
                  <a:srgbClr val="FCFDFC"/>
                </a:solidFill>
                <a:latin typeface="Roboto"/>
                <a:ea typeface="Roboto"/>
                <a:cs typeface="Roboto"/>
                <a:sym typeface="Roboto"/>
              </a:rPr>
              <a:t>Demand and operational </a:t>
            </a:r>
            <a:r>
              <a:rPr lang="en-US" sz="1925" b="1">
                <a:solidFill>
                  <a:srgbClr val="FCFDFC"/>
                </a:solidFill>
                <a:latin typeface="Roboto Bold"/>
                <a:ea typeface="Roboto Bold"/>
                <a:cs typeface="Roboto Bold"/>
                <a:sym typeface="Roboto Bold"/>
              </a:rPr>
              <a:t>efficiency saturate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1840369" y="1760865"/>
            <a:ext cx="14607261" cy="6601342"/>
          </a:xfrm>
          <a:custGeom>
            <a:avLst/>
            <a:gdLst/>
            <a:ahLst/>
            <a:cxnLst/>
            <a:rect l="l" t="t" r="r" b="b"/>
            <a:pathLst>
              <a:path w="14607261" h="6601342">
                <a:moveTo>
                  <a:pt x="0" y="0"/>
                </a:moveTo>
                <a:lnTo>
                  <a:pt x="14607262" y="0"/>
                </a:lnTo>
                <a:lnTo>
                  <a:pt x="14607262" y="6601341"/>
                </a:lnTo>
                <a:lnTo>
                  <a:pt x="0" y="6601341"/>
                </a:lnTo>
                <a:lnTo>
                  <a:pt x="0" y="0"/>
                </a:lnTo>
                <a:close/>
              </a:path>
            </a:pathLst>
          </a:custGeom>
          <a:blipFill>
            <a:blip r:embed="rId2"/>
            <a:stretch>
              <a:fillRect t="-6015"/>
            </a:stretch>
          </a:blipFill>
        </p:spPr>
        <p:txBody>
          <a:bodyPr/>
          <a:lstStyle/>
          <a:p>
            <a:endParaRPr lang="it-IT"/>
          </a:p>
        </p:txBody>
      </p:sp>
      <p:sp>
        <p:nvSpPr>
          <p:cNvPr id="3" name="TextBox 3"/>
          <p:cNvSpPr txBox="1"/>
          <p:nvPr/>
        </p:nvSpPr>
        <p:spPr>
          <a:xfrm>
            <a:off x="6487066" y="280551"/>
            <a:ext cx="5095334" cy="1206741"/>
          </a:xfrm>
          <a:prstGeom prst="rect">
            <a:avLst/>
          </a:prstGeom>
        </p:spPr>
        <p:txBody>
          <a:bodyPr wrap="square" lIns="0" tIns="0" rIns="0" bIns="0" rtlCol="0" anchor="t">
            <a:spAutoFit/>
          </a:bodyPr>
          <a:lstStyle/>
          <a:p>
            <a:pPr algn="ctr">
              <a:lnSpc>
                <a:spcPts val="9926"/>
              </a:lnSpc>
              <a:spcBef>
                <a:spcPct val="0"/>
              </a:spcBef>
            </a:pPr>
            <a:r>
              <a:rPr lang="en-US" sz="7090" b="1" dirty="0">
                <a:solidFill>
                  <a:srgbClr val="FFFFFF"/>
                </a:solidFill>
                <a:latin typeface="Poppins Bold"/>
                <a:ea typeface="Poppins Bold"/>
                <a:cs typeface="Poppins Bold"/>
                <a:sym typeface="Poppins Bold"/>
              </a:rPr>
              <a:t>PAGERANK</a:t>
            </a:r>
          </a:p>
        </p:txBody>
      </p:sp>
      <p:sp>
        <p:nvSpPr>
          <p:cNvPr id="4" name="TextBox 4"/>
          <p:cNvSpPr txBox="1"/>
          <p:nvPr/>
        </p:nvSpPr>
        <p:spPr>
          <a:xfrm>
            <a:off x="2184121" y="8470047"/>
            <a:ext cx="13919758" cy="1490781"/>
          </a:xfrm>
          <a:prstGeom prst="rect">
            <a:avLst/>
          </a:prstGeom>
        </p:spPr>
        <p:txBody>
          <a:bodyPr lIns="0" tIns="0" rIns="0" bIns="0" rtlCol="0" anchor="t">
            <a:spAutoFit/>
          </a:bodyPr>
          <a:lstStyle/>
          <a:p>
            <a:pPr algn="ctr">
              <a:lnSpc>
                <a:spcPts val="6000"/>
              </a:lnSpc>
            </a:pPr>
            <a:r>
              <a:rPr lang="en-US" sz="4286" b="1">
                <a:solidFill>
                  <a:srgbClr val="FFFCFC"/>
                </a:solidFill>
                <a:latin typeface="Open Sans Bold"/>
                <a:ea typeface="Open Sans Bold"/>
                <a:cs typeface="Open Sans Bold"/>
                <a:sym typeface="Open Sans Bold"/>
              </a:rPr>
              <a:t>The majority of high PageRank airports tend to be clustered in North America, Europe and East Asia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3" name="Freeform 3"/>
          <p:cNvSpPr/>
          <p:nvPr/>
        </p:nvSpPr>
        <p:spPr>
          <a:xfrm>
            <a:off x="16006126" y="178867"/>
            <a:ext cx="1783211" cy="1783211"/>
          </a:xfrm>
          <a:custGeom>
            <a:avLst/>
            <a:gdLst/>
            <a:ahLst/>
            <a:cxnLst/>
            <a:rect l="l" t="t" r="r" b="b"/>
            <a:pathLst>
              <a:path w="1783211" h="1783211">
                <a:moveTo>
                  <a:pt x="0" y="0"/>
                </a:moveTo>
                <a:lnTo>
                  <a:pt x="1783212" y="0"/>
                </a:lnTo>
                <a:lnTo>
                  <a:pt x="1783212" y="1783212"/>
                </a:lnTo>
                <a:lnTo>
                  <a:pt x="0" y="178321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4" name="TextBox 4"/>
          <p:cNvSpPr txBox="1"/>
          <p:nvPr/>
        </p:nvSpPr>
        <p:spPr>
          <a:xfrm>
            <a:off x="6666844" y="280551"/>
            <a:ext cx="5210829" cy="1206741"/>
          </a:xfrm>
          <a:prstGeom prst="rect">
            <a:avLst/>
          </a:prstGeom>
        </p:spPr>
        <p:txBody>
          <a:bodyPr wrap="square" lIns="0" tIns="0" rIns="0" bIns="0" rtlCol="0" anchor="t">
            <a:spAutoFit/>
          </a:bodyPr>
          <a:lstStyle/>
          <a:p>
            <a:pPr algn="ctr">
              <a:lnSpc>
                <a:spcPts val="9926"/>
              </a:lnSpc>
              <a:spcBef>
                <a:spcPct val="0"/>
              </a:spcBef>
            </a:pPr>
            <a:r>
              <a:rPr lang="en-US" sz="7090" b="1" dirty="0">
                <a:solidFill>
                  <a:srgbClr val="FFFFFF"/>
                </a:solidFill>
                <a:latin typeface="Poppins Bold"/>
                <a:ea typeface="Poppins Bold"/>
                <a:cs typeface="Poppins Bold"/>
                <a:sym typeface="Poppins Bold"/>
              </a:rPr>
              <a:t>PAGERANK</a:t>
            </a:r>
          </a:p>
        </p:txBody>
      </p:sp>
      <p:sp>
        <p:nvSpPr>
          <p:cNvPr id="5" name="TextBox 5"/>
          <p:cNvSpPr txBox="1"/>
          <p:nvPr/>
        </p:nvSpPr>
        <p:spPr>
          <a:xfrm>
            <a:off x="13693828" y="1424424"/>
            <a:ext cx="9525" cy="932434"/>
          </a:xfrm>
          <a:prstGeom prst="rect">
            <a:avLst/>
          </a:prstGeom>
        </p:spPr>
        <p:txBody>
          <a:bodyPr lIns="0" tIns="0" rIns="0" bIns="0" rtlCol="0" anchor="t">
            <a:spAutoFit/>
          </a:bodyPr>
          <a:lstStyle/>
          <a:p>
            <a:pPr algn="ctr">
              <a:lnSpc>
                <a:spcPts val="7747"/>
              </a:lnSpc>
            </a:pPr>
            <a:endParaRPr/>
          </a:p>
        </p:txBody>
      </p:sp>
      <p:sp>
        <p:nvSpPr>
          <p:cNvPr id="6" name="TextBox 6"/>
          <p:cNvSpPr txBox="1"/>
          <p:nvPr/>
        </p:nvSpPr>
        <p:spPr>
          <a:xfrm>
            <a:off x="10093469" y="2142532"/>
            <a:ext cx="7219768" cy="4241997"/>
          </a:xfrm>
          <a:prstGeom prst="rect">
            <a:avLst/>
          </a:prstGeom>
        </p:spPr>
        <p:txBody>
          <a:bodyPr lIns="0" tIns="0" rIns="0" bIns="0" rtlCol="0" anchor="t">
            <a:spAutoFit/>
          </a:bodyPr>
          <a:lstStyle/>
          <a:p>
            <a:pPr algn="l">
              <a:lnSpc>
                <a:spcPts val="4815"/>
              </a:lnSpc>
            </a:pPr>
            <a:r>
              <a:rPr lang="en-US" sz="3232">
                <a:solidFill>
                  <a:srgbClr val="FCFDFC"/>
                </a:solidFill>
                <a:latin typeface="Roboto"/>
                <a:ea typeface="Roboto"/>
                <a:cs typeface="Roboto"/>
                <a:sym typeface="Roboto"/>
              </a:rPr>
              <a:t>PageRank can be interpreted as: </a:t>
            </a:r>
          </a:p>
          <a:p>
            <a:pPr algn="l">
              <a:lnSpc>
                <a:spcPts val="4815"/>
              </a:lnSpc>
            </a:pPr>
            <a:r>
              <a:rPr lang="en-US" sz="3232">
                <a:solidFill>
                  <a:srgbClr val="FCFDFC"/>
                </a:solidFill>
                <a:latin typeface="Roboto"/>
                <a:ea typeface="Roboto"/>
                <a:cs typeface="Roboto"/>
                <a:sym typeface="Roboto"/>
              </a:rPr>
              <a:t>“a node is important if it is linked to by important nodes”</a:t>
            </a:r>
          </a:p>
          <a:p>
            <a:pPr algn="l">
              <a:lnSpc>
                <a:spcPts val="4815"/>
              </a:lnSpc>
            </a:pPr>
            <a:r>
              <a:rPr lang="en-US" sz="3232">
                <a:solidFill>
                  <a:srgbClr val="FCFDFC"/>
                </a:solidFill>
                <a:latin typeface="Roboto"/>
                <a:ea typeface="Roboto"/>
                <a:cs typeface="Roboto"/>
                <a:sym typeface="Roboto"/>
              </a:rPr>
              <a:t> </a:t>
            </a:r>
          </a:p>
          <a:p>
            <a:pPr algn="l">
              <a:lnSpc>
                <a:spcPts val="4815"/>
              </a:lnSpc>
            </a:pPr>
            <a:r>
              <a:rPr lang="en-US" sz="3232" b="1">
                <a:solidFill>
                  <a:srgbClr val="FCFDFC"/>
                </a:solidFill>
                <a:latin typeface="Roboto Bold"/>
                <a:ea typeface="Roboto Bold"/>
                <a:cs typeface="Roboto Bold"/>
                <a:sym typeface="Roboto Bold"/>
              </a:rPr>
              <a:t>Reasonable proxy</a:t>
            </a:r>
            <a:r>
              <a:rPr lang="en-US" sz="3232">
                <a:solidFill>
                  <a:srgbClr val="FCFDFC"/>
                </a:solidFill>
                <a:latin typeface="Roboto"/>
                <a:ea typeface="Roboto"/>
                <a:cs typeface="Roboto"/>
                <a:sym typeface="Roboto"/>
              </a:rPr>
              <a:t> for arrival risk and for identifying “waypoints” in global spread</a:t>
            </a:r>
          </a:p>
        </p:txBody>
      </p:sp>
      <p:sp>
        <p:nvSpPr>
          <p:cNvPr id="7" name="TextBox 7"/>
          <p:cNvSpPr txBox="1"/>
          <p:nvPr/>
        </p:nvSpPr>
        <p:spPr>
          <a:xfrm>
            <a:off x="10123349" y="6959763"/>
            <a:ext cx="7219768" cy="2421966"/>
          </a:xfrm>
          <a:prstGeom prst="rect">
            <a:avLst/>
          </a:prstGeom>
        </p:spPr>
        <p:txBody>
          <a:bodyPr lIns="0" tIns="0" rIns="0" bIns="0" rtlCol="0" anchor="t">
            <a:spAutoFit/>
          </a:bodyPr>
          <a:lstStyle/>
          <a:p>
            <a:pPr algn="l">
              <a:lnSpc>
                <a:spcPts val="4815"/>
              </a:lnSpc>
            </a:pPr>
            <a:r>
              <a:rPr lang="en-US" sz="3232">
                <a:solidFill>
                  <a:srgbClr val="FCFDFC"/>
                </a:solidFill>
                <a:latin typeface="Roboto"/>
                <a:ea typeface="Roboto"/>
                <a:cs typeface="Roboto"/>
                <a:sym typeface="Roboto"/>
              </a:rPr>
              <a:t>Is it the best measure to estimate which nodes should be removed?</a:t>
            </a:r>
          </a:p>
          <a:p>
            <a:pPr algn="l">
              <a:lnSpc>
                <a:spcPts val="4815"/>
              </a:lnSpc>
            </a:pPr>
            <a:r>
              <a:rPr lang="en-US" sz="3232" b="1">
                <a:solidFill>
                  <a:srgbClr val="FCFDFC"/>
                </a:solidFill>
                <a:latin typeface="Roboto Bold"/>
                <a:ea typeface="Roboto Bold"/>
                <a:cs typeface="Roboto Bold"/>
                <a:sym typeface="Roboto Bold"/>
              </a:rPr>
              <a:t>It’s a good measure, </a:t>
            </a:r>
            <a:r>
              <a:rPr lang="en-US" sz="3232">
                <a:solidFill>
                  <a:srgbClr val="FCFDFC"/>
                </a:solidFill>
                <a:latin typeface="Roboto"/>
                <a:ea typeface="Roboto"/>
                <a:cs typeface="Roboto"/>
                <a:sym typeface="Roboto"/>
              </a:rPr>
              <a:t>but literature shows we can do better...[4]</a:t>
            </a:r>
          </a:p>
        </p:txBody>
      </p:sp>
      <p:graphicFrame>
        <p:nvGraphicFramePr>
          <p:cNvPr id="8" name="Tabella 7">
            <a:extLst>
              <a:ext uri="{FF2B5EF4-FFF2-40B4-BE49-F238E27FC236}">
                <a16:creationId xmlns:a16="http://schemas.microsoft.com/office/drawing/2014/main" id="{70E96973-3269-0710-95AD-D70067C0F75B}"/>
              </a:ext>
            </a:extLst>
          </p:cNvPr>
          <p:cNvGraphicFramePr>
            <a:graphicFrameLocks noGrp="1"/>
          </p:cNvGraphicFramePr>
          <p:nvPr>
            <p:extLst>
              <p:ext uri="{D42A27DB-BD31-4B8C-83A1-F6EECF244321}">
                <p14:modId xmlns:p14="http://schemas.microsoft.com/office/powerpoint/2010/main" val="4166842513"/>
              </p:ext>
            </p:extLst>
          </p:nvPr>
        </p:nvGraphicFramePr>
        <p:xfrm>
          <a:off x="1295400" y="2142532"/>
          <a:ext cx="6781802" cy="7239204"/>
        </p:xfrm>
        <a:graphic>
          <a:graphicData uri="http://schemas.openxmlformats.org/drawingml/2006/table">
            <a:tbl>
              <a:tblPr>
                <a:tableStyleId>{5C22544A-7EE6-4342-B048-85BDC9FD1C3A}</a:tableStyleId>
              </a:tblPr>
              <a:tblGrid>
                <a:gridCol w="566872">
                  <a:extLst>
                    <a:ext uri="{9D8B030D-6E8A-4147-A177-3AD203B41FA5}">
                      <a16:colId xmlns:a16="http://schemas.microsoft.com/office/drawing/2014/main" val="3919270775"/>
                    </a:ext>
                  </a:extLst>
                </a:gridCol>
                <a:gridCol w="4325846">
                  <a:extLst>
                    <a:ext uri="{9D8B030D-6E8A-4147-A177-3AD203B41FA5}">
                      <a16:colId xmlns:a16="http://schemas.microsoft.com/office/drawing/2014/main" val="3627380553"/>
                    </a:ext>
                  </a:extLst>
                </a:gridCol>
                <a:gridCol w="1889084">
                  <a:extLst>
                    <a:ext uri="{9D8B030D-6E8A-4147-A177-3AD203B41FA5}">
                      <a16:colId xmlns:a16="http://schemas.microsoft.com/office/drawing/2014/main" val="1518288815"/>
                    </a:ext>
                  </a:extLst>
                </a:gridCol>
              </a:tblGrid>
              <a:tr h="329166">
                <a:tc>
                  <a:txBody>
                    <a:bodyPr/>
                    <a:lstStyle/>
                    <a:p>
                      <a:pPr>
                        <a:buNone/>
                      </a:pPr>
                      <a:r>
                        <a:rPr lang="it-IT" sz="1400" dirty="0">
                          <a:effectLst/>
                        </a:rPr>
                        <a:t>Rank</a:t>
                      </a:r>
                      <a:endParaRPr lang="it-IT" sz="1400" b="1" dirty="0">
                        <a:solidFill>
                          <a:srgbClr val="FCFDFC"/>
                        </a:solidFill>
                        <a:effectLst/>
                      </a:endParaRPr>
                    </a:p>
                  </a:txBody>
                  <a:tcPr marL="44244" marR="44244" marT="22122" marB="22122" anchor="ctr"/>
                </a:tc>
                <a:tc>
                  <a:txBody>
                    <a:bodyPr/>
                    <a:lstStyle/>
                    <a:p>
                      <a:pPr>
                        <a:buNone/>
                      </a:pPr>
                      <a:r>
                        <a:rPr lang="it-IT" sz="1400" dirty="0">
                          <a:effectLst/>
                        </a:rPr>
                        <a:t>Airport</a:t>
                      </a:r>
                      <a:endParaRPr lang="it-IT" sz="1400" b="1" dirty="0">
                        <a:solidFill>
                          <a:srgbClr val="FCFDFC"/>
                        </a:solidFill>
                        <a:effectLst/>
                      </a:endParaRPr>
                    </a:p>
                  </a:txBody>
                  <a:tcPr marL="44244" marR="44244" marT="22122" marB="22122" anchor="ctr"/>
                </a:tc>
                <a:tc>
                  <a:txBody>
                    <a:bodyPr/>
                    <a:lstStyle/>
                    <a:p>
                      <a:pPr>
                        <a:buNone/>
                      </a:pPr>
                      <a:r>
                        <a:rPr lang="it-IT" sz="1400">
                          <a:effectLst/>
                        </a:rPr>
                        <a:t>PageRank (10^-3)</a:t>
                      </a:r>
                      <a:endParaRPr lang="it-IT" sz="1400" b="1">
                        <a:solidFill>
                          <a:srgbClr val="FCFDFC"/>
                        </a:solidFill>
                        <a:effectLst/>
                      </a:endParaRPr>
                    </a:p>
                  </a:txBody>
                  <a:tcPr marL="44244" marR="44244" marT="22122" marB="22122" anchor="ctr"/>
                </a:tc>
                <a:extLst>
                  <a:ext uri="{0D108BD9-81ED-4DB2-BD59-A6C34878D82A}">
                    <a16:rowId xmlns:a16="http://schemas.microsoft.com/office/drawing/2014/main" val="3492784264"/>
                  </a:ext>
                </a:extLst>
              </a:tr>
              <a:tr h="503057">
                <a:tc>
                  <a:txBody>
                    <a:bodyPr/>
                    <a:lstStyle/>
                    <a:p>
                      <a:pPr>
                        <a:buNone/>
                      </a:pPr>
                      <a:r>
                        <a:rPr lang="it-IT" sz="1400">
                          <a:effectLst/>
                        </a:rPr>
                        <a:t>1</a:t>
                      </a:r>
                      <a:endParaRPr lang="it-IT" sz="1400" b="1">
                        <a:solidFill>
                          <a:srgbClr val="FCFDFC"/>
                        </a:solidFill>
                        <a:effectLst/>
                      </a:endParaRPr>
                    </a:p>
                  </a:txBody>
                  <a:tcPr marL="44244" marR="44244" marT="22122" marB="22122" anchor="ctr"/>
                </a:tc>
                <a:tc>
                  <a:txBody>
                    <a:bodyPr/>
                    <a:lstStyle/>
                    <a:p>
                      <a:pPr>
                        <a:buNone/>
                      </a:pPr>
                      <a:r>
                        <a:rPr lang="it-IT" sz="1400">
                          <a:effectLst/>
                        </a:rPr>
                        <a:t>Chicago O'Hare International Airport</a:t>
                      </a:r>
                      <a:endParaRPr lang="it-IT" sz="1400">
                        <a:solidFill>
                          <a:srgbClr val="FCFDFC"/>
                        </a:solidFill>
                        <a:effectLst/>
                      </a:endParaRPr>
                    </a:p>
                  </a:txBody>
                  <a:tcPr marL="44244" marR="44244" marT="22122" marB="22122" anchor="ctr"/>
                </a:tc>
                <a:tc>
                  <a:txBody>
                    <a:bodyPr/>
                    <a:lstStyle/>
                    <a:p>
                      <a:pPr>
                        <a:buNone/>
                      </a:pPr>
                      <a:r>
                        <a:rPr lang="it-IT" sz="1400" dirty="0">
                          <a:effectLst/>
                        </a:rPr>
                        <a:t>7.125</a:t>
                      </a:r>
                      <a:endParaRPr lang="it-IT" sz="1400" dirty="0">
                        <a:solidFill>
                          <a:srgbClr val="FCFDFC"/>
                        </a:solidFill>
                        <a:effectLst/>
                      </a:endParaRPr>
                    </a:p>
                  </a:txBody>
                  <a:tcPr marL="44244" marR="44244" marT="22122" marB="22122" anchor="ctr"/>
                </a:tc>
                <a:extLst>
                  <a:ext uri="{0D108BD9-81ED-4DB2-BD59-A6C34878D82A}">
                    <a16:rowId xmlns:a16="http://schemas.microsoft.com/office/drawing/2014/main" val="3514679771"/>
                  </a:ext>
                </a:extLst>
              </a:tr>
              <a:tr h="503057">
                <a:tc>
                  <a:txBody>
                    <a:bodyPr/>
                    <a:lstStyle/>
                    <a:p>
                      <a:pPr>
                        <a:buNone/>
                      </a:pPr>
                      <a:r>
                        <a:rPr lang="it-IT" sz="1400">
                          <a:effectLst/>
                        </a:rPr>
                        <a:t>2</a:t>
                      </a:r>
                      <a:endParaRPr lang="it-IT" sz="1400" b="1">
                        <a:solidFill>
                          <a:srgbClr val="FCFDFC"/>
                        </a:solidFill>
                        <a:effectLst/>
                      </a:endParaRPr>
                    </a:p>
                  </a:txBody>
                  <a:tcPr marL="44244" marR="44244" marT="22122" marB="22122" anchor="ctr"/>
                </a:tc>
                <a:tc>
                  <a:txBody>
                    <a:bodyPr/>
                    <a:lstStyle/>
                    <a:p>
                      <a:pPr>
                        <a:buNone/>
                      </a:pPr>
                      <a:r>
                        <a:rPr lang="it-IT" sz="1400" dirty="0">
                          <a:effectLst/>
                        </a:rPr>
                        <a:t>Hartsfield Jackson Atlanta International Airport</a:t>
                      </a:r>
                      <a:endParaRPr lang="it-IT" sz="1400" dirty="0">
                        <a:solidFill>
                          <a:srgbClr val="FCFDFC"/>
                        </a:solidFill>
                        <a:effectLst/>
                      </a:endParaRPr>
                    </a:p>
                  </a:txBody>
                  <a:tcPr marL="44244" marR="44244" marT="22122" marB="22122" anchor="ctr"/>
                </a:tc>
                <a:tc>
                  <a:txBody>
                    <a:bodyPr/>
                    <a:lstStyle/>
                    <a:p>
                      <a:pPr>
                        <a:buNone/>
                      </a:pPr>
                      <a:r>
                        <a:rPr lang="it-IT" sz="1400">
                          <a:effectLst/>
                        </a:rPr>
                        <a:t>6.912</a:t>
                      </a:r>
                      <a:endParaRPr lang="it-IT" sz="1400">
                        <a:solidFill>
                          <a:srgbClr val="FCFDFC"/>
                        </a:solidFill>
                        <a:effectLst/>
                      </a:endParaRPr>
                    </a:p>
                  </a:txBody>
                  <a:tcPr marL="44244" marR="44244" marT="22122" marB="22122" anchor="ctr"/>
                </a:tc>
                <a:extLst>
                  <a:ext uri="{0D108BD9-81ED-4DB2-BD59-A6C34878D82A}">
                    <a16:rowId xmlns:a16="http://schemas.microsoft.com/office/drawing/2014/main" val="4224739915"/>
                  </a:ext>
                </a:extLst>
              </a:tr>
              <a:tr h="291118">
                <a:tc>
                  <a:txBody>
                    <a:bodyPr/>
                    <a:lstStyle/>
                    <a:p>
                      <a:pPr>
                        <a:buNone/>
                      </a:pPr>
                      <a:r>
                        <a:rPr lang="it-IT" sz="1400">
                          <a:effectLst/>
                        </a:rPr>
                        <a:t>3</a:t>
                      </a:r>
                      <a:endParaRPr lang="it-IT" sz="1400" b="1">
                        <a:solidFill>
                          <a:srgbClr val="FCFDFC"/>
                        </a:solidFill>
                        <a:effectLst/>
                      </a:endParaRPr>
                    </a:p>
                  </a:txBody>
                  <a:tcPr marL="44244" marR="44244" marT="22122" marB="22122" anchor="ctr"/>
                </a:tc>
                <a:tc>
                  <a:txBody>
                    <a:bodyPr/>
                    <a:lstStyle/>
                    <a:p>
                      <a:pPr>
                        <a:buNone/>
                      </a:pPr>
                      <a:r>
                        <a:rPr lang="it-IT" sz="1400">
                          <a:effectLst/>
                        </a:rPr>
                        <a:t>Istanbul Airport</a:t>
                      </a:r>
                      <a:endParaRPr lang="it-IT" sz="1400">
                        <a:solidFill>
                          <a:srgbClr val="FCFDFC"/>
                        </a:solidFill>
                        <a:effectLst/>
                      </a:endParaRPr>
                    </a:p>
                  </a:txBody>
                  <a:tcPr marL="44244" marR="44244" marT="22122" marB="22122" anchor="ctr"/>
                </a:tc>
                <a:tc>
                  <a:txBody>
                    <a:bodyPr/>
                    <a:lstStyle/>
                    <a:p>
                      <a:pPr>
                        <a:buNone/>
                      </a:pPr>
                      <a:r>
                        <a:rPr lang="it-IT" sz="1400">
                          <a:effectLst/>
                        </a:rPr>
                        <a:t>6.323</a:t>
                      </a:r>
                      <a:endParaRPr lang="it-IT" sz="1400">
                        <a:solidFill>
                          <a:srgbClr val="FCFDFC"/>
                        </a:solidFill>
                        <a:effectLst/>
                      </a:endParaRPr>
                    </a:p>
                  </a:txBody>
                  <a:tcPr marL="44244" marR="44244" marT="22122" marB="22122" anchor="ctr"/>
                </a:tc>
                <a:extLst>
                  <a:ext uri="{0D108BD9-81ED-4DB2-BD59-A6C34878D82A}">
                    <a16:rowId xmlns:a16="http://schemas.microsoft.com/office/drawing/2014/main" val="1899331857"/>
                  </a:ext>
                </a:extLst>
              </a:tr>
              <a:tr h="503057">
                <a:tc>
                  <a:txBody>
                    <a:bodyPr/>
                    <a:lstStyle/>
                    <a:p>
                      <a:pPr>
                        <a:buNone/>
                      </a:pPr>
                      <a:r>
                        <a:rPr lang="it-IT" sz="1400">
                          <a:effectLst/>
                        </a:rPr>
                        <a:t>4</a:t>
                      </a:r>
                      <a:endParaRPr lang="it-IT" sz="1400" b="1">
                        <a:solidFill>
                          <a:srgbClr val="FCFDFC"/>
                        </a:solidFill>
                        <a:effectLst/>
                      </a:endParaRPr>
                    </a:p>
                  </a:txBody>
                  <a:tcPr marL="44244" marR="44244" marT="22122" marB="22122" anchor="ctr"/>
                </a:tc>
                <a:tc>
                  <a:txBody>
                    <a:bodyPr/>
                    <a:lstStyle/>
                    <a:p>
                      <a:pPr>
                        <a:buNone/>
                      </a:pPr>
                      <a:r>
                        <a:rPr lang="it-IT" sz="1400">
                          <a:effectLst/>
                        </a:rPr>
                        <a:t>Los Angeles International Airport</a:t>
                      </a:r>
                      <a:endParaRPr lang="it-IT" sz="1400">
                        <a:solidFill>
                          <a:srgbClr val="FCFDFC"/>
                        </a:solidFill>
                        <a:effectLst/>
                      </a:endParaRPr>
                    </a:p>
                  </a:txBody>
                  <a:tcPr marL="44244" marR="44244" marT="22122" marB="22122" anchor="ctr"/>
                </a:tc>
                <a:tc>
                  <a:txBody>
                    <a:bodyPr/>
                    <a:lstStyle/>
                    <a:p>
                      <a:pPr>
                        <a:buNone/>
                      </a:pPr>
                      <a:r>
                        <a:rPr lang="it-IT" sz="1400" dirty="0">
                          <a:effectLst/>
                        </a:rPr>
                        <a:t>5.639</a:t>
                      </a:r>
                      <a:endParaRPr lang="it-IT" sz="1400" dirty="0">
                        <a:solidFill>
                          <a:srgbClr val="FCFDFC"/>
                        </a:solidFill>
                        <a:effectLst/>
                      </a:endParaRPr>
                    </a:p>
                  </a:txBody>
                  <a:tcPr marL="44244" marR="44244" marT="22122" marB="22122" anchor="ctr"/>
                </a:tc>
                <a:extLst>
                  <a:ext uri="{0D108BD9-81ED-4DB2-BD59-A6C34878D82A}">
                    <a16:rowId xmlns:a16="http://schemas.microsoft.com/office/drawing/2014/main" val="4173001271"/>
                  </a:ext>
                </a:extLst>
              </a:tr>
              <a:tr h="503057">
                <a:tc>
                  <a:txBody>
                    <a:bodyPr/>
                    <a:lstStyle/>
                    <a:p>
                      <a:pPr>
                        <a:buNone/>
                      </a:pPr>
                      <a:r>
                        <a:rPr lang="it-IT" sz="1400">
                          <a:effectLst/>
                        </a:rPr>
                        <a:t>5</a:t>
                      </a:r>
                      <a:endParaRPr lang="it-IT" sz="1400" b="1">
                        <a:solidFill>
                          <a:srgbClr val="FCFDFC"/>
                        </a:solidFill>
                        <a:effectLst/>
                      </a:endParaRPr>
                    </a:p>
                  </a:txBody>
                  <a:tcPr marL="44244" marR="44244" marT="22122" marB="22122" anchor="ctr"/>
                </a:tc>
                <a:tc>
                  <a:txBody>
                    <a:bodyPr/>
                    <a:lstStyle/>
                    <a:p>
                      <a:pPr>
                        <a:buNone/>
                      </a:pPr>
                      <a:r>
                        <a:rPr lang="it-IT" sz="1400">
                          <a:effectLst/>
                        </a:rPr>
                        <a:t>Dallas Fort Worth International Airport</a:t>
                      </a:r>
                      <a:endParaRPr lang="it-IT" sz="1400">
                        <a:solidFill>
                          <a:srgbClr val="FCFDFC"/>
                        </a:solidFill>
                        <a:effectLst/>
                      </a:endParaRPr>
                    </a:p>
                  </a:txBody>
                  <a:tcPr marL="44244" marR="44244" marT="22122" marB="22122" anchor="ctr"/>
                </a:tc>
                <a:tc>
                  <a:txBody>
                    <a:bodyPr/>
                    <a:lstStyle/>
                    <a:p>
                      <a:pPr>
                        <a:buNone/>
                      </a:pPr>
                      <a:r>
                        <a:rPr lang="it-IT" sz="1400" dirty="0">
                          <a:effectLst/>
                        </a:rPr>
                        <a:t>5.595</a:t>
                      </a:r>
                      <a:endParaRPr lang="it-IT" sz="1400" dirty="0">
                        <a:solidFill>
                          <a:srgbClr val="FCFDFC"/>
                        </a:solidFill>
                        <a:effectLst/>
                      </a:endParaRPr>
                    </a:p>
                  </a:txBody>
                  <a:tcPr marL="44244" marR="44244" marT="22122" marB="22122" anchor="ctr"/>
                </a:tc>
                <a:extLst>
                  <a:ext uri="{0D108BD9-81ED-4DB2-BD59-A6C34878D82A}">
                    <a16:rowId xmlns:a16="http://schemas.microsoft.com/office/drawing/2014/main" val="2489020527"/>
                  </a:ext>
                </a:extLst>
              </a:tr>
              <a:tr h="503057">
                <a:tc>
                  <a:txBody>
                    <a:bodyPr/>
                    <a:lstStyle/>
                    <a:p>
                      <a:pPr>
                        <a:buNone/>
                      </a:pPr>
                      <a:r>
                        <a:rPr lang="it-IT" sz="1400">
                          <a:effectLst/>
                        </a:rPr>
                        <a:t>6</a:t>
                      </a:r>
                      <a:endParaRPr lang="it-IT" sz="1400" b="1">
                        <a:solidFill>
                          <a:srgbClr val="FCFDFC"/>
                        </a:solidFill>
                        <a:effectLst/>
                      </a:endParaRPr>
                    </a:p>
                  </a:txBody>
                  <a:tcPr marL="44244" marR="44244" marT="22122" marB="22122" anchor="ctr"/>
                </a:tc>
                <a:tc>
                  <a:txBody>
                    <a:bodyPr/>
                    <a:lstStyle/>
                    <a:p>
                      <a:pPr>
                        <a:buNone/>
                      </a:pPr>
                      <a:r>
                        <a:rPr lang="it-IT" sz="1400">
                          <a:effectLst/>
                        </a:rPr>
                        <a:t>Amsterdam Airport Schiphol</a:t>
                      </a:r>
                      <a:endParaRPr lang="it-IT" sz="1400">
                        <a:solidFill>
                          <a:srgbClr val="FCFDFC"/>
                        </a:solidFill>
                        <a:effectLst/>
                      </a:endParaRPr>
                    </a:p>
                  </a:txBody>
                  <a:tcPr marL="44244" marR="44244" marT="22122" marB="22122" anchor="ctr"/>
                </a:tc>
                <a:tc>
                  <a:txBody>
                    <a:bodyPr/>
                    <a:lstStyle/>
                    <a:p>
                      <a:pPr>
                        <a:buNone/>
                      </a:pPr>
                      <a:r>
                        <a:rPr lang="it-IT" sz="1400">
                          <a:effectLst/>
                        </a:rPr>
                        <a:t>5.573</a:t>
                      </a:r>
                      <a:endParaRPr lang="it-IT" sz="1400">
                        <a:solidFill>
                          <a:srgbClr val="FCFDFC"/>
                        </a:solidFill>
                        <a:effectLst/>
                      </a:endParaRPr>
                    </a:p>
                  </a:txBody>
                  <a:tcPr marL="44244" marR="44244" marT="22122" marB="22122" anchor="ctr"/>
                </a:tc>
                <a:extLst>
                  <a:ext uri="{0D108BD9-81ED-4DB2-BD59-A6C34878D82A}">
                    <a16:rowId xmlns:a16="http://schemas.microsoft.com/office/drawing/2014/main" val="4100077997"/>
                  </a:ext>
                </a:extLst>
              </a:tr>
              <a:tr h="503057">
                <a:tc>
                  <a:txBody>
                    <a:bodyPr/>
                    <a:lstStyle/>
                    <a:p>
                      <a:pPr>
                        <a:buNone/>
                      </a:pPr>
                      <a:r>
                        <a:rPr lang="it-IT" sz="1400">
                          <a:effectLst/>
                        </a:rPr>
                        <a:t>7</a:t>
                      </a:r>
                      <a:endParaRPr lang="it-IT" sz="1400" b="1">
                        <a:solidFill>
                          <a:srgbClr val="FCFDFC"/>
                        </a:solidFill>
                        <a:effectLst/>
                      </a:endParaRPr>
                    </a:p>
                  </a:txBody>
                  <a:tcPr marL="44244" marR="44244" marT="22122" marB="22122" anchor="ctr"/>
                </a:tc>
                <a:tc>
                  <a:txBody>
                    <a:bodyPr/>
                    <a:lstStyle/>
                    <a:p>
                      <a:pPr>
                        <a:buNone/>
                      </a:pPr>
                      <a:r>
                        <a:rPr lang="it-IT" sz="1400" dirty="0">
                          <a:effectLst/>
                        </a:rPr>
                        <a:t>Charles de Gaulle International Airport</a:t>
                      </a:r>
                      <a:endParaRPr lang="it-IT" sz="1400" dirty="0">
                        <a:solidFill>
                          <a:srgbClr val="FCFDFC"/>
                        </a:solidFill>
                        <a:effectLst/>
                      </a:endParaRPr>
                    </a:p>
                  </a:txBody>
                  <a:tcPr marL="44244" marR="44244" marT="22122" marB="22122" anchor="ctr"/>
                </a:tc>
                <a:tc>
                  <a:txBody>
                    <a:bodyPr/>
                    <a:lstStyle/>
                    <a:p>
                      <a:pPr>
                        <a:buNone/>
                      </a:pPr>
                      <a:r>
                        <a:rPr lang="it-IT" sz="1400">
                          <a:effectLst/>
                        </a:rPr>
                        <a:t>5.459</a:t>
                      </a:r>
                      <a:endParaRPr lang="it-IT" sz="1400">
                        <a:solidFill>
                          <a:srgbClr val="FCFDFC"/>
                        </a:solidFill>
                        <a:effectLst/>
                      </a:endParaRPr>
                    </a:p>
                  </a:txBody>
                  <a:tcPr marL="44244" marR="44244" marT="22122" marB="22122" anchor="ctr"/>
                </a:tc>
                <a:extLst>
                  <a:ext uri="{0D108BD9-81ED-4DB2-BD59-A6C34878D82A}">
                    <a16:rowId xmlns:a16="http://schemas.microsoft.com/office/drawing/2014/main" val="2104881838"/>
                  </a:ext>
                </a:extLst>
              </a:tr>
              <a:tr h="503057">
                <a:tc>
                  <a:txBody>
                    <a:bodyPr/>
                    <a:lstStyle/>
                    <a:p>
                      <a:pPr>
                        <a:buNone/>
                      </a:pPr>
                      <a:r>
                        <a:rPr lang="it-IT" sz="1400">
                          <a:effectLst/>
                        </a:rPr>
                        <a:t>8</a:t>
                      </a:r>
                      <a:endParaRPr lang="it-IT" sz="1400" b="1">
                        <a:solidFill>
                          <a:srgbClr val="FCFDFC"/>
                        </a:solidFill>
                        <a:effectLst/>
                      </a:endParaRPr>
                    </a:p>
                  </a:txBody>
                  <a:tcPr marL="44244" marR="44244" marT="22122" marB="22122" anchor="ctr"/>
                </a:tc>
                <a:tc>
                  <a:txBody>
                    <a:bodyPr/>
                    <a:lstStyle/>
                    <a:p>
                      <a:pPr>
                        <a:buNone/>
                      </a:pPr>
                      <a:r>
                        <a:rPr lang="it-IT" sz="1400" dirty="0">
                          <a:effectLst/>
                        </a:rPr>
                        <a:t>Denver International Airport</a:t>
                      </a:r>
                      <a:endParaRPr lang="it-IT" sz="1400" dirty="0">
                        <a:solidFill>
                          <a:srgbClr val="FCFDFC"/>
                        </a:solidFill>
                        <a:effectLst/>
                      </a:endParaRPr>
                    </a:p>
                  </a:txBody>
                  <a:tcPr marL="44244" marR="44244" marT="22122" marB="22122" anchor="ctr"/>
                </a:tc>
                <a:tc>
                  <a:txBody>
                    <a:bodyPr/>
                    <a:lstStyle/>
                    <a:p>
                      <a:pPr>
                        <a:buNone/>
                      </a:pPr>
                      <a:r>
                        <a:rPr lang="it-IT" sz="1400">
                          <a:effectLst/>
                        </a:rPr>
                        <a:t>5.427</a:t>
                      </a:r>
                      <a:endParaRPr lang="it-IT" sz="1400">
                        <a:solidFill>
                          <a:srgbClr val="FCFDFC"/>
                        </a:solidFill>
                        <a:effectLst/>
                      </a:endParaRPr>
                    </a:p>
                  </a:txBody>
                  <a:tcPr marL="44244" marR="44244" marT="22122" marB="22122" anchor="ctr"/>
                </a:tc>
                <a:extLst>
                  <a:ext uri="{0D108BD9-81ED-4DB2-BD59-A6C34878D82A}">
                    <a16:rowId xmlns:a16="http://schemas.microsoft.com/office/drawing/2014/main" val="2853341728"/>
                  </a:ext>
                </a:extLst>
              </a:tr>
              <a:tr h="503057">
                <a:tc>
                  <a:txBody>
                    <a:bodyPr/>
                    <a:lstStyle/>
                    <a:p>
                      <a:pPr>
                        <a:buNone/>
                      </a:pPr>
                      <a:r>
                        <a:rPr lang="it-IT" sz="1400">
                          <a:effectLst/>
                        </a:rPr>
                        <a:t>9</a:t>
                      </a:r>
                      <a:endParaRPr lang="it-IT" sz="1400" b="1">
                        <a:solidFill>
                          <a:srgbClr val="FCFDFC"/>
                        </a:solidFill>
                        <a:effectLst/>
                      </a:endParaRPr>
                    </a:p>
                  </a:txBody>
                  <a:tcPr marL="44244" marR="44244" marT="22122" marB="22122" anchor="ctr"/>
                </a:tc>
                <a:tc>
                  <a:txBody>
                    <a:bodyPr/>
                    <a:lstStyle/>
                    <a:p>
                      <a:pPr>
                        <a:buNone/>
                      </a:pPr>
                      <a:r>
                        <a:rPr lang="it-IT" sz="1400">
                          <a:effectLst/>
                        </a:rPr>
                        <a:t>Sydney Kingsford Smith International Airport</a:t>
                      </a:r>
                      <a:endParaRPr lang="it-IT" sz="1400">
                        <a:solidFill>
                          <a:srgbClr val="FCFDFC"/>
                        </a:solidFill>
                        <a:effectLst/>
                      </a:endParaRPr>
                    </a:p>
                  </a:txBody>
                  <a:tcPr marL="44244" marR="44244" marT="22122" marB="22122" anchor="ctr"/>
                </a:tc>
                <a:tc>
                  <a:txBody>
                    <a:bodyPr/>
                    <a:lstStyle/>
                    <a:p>
                      <a:pPr>
                        <a:buNone/>
                      </a:pPr>
                      <a:r>
                        <a:rPr lang="it-IT" sz="1400">
                          <a:effectLst/>
                        </a:rPr>
                        <a:t>5.372</a:t>
                      </a:r>
                      <a:endParaRPr lang="it-IT" sz="1400">
                        <a:solidFill>
                          <a:srgbClr val="FCFDFC"/>
                        </a:solidFill>
                        <a:effectLst/>
                      </a:endParaRPr>
                    </a:p>
                  </a:txBody>
                  <a:tcPr marL="44244" marR="44244" marT="22122" marB="22122" anchor="ctr"/>
                </a:tc>
                <a:extLst>
                  <a:ext uri="{0D108BD9-81ED-4DB2-BD59-A6C34878D82A}">
                    <a16:rowId xmlns:a16="http://schemas.microsoft.com/office/drawing/2014/main" val="2139312959"/>
                  </a:ext>
                </a:extLst>
              </a:tr>
              <a:tr h="291118">
                <a:tc>
                  <a:txBody>
                    <a:bodyPr/>
                    <a:lstStyle/>
                    <a:p>
                      <a:pPr>
                        <a:buNone/>
                      </a:pPr>
                      <a:r>
                        <a:rPr lang="it-IT" sz="1400">
                          <a:effectLst/>
                        </a:rPr>
                        <a:t>10</a:t>
                      </a:r>
                      <a:endParaRPr lang="it-IT" sz="1400" b="1">
                        <a:solidFill>
                          <a:srgbClr val="FCFDFC"/>
                        </a:solidFill>
                        <a:effectLst/>
                      </a:endParaRPr>
                    </a:p>
                  </a:txBody>
                  <a:tcPr marL="44244" marR="44244" marT="22122" marB="22122" anchor="ctr"/>
                </a:tc>
                <a:tc>
                  <a:txBody>
                    <a:bodyPr/>
                    <a:lstStyle/>
                    <a:p>
                      <a:pPr>
                        <a:buNone/>
                      </a:pPr>
                      <a:r>
                        <a:rPr lang="it-IT" sz="1400">
                          <a:effectLst/>
                        </a:rPr>
                        <a:t>London Heathrow Airport</a:t>
                      </a:r>
                      <a:endParaRPr lang="it-IT" sz="1400">
                        <a:solidFill>
                          <a:srgbClr val="FCFDFC"/>
                        </a:solidFill>
                        <a:effectLst/>
                      </a:endParaRPr>
                    </a:p>
                  </a:txBody>
                  <a:tcPr marL="44244" marR="44244" marT="22122" marB="22122" anchor="ctr"/>
                </a:tc>
                <a:tc>
                  <a:txBody>
                    <a:bodyPr/>
                    <a:lstStyle/>
                    <a:p>
                      <a:pPr>
                        <a:buNone/>
                      </a:pPr>
                      <a:r>
                        <a:rPr lang="it-IT" sz="1400">
                          <a:effectLst/>
                        </a:rPr>
                        <a:t>5.339</a:t>
                      </a:r>
                      <a:endParaRPr lang="it-IT" sz="1400">
                        <a:solidFill>
                          <a:srgbClr val="FCFDFC"/>
                        </a:solidFill>
                        <a:effectLst/>
                      </a:endParaRPr>
                    </a:p>
                  </a:txBody>
                  <a:tcPr marL="44244" marR="44244" marT="22122" marB="22122" anchor="ctr"/>
                </a:tc>
                <a:extLst>
                  <a:ext uri="{0D108BD9-81ED-4DB2-BD59-A6C34878D82A}">
                    <a16:rowId xmlns:a16="http://schemas.microsoft.com/office/drawing/2014/main" val="2526681979"/>
                  </a:ext>
                </a:extLst>
              </a:tr>
              <a:tr h="503057">
                <a:tc>
                  <a:txBody>
                    <a:bodyPr/>
                    <a:lstStyle/>
                    <a:p>
                      <a:pPr>
                        <a:buNone/>
                      </a:pPr>
                      <a:r>
                        <a:rPr lang="it-IT" sz="1400">
                          <a:effectLst/>
                        </a:rPr>
                        <a:t>11</a:t>
                      </a:r>
                      <a:endParaRPr lang="it-IT" sz="1400" b="1">
                        <a:solidFill>
                          <a:srgbClr val="FCFDFC"/>
                        </a:solidFill>
                        <a:effectLst/>
                      </a:endParaRPr>
                    </a:p>
                  </a:txBody>
                  <a:tcPr marL="44244" marR="44244" marT="22122" marB="22122" anchor="ctr"/>
                </a:tc>
                <a:tc>
                  <a:txBody>
                    <a:bodyPr/>
                    <a:lstStyle/>
                    <a:p>
                      <a:pPr>
                        <a:buNone/>
                      </a:pPr>
                      <a:r>
                        <a:rPr lang="it-IT" sz="1400">
                          <a:effectLst/>
                        </a:rPr>
                        <a:t>Sheremetyevo International Airport</a:t>
                      </a:r>
                      <a:endParaRPr lang="it-IT" sz="1400">
                        <a:solidFill>
                          <a:srgbClr val="FCFDFC"/>
                        </a:solidFill>
                        <a:effectLst/>
                      </a:endParaRPr>
                    </a:p>
                  </a:txBody>
                  <a:tcPr marL="44244" marR="44244" marT="22122" marB="22122" anchor="ctr"/>
                </a:tc>
                <a:tc>
                  <a:txBody>
                    <a:bodyPr/>
                    <a:lstStyle/>
                    <a:p>
                      <a:pPr>
                        <a:buNone/>
                      </a:pPr>
                      <a:r>
                        <a:rPr lang="it-IT" sz="1400">
                          <a:effectLst/>
                        </a:rPr>
                        <a:t>5.152</a:t>
                      </a:r>
                      <a:endParaRPr lang="it-IT" sz="1400">
                        <a:solidFill>
                          <a:srgbClr val="FCFDFC"/>
                        </a:solidFill>
                        <a:effectLst/>
                      </a:endParaRPr>
                    </a:p>
                  </a:txBody>
                  <a:tcPr marL="44244" marR="44244" marT="22122" marB="22122" anchor="ctr"/>
                </a:tc>
                <a:extLst>
                  <a:ext uri="{0D108BD9-81ED-4DB2-BD59-A6C34878D82A}">
                    <a16:rowId xmlns:a16="http://schemas.microsoft.com/office/drawing/2014/main" val="3644274773"/>
                  </a:ext>
                </a:extLst>
              </a:tr>
              <a:tr h="503057">
                <a:tc>
                  <a:txBody>
                    <a:bodyPr/>
                    <a:lstStyle/>
                    <a:p>
                      <a:pPr>
                        <a:buNone/>
                      </a:pPr>
                      <a:r>
                        <a:rPr lang="it-IT" sz="1400">
                          <a:effectLst/>
                        </a:rPr>
                        <a:t>12</a:t>
                      </a:r>
                      <a:endParaRPr lang="it-IT" sz="1400" b="1">
                        <a:solidFill>
                          <a:srgbClr val="FCFDFC"/>
                        </a:solidFill>
                        <a:effectLst/>
                      </a:endParaRPr>
                    </a:p>
                  </a:txBody>
                  <a:tcPr marL="44244" marR="44244" marT="22122" marB="22122" anchor="ctr"/>
                </a:tc>
                <a:tc>
                  <a:txBody>
                    <a:bodyPr/>
                    <a:lstStyle/>
                    <a:p>
                      <a:pPr>
                        <a:buNone/>
                      </a:pPr>
                      <a:r>
                        <a:rPr lang="it-IT" sz="1400">
                          <a:effectLst/>
                        </a:rPr>
                        <a:t>El Dorado International Airport</a:t>
                      </a:r>
                      <a:endParaRPr lang="it-IT" sz="1400">
                        <a:solidFill>
                          <a:srgbClr val="FCFDFC"/>
                        </a:solidFill>
                        <a:effectLst/>
                      </a:endParaRPr>
                    </a:p>
                  </a:txBody>
                  <a:tcPr marL="44244" marR="44244" marT="22122" marB="22122" anchor="ctr"/>
                </a:tc>
                <a:tc>
                  <a:txBody>
                    <a:bodyPr/>
                    <a:lstStyle/>
                    <a:p>
                      <a:pPr>
                        <a:buNone/>
                      </a:pPr>
                      <a:r>
                        <a:rPr lang="it-IT" sz="1400">
                          <a:effectLst/>
                        </a:rPr>
                        <a:t>5.090</a:t>
                      </a:r>
                      <a:endParaRPr lang="it-IT" sz="1400">
                        <a:solidFill>
                          <a:srgbClr val="FCFDFC"/>
                        </a:solidFill>
                        <a:effectLst/>
                      </a:endParaRPr>
                    </a:p>
                  </a:txBody>
                  <a:tcPr marL="44244" marR="44244" marT="22122" marB="22122" anchor="ctr"/>
                </a:tc>
                <a:extLst>
                  <a:ext uri="{0D108BD9-81ED-4DB2-BD59-A6C34878D82A}">
                    <a16:rowId xmlns:a16="http://schemas.microsoft.com/office/drawing/2014/main" val="733106312"/>
                  </a:ext>
                </a:extLst>
              </a:tr>
              <a:tr h="291118">
                <a:tc>
                  <a:txBody>
                    <a:bodyPr/>
                    <a:lstStyle/>
                    <a:p>
                      <a:pPr>
                        <a:buNone/>
                      </a:pPr>
                      <a:r>
                        <a:rPr lang="it-IT" sz="1400">
                          <a:effectLst/>
                        </a:rPr>
                        <a:t>13</a:t>
                      </a:r>
                      <a:endParaRPr lang="it-IT" sz="1400" b="1">
                        <a:solidFill>
                          <a:srgbClr val="FCFDFC"/>
                        </a:solidFill>
                        <a:effectLst/>
                      </a:endParaRPr>
                    </a:p>
                  </a:txBody>
                  <a:tcPr marL="44244" marR="44244" marT="22122" marB="22122" anchor="ctr"/>
                </a:tc>
                <a:tc>
                  <a:txBody>
                    <a:bodyPr/>
                    <a:lstStyle/>
                    <a:p>
                      <a:pPr>
                        <a:buNone/>
                      </a:pPr>
                      <a:r>
                        <a:rPr lang="it-IT" sz="1400">
                          <a:effectLst/>
                        </a:rPr>
                        <a:t>Frankfurt am Main Airport</a:t>
                      </a:r>
                      <a:endParaRPr lang="it-IT" sz="1400">
                        <a:solidFill>
                          <a:srgbClr val="FCFDFC"/>
                        </a:solidFill>
                        <a:effectLst/>
                      </a:endParaRPr>
                    </a:p>
                  </a:txBody>
                  <a:tcPr marL="44244" marR="44244" marT="22122" marB="22122" anchor="ctr"/>
                </a:tc>
                <a:tc>
                  <a:txBody>
                    <a:bodyPr/>
                    <a:lstStyle/>
                    <a:p>
                      <a:pPr>
                        <a:buNone/>
                      </a:pPr>
                      <a:r>
                        <a:rPr lang="it-IT" sz="1400">
                          <a:effectLst/>
                        </a:rPr>
                        <a:t>4.887</a:t>
                      </a:r>
                      <a:endParaRPr lang="it-IT" sz="1400">
                        <a:solidFill>
                          <a:srgbClr val="FCFDFC"/>
                        </a:solidFill>
                        <a:effectLst/>
                      </a:endParaRPr>
                    </a:p>
                  </a:txBody>
                  <a:tcPr marL="44244" marR="44244" marT="22122" marB="22122" anchor="ctr"/>
                </a:tc>
                <a:extLst>
                  <a:ext uri="{0D108BD9-81ED-4DB2-BD59-A6C34878D82A}">
                    <a16:rowId xmlns:a16="http://schemas.microsoft.com/office/drawing/2014/main" val="119662199"/>
                  </a:ext>
                </a:extLst>
              </a:tr>
              <a:tr h="503057">
                <a:tc>
                  <a:txBody>
                    <a:bodyPr/>
                    <a:lstStyle/>
                    <a:p>
                      <a:pPr>
                        <a:buNone/>
                      </a:pPr>
                      <a:r>
                        <a:rPr lang="it-IT" sz="1400">
                          <a:effectLst/>
                        </a:rPr>
                        <a:t>14</a:t>
                      </a:r>
                      <a:endParaRPr lang="it-IT" sz="1400" b="1">
                        <a:solidFill>
                          <a:srgbClr val="FCFDFC"/>
                        </a:solidFill>
                        <a:effectLst/>
                      </a:endParaRPr>
                    </a:p>
                  </a:txBody>
                  <a:tcPr marL="44244" marR="44244" marT="22122" marB="22122" anchor="ctr"/>
                </a:tc>
                <a:tc>
                  <a:txBody>
                    <a:bodyPr/>
                    <a:lstStyle/>
                    <a:p>
                      <a:pPr>
                        <a:buNone/>
                      </a:pPr>
                      <a:r>
                        <a:rPr lang="it-IT" sz="1400">
                          <a:effectLst/>
                        </a:rPr>
                        <a:t>Indira Gandhi International Airport</a:t>
                      </a:r>
                      <a:endParaRPr lang="it-IT" sz="1400">
                        <a:solidFill>
                          <a:srgbClr val="FCFDFC"/>
                        </a:solidFill>
                        <a:effectLst/>
                      </a:endParaRPr>
                    </a:p>
                  </a:txBody>
                  <a:tcPr marL="44244" marR="44244" marT="22122" marB="22122" anchor="ctr"/>
                </a:tc>
                <a:tc>
                  <a:txBody>
                    <a:bodyPr/>
                    <a:lstStyle/>
                    <a:p>
                      <a:pPr>
                        <a:buNone/>
                      </a:pPr>
                      <a:r>
                        <a:rPr lang="it-IT" sz="1400">
                          <a:effectLst/>
                        </a:rPr>
                        <a:t>4.855</a:t>
                      </a:r>
                      <a:endParaRPr lang="it-IT" sz="1400">
                        <a:solidFill>
                          <a:srgbClr val="FCFDFC"/>
                        </a:solidFill>
                        <a:effectLst/>
                      </a:endParaRPr>
                    </a:p>
                  </a:txBody>
                  <a:tcPr marL="44244" marR="44244" marT="22122" marB="22122" anchor="ctr"/>
                </a:tc>
                <a:extLst>
                  <a:ext uri="{0D108BD9-81ED-4DB2-BD59-A6C34878D82A}">
                    <a16:rowId xmlns:a16="http://schemas.microsoft.com/office/drawing/2014/main" val="2203265745"/>
                  </a:ext>
                </a:extLst>
              </a:tr>
              <a:tr h="503057">
                <a:tc>
                  <a:txBody>
                    <a:bodyPr/>
                    <a:lstStyle/>
                    <a:p>
                      <a:pPr>
                        <a:buNone/>
                      </a:pPr>
                      <a:r>
                        <a:rPr lang="it-IT" sz="1400">
                          <a:effectLst/>
                        </a:rPr>
                        <a:t>15</a:t>
                      </a:r>
                      <a:endParaRPr lang="it-IT" sz="1400" b="1">
                        <a:solidFill>
                          <a:srgbClr val="FCFDFC"/>
                        </a:solidFill>
                        <a:effectLst/>
                      </a:endParaRPr>
                    </a:p>
                  </a:txBody>
                  <a:tcPr marL="44244" marR="44244" marT="22122" marB="22122" anchor="ctr"/>
                </a:tc>
                <a:tc>
                  <a:txBody>
                    <a:bodyPr/>
                    <a:lstStyle/>
                    <a:p>
                      <a:pPr>
                        <a:buNone/>
                      </a:pPr>
                      <a:r>
                        <a:rPr lang="it-IT" sz="1400">
                          <a:effectLst/>
                        </a:rPr>
                        <a:t>Adolfo Suárez Madrid–Barajas Airport</a:t>
                      </a:r>
                      <a:endParaRPr lang="it-IT" sz="1400">
                        <a:solidFill>
                          <a:srgbClr val="FCFDFC"/>
                        </a:solidFill>
                        <a:effectLst/>
                      </a:endParaRPr>
                    </a:p>
                  </a:txBody>
                  <a:tcPr marL="44244" marR="44244" marT="22122" marB="22122" anchor="ctr"/>
                </a:tc>
                <a:tc>
                  <a:txBody>
                    <a:bodyPr/>
                    <a:lstStyle/>
                    <a:p>
                      <a:pPr>
                        <a:buNone/>
                      </a:pPr>
                      <a:r>
                        <a:rPr lang="it-IT" sz="1400" dirty="0">
                          <a:effectLst/>
                        </a:rPr>
                        <a:t>4.767</a:t>
                      </a:r>
                      <a:endParaRPr lang="it-IT" sz="1400" dirty="0">
                        <a:solidFill>
                          <a:srgbClr val="FCFDFC"/>
                        </a:solidFill>
                        <a:effectLst/>
                      </a:endParaRPr>
                    </a:p>
                  </a:txBody>
                  <a:tcPr marL="44244" marR="44244" marT="22122" marB="22122" anchor="ctr"/>
                </a:tc>
                <a:extLst>
                  <a:ext uri="{0D108BD9-81ED-4DB2-BD59-A6C34878D82A}">
                    <a16:rowId xmlns:a16="http://schemas.microsoft.com/office/drawing/2014/main" val="236523798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12417223" y="6588344"/>
            <a:ext cx="4666125" cy="2869667"/>
          </a:xfrm>
          <a:custGeom>
            <a:avLst/>
            <a:gdLst/>
            <a:ahLst/>
            <a:cxnLst/>
            <a:rect l="l" t="t" r="r" b="b"/>
            <a:pathLst>
              <a:path w="4666125" h="2869667">
                <a:moveTo>
                  <a:pt x="0" y="0"/>
                </a:moveTo>
                <a:lnTo>
                  <a:pt x="4666125" y="0"/>
                </a:lnTo>
                <a:lnTo>
                  <a:pt x="4666125" y="2869667"/>
                </a:lnTo>
                <a:lnTo>
                  <a:pt x="0" y="286966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3" name="TextBox 3"/>
          <p:cNvSpPr txBox="1"/>
          <p:nvPr/>
        </p:nvSpPr>
        <p:spPr>
          <a:xfrm>
            <a:off x="1328916" y="280551"/>
            <a:ext cx="15630168" cy="1286748"/>
          </a:xfrm>
          <a:prstGeom prst="rect">
            <a:avLst/>
          </a:prstGeom>
        </p:spPr>
        <p:txBody>
          <a:bodyPr lIns="0" tIns="0" rIns="0" bIns="0" rtlCol="0" anchor="t">
            <a:spAutoFit/>
          </a:bodyPr>
          <a:lstStyle/>
          <a:p>
            <a:pPr algn="ctr">
              <a:lnSpc>
                <a:spcPts val="9926"/>
              </a:lnSpc>
              <a:spcBef>
                <a:spcPct val="0"/>
              </a:spcBef>
            </a:pPr>
            <a:r>
              <a:rPr lang="en-US" sz="7090" b="1">
                <a:solidFill>
                  <a:srgbClr val="FFFFFF"/>
                </a:solidFill>
                <a:latin typeface="Poppins Bold"/>
                <a:ea typeface="Poppins Bold"/>
                <a:cs typeface="Poppins Bold"/>
                <a:sym typeface="Poppins Bold"/>
              </a:rPr>
              <a:t>PAGERANK AND WEIGHTED DEGREE</a:t>
            </a:r>
          </a:p>
        </p:txBody>
      </p:sp>
      <p:sp>
        <p:nvSpPr>
          <p:cNvPr id="4" name="TextBox 4"/>
          <p:cNvSpPr txBox="1"/>
          <p:nvPr/>
        </p:nvSpPr>
        <p:spPr>
          <a:xfrm>
            <a:off x="1328916" y="2030406"/>
            <a:ext cx="15224295" cy="779678"/>
          </a:xfrm>
          <a:prstGeom prst="rect">
            <a:avLst/>
          </a:prstGeom>
        </p:spPr>
        <p:txBody>
          <a:bodyPr lIns="0" tIns="0" rIns="0" bIns="0" rtlCol="0" anchor="t">
            <a:spAutoFit/>
          </a:bodyPr>
          <a:lstStyle/>
          <a:p>
            <a:pPr algn="ctr">
              <a:lnSpc>
                <a:spcPts val="6375"/>
              </a:lnSpc>
            </a:pPr>
            <a:r>
              <a:rPr lang="en-US" sz="4554" b="1">
                <a:solidFill>
                  <a:srgbClr val="FCFDFC"/>
                </a:solidFill>
                <a:latin typeface="Open Sans Bold"/>
                <a:ea typeface="Open Sans Bold"/>
                <a:cs typeface="Open Sans Bold"/>
                <a:sym typeface="Open Sans Bold"/>
              </a:rPr>
              <a:t>Does it make sense to combine these two measures?</a:t>
            </a:r>
          </a:p>
        </p:txBody>
      </p:sp>
      <p:sp>
        <p:nvSpPr>
          <p:cNvPr id="5" name="TextBox 5"/>
          <p:cNvSpPr txBox="1"/>
          <p:nvPr/>
        </p:nvSpPr>
        <p:spPr>
          <a:xfrm>
            <a:off x="1124394" y="3282716"/>
            <a:ext cx="16230600" cy="1189990"/>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FCFDFC"/>
                </a:solidFill>
                <a:latin typeface="Roboto"/>
                <a:ea typeface="Roboto"/>
                <a:cs typeface="Roboto"/>
                <a:sym typeface="Roboto"/>
              </a:rPr>
              <a:t>Weighted degree is a purely local measure. PageRank propagates importance through the whole network.</a:t>
            </a:r>
          </a:p>
        </p:txBody>
      </p:sp>
      <p:sp>
        <p:nvSpPr>
          <p:cNvPr id="6" name="TextBox 6"/>
          <p:cNvSpPr txBox="1"/>
          <p:nvPr/>
        </p:nvSpPr>
        <p:spPr>
          <a:xfrm>
            <a:off x="1124394" y="4813961"/>
            <a:ext cx="15626576" cy="1774383"/>
          </a:xfrm>
          <a:prstGeom prst="rect">
            <a:avLst/>
          </a:prstGeom>
        </p:spPr>
        <p:txBody>
          <a:bodyPr lIns="0" tIns="0" rIns="0" bIns="0" rtlCol="0" anchor="t">
            <a:spAutoFit/>
          </a:bodyPr>
          <a:lstStyle/>
          <a:p>
            <a:pPr marL="727343" lvl="1" indent="-363671" algn="l">
              <a:lnSpc>
                <a:spcPts val="4716"/>
              </a:lnSpc>
              <a:buFont typeface="Arial"/>
              <a:buChar char="•"/>
            </a:pPr>
            <a:r>
              <a:rPr lang="en-US" sz="3368" b="1">
                <a:solidFill>
                  <a:srgbClr val="FCFDFC"/>
                </a:solidFill>
                <a:latin typeface="Roboto Bold"/>
                <a:ea typeface="Roboto Bold"/>
                <a:cs typeface="Roboto Bold"/>
                <a:sym typeface="Roboto Bold"/>
              </a:rPr>
              <a:t>Idea</a:t>
            </a:r>
            <a:r>
              <a:rPr lang="en-US" sz="3368">
                <a:solidFill>
                  <a:srgbClr val="FCFDFC"/>
                </a:solidFill>
                <a:latin typeface="Roboto"/>
                <a:ea typeface="Roboto"/>
                <a:cs typeface="Roboto"/>
                <a:sym typeface="Roboto"/>
              </a:rPr>
              <a:t>: take sᵢ = p̃ᵢ · w̃ᵢ​, the </a:t>
            </a:r>
            <a:r>
              <a:rPr lang="en-US" sz="3368" b="1">
                <a:solidFill>
                  <a:srgbClr val="FCFDFC"/>
                </a:solidFill>
                <a:latin typeface="Roboto Bold"/>
                <a:ea typeface="Roboto Bold"/>
                <a:cs typeface="Roboto Bold"/>
                <a:sym typeface="Roboto Bold"/>
              </a:rPr>
              <a:t>product of min-max normalised weighted PageRank and weighted degree</a:t>
            </a:r>
            <a:r>
              <a:rPr lang="en-US" sz="3368">
                <a:solidFill>
                  <a:srgbClr val="FCFDFC"/>
                </a:solidFill>
                <a:latin typeface="Roboto"/>
                <a:ea typeface="Roboto"/>
                <a:cs typeface="Roboto"/>
                <a:sym typeface="Roboto"/>
              </a:rPr>
              <a:t>. Look at airports that are both high-volume and structurally central</a:t>
            </a:r>
          </a:p>
        </p:txBody>
      </p:sp>
      <p:sp>
        <p:nvSpPr>
          <p:cNvPr id="7" name="TextBox 7"/>
          <p:cNvSpPr txBox="1"/>
          <p:nvPr/>
        </p:nvSpPr>
        <p:spPr>
          <a:xfrm>
            <a:off x="1124394" y="6925128"/>
            <a:ext cx="10831428" cy="1790065"/>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FEFEFE"/>
                </a:solidFill>
                <a:latin typeface="Roboto"/>
                <a:ea typeface="Roboto"/>
                <a:cs typeface="Roboto"/>
                <a:sym typeface="Roboto"/>
              </a:rPr>
              <a:t>Literature shows it’s </a:t>
            </a:r>
            <a:r>
              <a:rPr lang="en-US" sz="3399" b="1">
                <a:solidFill>
                  <a:srgbClr val="FEFEFE"/>
                </a:solidFill>
                <a:latin typeface="Roboto Bold"/>
                <a:ea typeface="Roboto Bold"/>
                <a:cs typeface="Roboto Bold"/>
                <a:sym typeface="Roboto Bold"/>
              </a:rPr>
              <a:t>one of the most powerful combinations</a:t>
            </a:r>
            <a:r>
              <a:rPr lang="en-US" sz="3399">
                <a:solidFill>
                  <a:srgbClr val="FEFEFE"/>
                </a:solidFill>
                <a:latin typeface="Roboto"/>
                <a:ea typeface="Roboto"/>
                <a:cs typeface="Roboto"/>
                <a:sym typeface="Roboto"/>
              </a:rPr>
              <a:t> for predicting the absolute size of the outbreak[4]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1136318" y="1779258"/>
            <a:ext cx="16015365" cy="7947069"/>
          </a:xfrm>
          <a:custGeom>
            <a:avLst/>
            <a:gdLst/>
            <a:ahLst/>
            <a:cxnLst/>
            <a:rect l="l" t="t" r="r" b="b"/>
            <a:pathLst>
              <a:path w="16015365" h="7947069">
                <a:moveTo>
                  <a:pt x="0" y="0"/>
                </a:moveTo>
                <a:lnTo>
                  <a:pt x="16015364" y="0"/>
                </a:lnTo>
                <a:lnTo>
                  <a:pt x="16015364" y="7947069"/>
                </a:lnTo>
                <a:lnTo>
                  <a:pt x="0" y="7947069"/>
                </a:lnTo>
                <a:lnTo>
                  <a:pt x="0" y="0"/>
                </a:lnTo>
                <a:close/>
              </a:path>
            </a:pathLst>
          </a:custGeom>
          <a:blipFill>
            <a:blip r:embed="rId2"/>
            <a:stretch>
              <a:fillRect/>
            </a:stretch>
          </a:blipFill>
        </p:spPr>
        <p:txBody>
          <a:bodyPr/>
          <a:lstStyle/>
          <a:p>
            <a:endParaRPr lang="it-IT"/>
          </a:p>
        </p:txBody>
      </p:sp>
      <p:sp>
        <p:nvSpPr>
          <p:cNvPr id="3" name="TextBox 3"/>
          <p:cNvSpPr txBox="1"/>
          <p:nvPr/>
        </p:nvSpPr>
        <p:spPr>
          <a:xfrm>
            <a:off x="7605206" y="2865461"/>
            <a:ext cx="3325954" cy="1192865"/>
          </a:xfrm>
          <a:prstGeom prst="rect">
            <a:avLst/>
          </a:prstGeom>
        </p:spPr>
        <p:txBody>
          <a:bodyPr lIns="0" tIns="0" rIns="0" bIns="0" rtlCol="0" anchor="t">
            <a:spAutoFit/>
          </a:bodyPr>
          <a:lstStyle/>
          <a:p>
            <a:pPr algn="l">
              <a:lnSpc>
                <a:spcPts val="3154"/>
              </a:lnSpc>
            </a:pPr>
            <a:r>
              <a:rPr lang="en-US" sz="2253" b="1">
                <a:solidFill>
                  <a:srgbClr val="000000"/>
                </a:solidFill>
                <a:latin typeface="Roboto Bold"/>
                <a:ea typeface="Roboto Bold"/>
                <a:cs typeface="Roboto Bold"/>
                <a:sym typeface="Roboto Bold"/>
              </a:rPr>
              <a:t>High degree, high PageRank</a:t>
            </a:r>
            <a:r>
              <a:rPr lang="en-US" sz="2253">
                <a:solidFill>
                  <a:srgbClr val="000000"/>
                </a:solidFill>
                <a:latin typeface="Roboto"/>
                <a:ea typeface="Roboto"/>
                <a:cs typeface="Roboto"/>
                <a:sym typeface="Roboto"/>
              </a:rPr>
              <a:t> nodes are the main global hubs</a:t>
            </a:r>
          </a:p>
        </p:txBody>
      </p:sp>
      <p:sp>
        <p:nvSpPr>
          <p:cNvPr id="4" name="AutoShape 4"/>
          <p:cNvSpPr/>
          <p:nvPr/>
        </p:nvSpPr>
        <p:spPr>
          <a:xfrm flipV="1">
            <a:off x="10931160" y="3229622"/>
            <a:ext cx="2128817" cy="260846"/>
          </a:xfrm>
          <a:prstGeom prst="line">
            <a:avLst/>
          </a:prstGeom>
          <a:ln w="104775" cap="flat">
            <a:solidFill>
              <a:srgbClr val="000000"/>
            </a:solidFill>
            <a:prstDash val="solid"/>
            <a:headEnd type="none" w="sm" len="sm"/>
            <a:tailEnd type="triangle" w="lg" len="med"/>
          </a:ln>
        </p:spPr>
        <p:txBody>
          <a:bodyPr/>
          <a:lstStyle/>
          <a:p>
            <a:endParaRPr lang="it-IT"/>
          </a:p>
        </p:txBody>
      </p:sp>
      <p:sp>
        <p:nvSpPr>
          <p:cNvPr id="5" name="TextBox 5"/>
          <p:cNvSpPr txBox="1"/>
          <p:nvPr/>
        </p:nvSpPr>
        <p:spPr>
          <a:xfrm>
            <a:off x="13059977" y="6669339"/>
            <a:ext cx="3899107" cy="1071554"/>
          </a:xfrm>
          <a:prstGeom prst="rect">
            <a:avLst/>
          </a:prstGeom>
        </p:spPr>
        <p:txBody>
          <a:bodyPr lIns="0" tIns="0" rIns="0" bIns="0" rtlCol="0" anchor="t">
            <a:spAutoFit/>
          </a:bodyPr>
          <a:lstStyle/>
          <a:p>
            <a:pPr algn="ctr">
              <a:lnSpc>
                <a:spcPts val="2887"/>
              </a:lnSpc>
              <a:spcBef>
                <a:spcPct val="0"/>
              </a:spcBef>
            </a:pPr>
            <a:r>
              <a:rPr lang="en-US" sz="2062" b="1">
                <a:solidFill>
                  <a:srgbClr val="000000"/>
                </a:solidFill>
                <a:latin typeface="Roboto Bold"/>
                <a:ea typeface="Roboto Bold"/>
                <a:cs typeface="Roboto Bold"/>
                <a:sym typeface="Roboto Bold"/>
              </a:rPr>
              <a:t>High degree, low PageRank</a:t>
            </a:r>
            <a:r>
              <a:rPr lang="en-US" sz="2062">
                <a:solidFill>
                  <a:srgbClr val="000000"/>
                </a:solidFill>
                <a:latin typeface="Roboto"/>
                <a:ea typeface="Roboto"/>
                <a:cs typeface="Roboto"/>
                <a:sym typeface="Roboto"/>
              </a:rPr>
              <a:t> nodes tend to be in tightly packed communities [4]</a:t>
            </a:r>
          </a:p>
        </p:txBody>
      </p:sp>
      <p:sp>
        <p:nvSpPr>
          <p:cNvPr id="6" name="AutoShape 6"/>
          <p:cNvSpPr/>
          <p:nvPr/>
        </p:nvSpPr>
        <p:spPr>
          <a:xfrm flipH="1">
            <a:off x="12279362" y="7224166"/>
            <a:ext cx="780615" cy="679392"/>
          </a:xfrm>
          <a:prstGeom prst="line">
            <a:avLst/>
          </a:prstGeom>
          <a:ln w="104775" cap="flat">
            <a:solidFill>
              <a:srgbClr val="000000"/>
            </a:solidFill>
            <a:prstDash val="solid"/>
            <a:headEnd type="none" w="sm" len="sm"/>
            <a:tailEnd type="triangle" w="lg" len="med"/>
          </a:ln>
        </p:spPr>
        <p:txBody>
          <a:bodyPr/>
          <a:lstStyle/>
          <a:p>
            <a:endParaRPr lang="it-IT"/>
          </a:p>
        </p:txBody>
      </p:sp>
      <p:sp>
        <p:nvSpPr>
          <p:cNvPr id="7" name="TextBox 7"/>
          <p:cNvSpPr txBox="1"/>
          <p:nvPr/>
        </p:nvSpPr>
        <p:spPr>
          <a:xfrm>
            <a:off x="1328916" y="280551"/>
            <a:ext cx="15630168" cy="1286748"/>
          </a:xfrm>
          <a:prstGeom prst="rect">
            <a:avLst/>
          </a:prstGeom>
        </p:spPr>
        <p:txBody>
          <a:bodyPr lIns="0" tIns="0" rIns="0" bIns="0" rtlCol="0" anchor="t">
            <a:spAutoFit/>
          </a:bodyPr>
          <a:lstStyle/>
          <a:p>
            <a:pPr algn="ctr">
              <a:lnSpc>
                <a:spcPts val="9926"/>
              </a:lnSpc>
              <a:spcBef>
                <a:spcPct val="0"/>
              </a:spcBef>
            </a:pPr>
            <a:r>
              <a:rPr lang="en-US" sz="7090" b="1">
                <a:solidFill>
                  <a:srgbClr val="FFFFFF"/>
                </a:solidFill>
                <a:latin typeface="Poppins Bold"/>
                <a:ea typeface="Poppins Bold"/>
                <a:cs typeface="Poppins Bold"/>
                <a:sym typeface="Poppins Bold"/>
              </a:rPr>
              <a:t>PAGERANK AND WEIGHTED DEGREE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2785827" y="5865584"/>
            <a:ext cx="6143267" cy="4077084"/>
          </a:xfrm>
          <a:custGeom>
            <a:avLst/>
            <a:gdLst/>
            <a:ahLst/>
            <a:cxnLst/>
            <a:rect l="l" t="t" r="r" b="b"/>
            <a:pathLst>
              <a:path w="6143267" h="4077084">
                <a:moveTo>
                  <a:pt x="0" y="0"/>
                </a:moveTo>
                <a:lnTo>
                  <a:pt x="6143267" y="0"/>
                </a:lnTo>
                <a:lnTo>
                  <a:pt x="6143267" y="4077083"/>
                </a:lnTo>
                <a:lnTo>
                  <a:pt x="0" y="4077083"/>
                </a:lnTo>
                <a:lnTo>
                  <a:pt x="0" y="0"/>
                </a:lnTo>
                <a:close/>
              </a:path>
            </a:pathLst>
          </a:custGeom>
          <a:blipFill>
            <a:blip r:embed="rId2"/>
            <a:stretch>
              <a:fillRect/>
            </a:stretch>
          </a:blipFill>
        </p:spPr>
        <p:txBody>
          <a:bodyPr/>
          <a:lstStyle/>
          <a:p>
            <a:endParaRPr lang="it-IT"/>
          </a:p>
        </p:txBody>
      </p:sp>
      <p:sp>
        <p:nvSpPr>
          <p:cNvPr id="3" name="Freeform 3"/>
          <p:cNvSpPr/>
          <p:nvPr/>
        </p:nvSpPr>
        <p:spPr>
          <a:xfrm>
            <a:off x="9358906" y="5865584"/>
            <a:ext cx="6143267" cy="4077084"/>
          </a:xfrm>
          <a:custGeom>
            <a:avLst/>
            <a:gdLst/>
            <a:ahLst/>
            <a:cxnLst/>
            <a:rect l="l" t="t" r="r" b="b"/>
            <a:pathLst>
              <a:path w="6143267" h="4077084">
                <a:moveTo>
                  <a:pt x="0" y="0"/>
                </a:moveTo>
                <a:lnTo>
                  <a:pt x="6143267" y="0"/>
                </a:lnTo>
                <a:lnTo>
                  <a:pt x="6143267" y="4077083"/>
                </a:lnTo>
                <a:lnTo>
                  <a:pt x="0" y="4077083"/>
                </a:lnTo>
                <a:lnTo>
                  <a:pt x="0" y="0"/>
                </a:lnTo>
                <a:close/>
              </a:path>
            </a:pathLst>
          </a:custGeom>
          <a:blipFill>
            <a:blip r:embed="rId3"/>
            <a:stretch>
              <a:fillRect/>
            </a:stretch>
          </a:blipFill>
        </p:spPr>
        <p:txBody>
          <a:bodyPr/>
          <a:lstStyle/>
          <a:p>
            <a:endParaRPr lang="it-IT"/>
          </a:p>
        </p:txBody>
      </p:sp>
      <p:sp>
        <p:nvSpPr>
          <p:cNvPr id="4" name="Freeform 4"/>
          <p:cNvSpPr/>
          <p:nvPr/>
        </p:nvSpPr>
        <p:spPr>
          <a:xfrm>
            <a:off x="2785827" y="1591816"/>
            <a:ext cx="6143267" cy="4077084"/>
          </a:xfrm>
          <a:custGeom>
            <a:avLst/>
            <a:gdLst/>
            <a:ahLst/>
            <a:cxnLst/>
            <a:rect l="l" t="t" r="r" b="b"/>
            <a:pathLst>
              <a:path w="6143267" h="4077084">
                <a:moveTo>
                  <a:pt x="0" y="0"/>
                </a:moveTo>
                <a:lnTo>
                  <a:pt x="6143267" y="0"/>
                </a:lnTo>
                <a:lnTo>
                  <a:pt x="6143267" y="4077083"/>
                </a:lnTo>
                <a:lnTo>
                  <a:pt x="0" y="4077083"/>
                </a:lnTo>
                <a:lnTo>
                  <a:pt x="0" y="0"/>
                </a:lnTo>
                <a:close/>
              </a:path>
            </a:pathLst>
          </a:custGeom>
          <a:blipFill>
            <a:blip r:embed="rId4"/>
            <a:stretch>
              <a:fillRect/>
            </a:stretch>
          </a:blipFill>
        </p:spPr>
        <p:txBody>
          <a:bodyPr/>
          <a:lstStyle/>
          <a:p>
            <a:endParaRPr lang="it-IT"/>
          </a:p>
        </p:txBody>
      </p:sp>
      <p:sp>
        <p:nvSpPr>
          <p:cNvPr id="5" name="Freeform 5"/>
          <p:cNvSpPr/>
          <p:nvPr/>
        </p:nvSpPr>
        <p:spPr>
          <a:xfrm>
            <a:off x="9358906" y="1591816"/>
            <a:ext cx="6143267" cy="4077084"/>
          </a:xfrm>
          <a:custGeom>
            <a:avLst/>
            <a:gdLst/>
            <a:ahLst/>
            <a:cxnLst/>
            <a:rect l="l" t="t" r="r" b="b"/>
            <a:pathLst>
              <a:path w="6143267" h="4077084">
                <a:moveTo>
                  <a:pt x="0" y="0"/>
                </a:moveTo>
                <a:lnTo>
                  <a:pt x="6143267" y="0"/>
                </a:lnTo>
                <a:lnTo>
                  <a:pt x="6143267" y="4077083"/>
                </a:lnTo>
                <a:lnTo>
                  <a:pt x="0" y="4077083"/>
                </a:lnTo>
                <a:lnTo>
                  <a:pt x="0" y="0"/>
                </a:lnTo>
                <a:close/>
              </a:path>
            </a:pathLst>
          </a:custGeom>
          <a:blipFill>
            <a:blip r:embed="rId5"/>
            <a:stretch>
              <a:fillRect/>
            </a:stretch>
          </a:blipFill>
        </p:spPr>
        <p:txBody>
          <a:bodyPr/>
          <a:lstStyle/>
          <a:p>
            <a:endParaRPr lang="it-IT"/>
          </a:p>
        </p:txBody>
      </p:sp>
      <p:sp>
        <p:nvSpPr>
          <p:cNvPr id="6" name="TextBox 6"/>
          <p:cNvSpPr txBox="1"/>
          <p:nvPr/>
        </p:nvSpPr>
        <p:spPr>
          <a:xfrm>
            <a:off x="5584011" y="280485"/>
            <a:ext cx="7119977" cy="1286880"/>
          </a:xfrm>
          <a:prstGeom prst="rect">
            <a:avLst/>
          </a:prstGeom>
        </p:spPr>
        <p:txBody>
          <a:bodyPr lIns="0" tIns="0" rIns="0" bIns="0" rtlCol="0" anchor="t">
            <a:spAutoFit/>
          </a:bodyPr>
          <a:lstStyle/>
          <a:p>
            <a:pPr algn="ctr">
              <a:lnSpc>
                <a:spcPts val="9928"/>
              </a:lnSpc>
              <a:spcBef>
                <a:spcPct val="0"/>
              </a:spcBef>
            </a:pPr>
            <a:r>
              <a:rPr lang="en-US" sz="7091" b="1">
                <a:solidFill>
                  <a:srgbClr val="FFFFFF"/>
                </a:solidFill>
                <a:latin typeface="Poppins Bold"/>
                <a:ea typeface="Poppins Bold"/>
                <a:cs typeface="Poppins Bold"/>
                <a:sym typeface="Poppins Bold"/>
              </a:rPr>
              <a:t>ASSORTATIVITY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10669679" y="1491233"/>
            <a:ext cx="6637468" cy="3541115"/>
          </a:xfrm>
          <a:custGeom>
            <a:avLst/>
            <a:gdLst/>
            <a:ahLst/>
            <a:cxnLst/>
            <a:rect l="l" t="t" r="r" b="b"/>
            <a:pathLst>
              <a:path w="6637468" h="3541115">
                <a:moveTo>
                  <a:pt x="0" y="0"/>
                </a:moveTo>
                <a:lnTo>
                  <a:pt x="6637468" y="0"/>
                </a:lnTo>
                <a:lnTo>
                  <a:pt x="6637468" y="3541116"/>
                </a:lnTo>
                <a:lnTo>
                  <a:pt x="0" y="3541116"/>
                </a:lnTo>
                <a:lnTo>
                  <a:pt x="0" y="0"/>
                </a:lnTo>
                <a:close/>
              </a:path>
            </a:pathLst>
          </a:custGeom>
          <a:blipFill>
            <a:blip r:embed="rId2"/>
            <a:stretch>
              <a:fillRect t="-1809" b="-1809"/>
            </a:stretch>
          </a:blipFill>
        </p:spPr>
        <p:txBody>
          <a:bodyPr/>
          <a:lstStyle/>
          <a:p>
            <a:endParaRPr lang="it-IT"/>
          </a:p>
        </p:txBody>
      </p:sp>
      <p:sp>
        <p:nvSpPr>
          <p:cNvPr id="3" name="Freeform 3"/>
          <p:cNvSpPr/>
          <p:nvPr/>
        </p:nvSpPr>
        <p:spPr>
          <a:xfrm>
            <a:off x="10697555" y="5435568"/>
            <a:ext cx="6637468" cy="4405069"/>
          </a:xfrm>
          <a:custGeom>
            <a:avLst/>
            <a:gdLst/>
            <a:ahLst/>
            <a:cxnLst/>
            <a:rect l="l" t="t" r="r" b="b"/>
            <a:pathLst>
              <a:path w="6637468" h="4405069">
                <a:moveTo>
                  <a:pt x="0" y="0"/>
                </a:moveTo>
                <a:lnTo>
                  <a:pt x="6637468" y="0"/>
                </a:lnTo>
                <a:lnTo>
                  <a:pt x="6637468" y="4405068"/>
                </a:lnTo>
                <a:lnTo>
                  <a:pt x="0" y="4405068"/>
                </a:lnTo>
                <a:lnTo>
                  <a:pt x="0" y="0"/>
                </a:lnTo>
                <a:close/>
              </a:path>
            </a:pathLst>
          </a:custGeom>
          <a:blipFill>
            <a:blip r:embed="rId3"/>
            <a:stretch>
              <a:fillRect/>
            </a:stretch>
          </a:blipFill>
        </p:spPr>
        <p:txBody>
          <a:bodyPr/>
          <a:lstStyle/>
          <a:p>
            <a:endParaRPr lang="it-IT"/>
          </a:p>
        </p:txBody>
      </p:sp>
      <p:sp>
        <p:nvSpPr>
          <p:cNvPr id="4" name="TextBox 4"/>
          <p:cNvSpPr txBox="1"/>
          <p:nvPr/>
        </p:nvSpPr>
        <p:spPr>
          <a:xfrm>
            <a:off x="3009542" y="68495"/>
            <a:ext cx="12520051" cy="1061474"/>
          </a:xfrm>
          <a:prstGeom prst="rect">
            <a:avLst/>
          </a:prstGeom>
        </p:spPr>
        <p:txBody>
          <a:bodyPr lIns="0" tIns="0" rIns="0" bIns="0" rtlCol="0" anchor="t">
            <a:spAutoFit/>
          </a:bodyPr>
          <a:lstStyle/>
          <a:p>
            <a:pPr algn="ctr">
              <a:lnSpc>
                <a:spcPts val="8289"/>
              </a:lnSpc>
              <a:spcBef>
                <a:spcPct val="0"/>
              </a:spcBef>
            </a:pPr>
            <a:r>
              <a:rPr lang="en-US" sz="5921" b="1">
                <a:solidFill>
                  <a:srgbClr val="FFFFFF"/>
                </a:solidFill>
                <a:latin typeface="Poppins Bold"/>
                <a:ea typeface="Poppins Bold"/>
                <a:cs typeface="Poppins Bold"/>
                <a:sym typeface="Poppins Bold"/>
              </a:rPr>
              <a:t>ASSORTATIVITY - A CLOSER LOOK</a:t>
            </a:r>
          </a:p>
        </p:txBody>
      </p:sp>
      <p:sp>
        <p:nvSpPr>
          <p:cNvPr id="5" name="TextBox 5"/>
          <p:cNvSpPr txBox="1"/>
          <p:nvPr/>
        </p:nvSpPr>
        <p:spPr>
          <a:xfrm>
            <a:off x="1028700" y="1613665"/>
            <a:ext cx="8489849" cy="679450"/>
          </a:xfrm>
          <a:prstGeom prst="rect">
            <a:avLst/>
          </a:prstGeom>
        </p:spPr>
        <p:txBody>
          <a:bodyPr lIns="0" tIns="0" rIns="0" bIns="0" rtlCol="0" anchor="t">
            <a:spAutoFit/>
          </a:bodyPr>
          <a:lstStyle/>
          <a:p>
            <a:pPr algn="l">
              <a:lnSpc>
                <a:spcPts val="5599"/>
              </a:lnSpc>
            </a:pPr>
            <a:r>
              <a:rPr lang="en-US" sz="3999" b="1">
                <a:solidFill>
                  <a:srgbClr val="FEFEFE"/>
                </a:solidFill>
                <a:latin typeface="Roboto Bold"/>
                <a:ea typeface="Roboto Bold"/>
                <a:cs typeface="Roboto Bold"/>
                <a:sym typeface="Roboto Bold"/>
              </a:rPr>
              <a:t>What do the nn degree plots tell us?</a:t>
            </a:r>
          </a:p>
        </p:txBody>
      </p:sp>
      <p:sp>
        <p:nvSpPr>
          <p:cNvPr id="6" name="TextBox 6"/>
          <p:cNvSpPr txBox="1"/>
          <p:nvPr/>
        </p:nvSpPr>
        <p:spPr>
          <a:xfrm>
            <a:off x="1028700" y="2466419"/>
            <a:ext cx="7706507" cy="852789"/>
          </a:xfrm>
          <a:prstGeom prst="rect">
            <a:avLst/>
          </a:prstGeom>
        </p:spPr>
        <p:txBody>
          <a:bodyPr lIns="0" tIns="0" rIns="0" bIns="0" rtlCol="0" anchor="t">
            <a:spAutoFit/>
          </a:bodyPr>
          <a:lstStyle/>
          <a:p>
            <a:pPr marL="523696" lvl="1" indent="-261848" algn="l">
              <a:lnSpc>
                <a:spcPts val="3395"/>
              </a:lnSpc>
              <a:buFont typeface="Arial"/>
              <a:buChar char="•"/>
            </a:pPr>
            <a:r>
              <a:rPr lang="en-US" sz="2425">
                <a:solidFill>
                  <a:srgbClr val="FEFEFE"/>
                </a:solidFill>
                <a:latin typeface="Roboto"/>
                <a:ea typeface="Roboto"/>
                <a:cs typeface="Roboto"/>
                <a:sym typeface="Roboto"/>
              </a:rPr>
              <a:t>All fitted exponents are positive, with </a:t>
            </a:r>
            <a:r>
              <a:rPr lang="en-US" sz="2425" b="1">
                <a:solidFill>
                  <a:srgbClr val="FEFEFE"/>
                </a:solidFill>
                <a:latin typeface="Roboto Bold"/>
                <a:ea typeface="Roboto Bold"/>
                <a:cs typeface="Roboto Bold"/>
                <a:sym typeface="Roboto Bold"/>
              </a:rPr>
              <a:t>μ⩾0.165</a:t>
            </a:r>
          </a:p>
          <a:p>
            <a:pPr marL="523696" lvl="1" indent="-261848" algn="l">
              <a:lnSpc>
                <a:spcPts val="3395"/>
              </a:lnSpc>
              <a:buFont typeface="Arial"/>
              <a:buChar char="•"/>
            </a:pPr>
            <a:r>
              <a:rPr lang="en-US" sz="2425">
                <a:solidFill>
                  <a:srgbClr val="FEFEFE"/>
                </a:solidFill>
                <a:latin typeface="Roboto"/>
                <a:ea typeface="Roboto"/>
                <a:cs typeface="Roboto"/>
                <a:sym typeface="Roboto"/>
              </a:rPr>
              <a:t>The network is </a:t>
            </a:r>
            <a:r>
              <a:rPr lang="en-US" sz="2425" b="1">
                <a:solidFill>
                  <a:srgbClr val="FEFEFE"/>
                </a:solidFill>
                <a:latin typeface="Roboto Bold"/>
                <a:ea typeface="Roboto Bold"/>
                <a:cs typeface="Roboto Bold"/>
                <a:sym typeface="Roboto Bold"/>
              </a:rPr>
              <a:t>assortative</a:t>
            </a:r>
            <a:r>
              <a:rPr lang="en-US" sz="2425">
                <a:solidFill>
                  <a:srgbClr val="FEFEFE"/>
                </a:solidFill>
                <a:latin typeface="Roboto"/>
                <a:ea typeface="Roboto"/>
                <a:cs typeface="Roboto"/>
                <a:sym typeface="Roboto"/>
              </a:rPr>
              <a:t> </a:t>
            </a:r>
          </a:p>
        </p:txBody>
      </p:sp>
      <p:sp>
        <p:nvSpPr>
          <p:cNvPr id="7" name="TextBox 7"/>
          <p:cNvSpPr txBox="1"/>
          <p:nvPr/>
        </p:nvSpPr>
        <p:spPr>
          <a:xfrm>
            <a:off x="1028700" y="3471608"/>
            <a:ext cx="8698977" cy="679450"/>
          </a:xfrm>
          <a:prstGeom prst="rect">
            <a:avLst/>
          </a:prstGeom>
        </p:spPr>
        <p:txBody>
          <a:bodyPr lIns="0" tIns="0" rIns="0" bIns="0" rtlCol="0" anchor="t">
            <a:spAutoFit/>
          </a:bodyPr>
          <a:lstStyle/>
          <a:p>
            <a:pPr algn="l">
              <a:lnSpc>
                <a:spcPts val="5599"/>
              </a:lnSpc>
            </a:pPr>
            <a:r>
              <a:rPr lang="en-US" sz="3999" b="1">
                <a:solidFill>
                  <a:srgbClr val="FEFEFE"/>
                </a:solidFill>
                <a:latin typeface="Roboto Bold"/>
                <a:ea typeface="Roboto Bold"/>
                <a:cs typeface="Roboto Bold"/>
                <a:sym typeface="Roboto Bold"/>
              </a:rPr>
              <a:t>But is the whole network assortative?</a:t>
            </a:r>
          </a:p>
        </p:txBody>
      </p:sp>
      <p:sp>
        <p:nvSpPr>
          <p:cNvPr id="8" name="TextBox 8"/>
          <p:cNvSpPr txBox="1"/>
          <p:nvPr/>
        </p:nvSpPr>
        <p:spPr>
          <a:xfrm>
            <a:off x="1028700" y="4323435"/>
            <a:ext cx="9320988" cy="1281414"/>
          </a:xfrm>
          <a:prstGeom prst="rect">
            <a:avLst/>
          </a:prstGeom>
        </p:spPr>
        <p:txBody>
          <a:bodyPr lIns="0" tIns="0" rIns="0" bIns="0" rtlCol="0" anchor="t">
            <a:spAutoFit/>
          </a:bodyPr>
          <a:lstStyle/>
          <a:p>
            <a:pPr marL="523696" lvl="1" indent="-261848" algn="l">
              <a:lnSpc>
                <a:spcPts val="3395"/>
              </a:lnSpc>
              <a:buFont typeface="Arial"/>
              <a:buChar char="•"/>
            </a:pPr>
            <a:r>
              <a:rPr lang="en-US" sz="2425">
                <a:solidFill>
                  <a:srgbClr val="FEFEFE"/>
                </a:solidFill>
                <a:latin typeface="Roboto"/>
                <a:ea typeface="Roboto"/>
                <a:cs typeface="Roboto"/>
                <a:sym typeface="Roboto"/>
              </a:rPr>
              <a:t>Restricting the fit to k≥10 (major hubs) gives μ≈0.04 i.e. essentially flat </a:t>
            </a:r>
          </a:p>
          <a:p>
            <a:pPr marL="523696" lvl="1" indent="-261848" algn="l">
              <a:lnSpc>
                <a:spcPts val="3395"/>
              </a:lnSpc>
              <a:buFont typeface="Arial"/>
              <a:buChar char="•"/>
            </a:pPr>
            <a:r>
              <a:rPr lang="en-US" sz="2425">
                <a:solidFill>
                  <a:srgbClr val="FEFEFE"/>
                </a:solidFill>
                <a:latin typeface="Roboto"/>
                <a:ea typeface="Roboto"/>
                <a:cs typeface="Roboto"/>
                <a:sym typeface="Roboto"/>
              </a:rPr>
              <a:t>The positive slope is driven almost entirely by airports with k&lt;10</a:t>
            </a:r>
          </a:p>
        </p:txBody>
      </p:sp>
      <p:sp>
        <p:nvSpPr>
          <p:cNvPr id="9" name="TextBox 9"/>
          <p:cNvSpPr txBox="1"/>
          <p:nvPr/>
        </p:nvSpPr>
        <p:spPr>
          <a:xfrm>
            <a:off x="10697555" y="5077955"/>
            <a:ext cx="6796360" cy="209249"/>
          </a:xfrm>
          <a:prstGeom prst="rect">
            <a:avLst/>
          </a:prstGeom>
        </p:spPr>
        <p:txBody>
          <a:bodyPr lIns="0" tIns="0" rIns="0" bIns="0" rtlCol="0" anchor="t">
            <a:spAutoFit/>
          </a:bodyPr>
          <a:lstStyle/>
          <a:p>
            <a:pPr algn="l">
              <a:lnSpc>
                <a:spcPts val="1743"/>
              </a:lnSpc>
            </a:pPr>
            <a:r>
              <a:rPr lang="en-US" sz="1245" b="1">
                <a:solidFill>
                  <a:srgbClr val="FCFDFC"/>
                </a:solidFill>
                <a:latin typeface="Open Sans Bold"/>
                <a:ea typeface="Open Sans Bold"/>
                <a:cs typeface="Open Sans Bold"/>
                <a:sym typeface="Open Sans Bold"/>
              </a:rPr>
              <a:t>Lufthansa’s air routes: they connect to other hubs (i.e. LAX) as well as small airports</a:t>
            </a:r>
          </a:p>
        </p:txBody>
      </p:sp>
      <p:sp>
        <p:nvSpPr>
          <p:cNvPr id="10" name="TextBox 10"/>
          <p:cNvSpPr txBox="1"/>
          <p:nvPr/>
        </p:nvSpPr>
        <p:spPr>
          <a:xfrm>
            <a:off x="1028700" y="5757249"/>
            <a:ext cx="8698977" cy="679450"/>
          </a:xfrm>
          <a:prstGeom prst="rect">
            <a:avLst/>
          </a:prstGeom>
        </p:spPr>
        <p:txBody>
          <a:bodyPr lIns="0" tIns="0" rIns="0" bIns="0" rtlCol="0" anchor="t">
            <a:spAutoFit/>
          </a:bodyPr>
          <a:lstStyle/>
          <a:p>
            <a:pPr algn="l">
              <a:lnSpc>
                <a:spcPts val="5599"/>
              </a:lnSpc>
            </a:pPr>
            <a:r>
              <a:rPr lang="en-US" sz="3999" b="1">
                <a:solidFill>
                  <a:srgbClr val="FEFEFE"/>
                </a:solidFill>
                <a:latin typeface="Roboto Bold"/>
                <a:ea typeface="Roboto Bold"/>
                <a:cs typeface="Roboto Bold"/>
                <a:sym typeface="Roboto Bold"/>
              </a:rPr>
              <a:t>Why?</a:t>
            </a:r>
          </a:p>
        </p:txBody>
      </p:sp>
      <p:sp>
        <p:nvSpPr>
          <p:cNvPr id="11" name="TextBox 11"/>
          <p:cNvSpPr txBox="1"/>
          <p:nvPr/>
        </p:nvSpPr>
        <p:spPr>
          <a:xfrm>
            <a:off x="1028700" y="6608149"/>
            <a:ext cx="8914289" cy="2995914"/>
          </a:xfrm>
          <a:prstGeom prst="rect">
            <a:avLst/>
          </a:prstGeom>
        </p:spPr>
        <p:txBody>
          <a:bodyPr lIns="0" tIns="0" rIns="0" bIns="0" rtlCol="0" anchor="t">
            <a:spAutoFit/>
          </a:bodyPr>
          <a:lstStyle/>
          <a:p>
            <a:pPr marL="523696" lvl="1" indent="-261848" algn="l">
              <a:lnSpc>
                <a:spcPts val="3395"/>
              </a:lnSpc>
              <a:buFont typeface="Arial"/>
              <a:buChar char="•"/>
            </a:pPr>
            <a:r>
              <a:rPr lang="en-US" sz="2425">
                <a:solidFill>
                  <a:srgbClr val="FEFEFE"/>
                </a:solidFill>
                <a:latin typeface="Roboto"/>
                <a:ea typeface="Roboto"/>
                <a:cs typeface="Roboto"/>
                <a:sym typeface="Roboto"/>
              </a:rPr>
              <a:t>Small/medium airports connect preferentially to similarly-sized peers → the network behaves like an assortative mesh of highly interconnected regional and domestic communities</a:t>
            </a:r>
          </a:p>
          <a:p>
            <a:pPr marL="523696" lvl="1" indent="-261848" algn="l">
              <a:lnSpc>
                <a:spcPts val="3395"/>
              </a:lnSpc>
              <a:buFont typeface="Arial"/>
              <a:buChar char="•"/>
            </a:pPr>
            <a:r>
              <a:rPr lang="en-US" sz="2425">
                <a:solidFill>
                  <a:srgbClr val="FEFEFE"/>
                </a:solidFill>
                <a:latin typeface="Roboto"/>
                <a:ea typeface="Roboto"/>
                <a:cs typeface="Roboto"/>
                <a:sym typeface="Roboto"/>
              </a:rPr>
              <a:t>Major hubs must connect to airports of highly variable size to fulfill their collecting role → this produces a plateau</a:t>
            </a:r>
          </a:p>
          <a:p>
            <a:pPr marL="523696" lvl="1" indent="-261848" algn="l">
              <a:lnSpc>
                <a:spcPts val="3395"/>
              </a:lnSpc>
              <a:buFont typeface="Arial"/>
              <a:buChar char="•"/>
            </a:pPr>
            <a:r>
              <a:rPr lang="en-US" sz="2425">
                <a:solidFill>
                  <a:srgbClr val="FEFEFE"/>
                </a:solidFill>
                <a:latin typeface="Roboto"/>
                <a:ea typeface="Roboto"/>
                <a:cs typeface="Roboto"/>
                <a:sym typeface="Roboto"/>
              </a:rPr>
              <a:t>Consistent with </a:t>
            </a:r>
            <a:r>
              <a:rPr lang="en-US" sz="2425" i="1">
                <a:solidFill>
                  <a:srgbClr val="FEFEFE"/>
                </a:solidFill>
                <a:latin typeface="Roboto Italics"/>
                <a:ea typeface="Roboto Italics"/>
                <a:cs typeface="Roboto Italics"/>
                <a:sym typeface="Roboto Italics"/>
              </a:rPr>
              <a:t>Barrat et al. (The architecture of complex weighted networks, 2004)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8119094" y="2562695"/>
            <a:ext cx="9697177" cy="7234402"/>
          </a:xfrm>
          <a:custGeom>
            <a:avLst/>
            <a:gdLst/>
            <a:ahLst/>
            <a:cxnLst/>
            <a:rect l="l" t="t" r="r" b="b"/>
            <a:pathLst>
              <a:path w="9697177" h="7234402">
                <a:moveTo>
                  <a:pt x="0" y="0"/>
                </a:moveTo>
                <a:lnTo>
                  <a:pt x="9697176" y="0"/>
                </a:lnTo>
                <a:lnTo>
                  <a:pt x="9697176" y="7234401"/>
                </a:lnTo>
                <a:lnTo>
                  <a:pt x="0" y="7234401"/>
                </a:lnTo>
                <a:lnTo>
                  <a:pt x="0" y="0"/>
                </a:lnTo>
                <a:close/>
              </a:path>
            </a:pathLst>
          </a:custGeom>
          <a:blipFill>
            <a:blip r:embed="rId2"/>
            <a:stretch>
              <a:fillRect/>
            </a:stretch>
          </a:blipFill>
        </p:spPr>
        <p:txBody>
          <a:bodyPr/>
          <a:lstStyle/>
          <a:p>
            <a:endParaRPr lang="it-IT"/>
          </a:p>
        </p:txBody>
      </p:sp>
      <p:sp>
        <p:nvSpPr>
          <p:cNvPr id="3" name="Freeform 3"/>
          <p:cNvSpPr/>
          <p:nvPr/>
        </p:nvSpPr>
        <p:spPr>
          <a:xfrm>
            <a:off x="8119094" y="2562695"/>
            <a:ext cx="9697177" cy="7234402"/>
          </a:xfrm>
          <a:custGeom>
            <a:avLst/>
            <a:gdLst/>
            <a:ahLst/>
            <a:cxnLst/>
            <a:rect l="l" t="t" r="r" b="b"/>
            <a:pathLst>
              <a:path w="9697177" h="7234402">
                <a:moveTo>
                  <a:pt x="0" y="0"/>
                </a:moveTo>
                <a:lnTo>
                  <a:pt x="9697176" y="0"/>
                </a:lnTo>
                <a:lnTo>
                  <a:pt x="9697176" y="7234401"/>
                </a:lnTo>
                <a:lnTo>
                  <a:pt x="0" y="7234401"/>
                </a:lnTo>
                <a:lnTo>
                  <a:pt x="0" y="0"/>
                </a:lnTo>
                <a:close/>
              </a:path>
            </a:pathLst>
          </a:custGeom>
          <a:blipFill>
            <a:blip r:embed="rId2"/>
            <a:stretch>
              <a:fillRect/>
            </a:stretch>
          </a:blipFill>
        </p:spPr>
        <p:txBody>
          <a:bodyPr/>
          <a:lstStyle/>
          <a:p>
            <a:endParaRPr lang="it-IT"/>
          </a:p>
        </p:txBody>
      </p:sp>
      <p:sp>
        <p:nvSpPr>
          <p:cNvPr id="4" name="TextBox 4"/>
          <p:cNvSpPr txBox="1"/>
          <p:nvPr/>
        </p:nvSpPr>
        <p:spPr>
          <a:xfrm>
            <a:off x="1633571" y="68495"/>
            <a:ext cx="15271992" cy="2111424"/>
          </a:xfrm>
          <a:prstGeom prst="rect">
            <a:avLst/>
          </a:prstGeom>
        </p:spPr>
        <p:txBody>
          <a:bodyPr lIns="0" tIns="0" rIns="0" bIns="0" rtlCol="0" anchor="t">
            <a:spAutoFit/>
          </a:bodyPr>
          <a:lstStyle/>
          <a:p>
            <a:pPr algn="ctr">
              <a:lnSpc>
                <a:spcPts val="8289"/>
              </a:lnSpc>
              <a:spcBef>
                <a:spcPct val="0"/>
              </a:spcBef>
            </a:pPr>
            <a:r>
              <a:rPr lang="en-US" sz="5921" b="1">
                <a:solidFill>
                  <a:srgbClr val="FFFFFF"/>
                </a:solidFill>
                <a:latin typeface="Poppins Bold"/>
                <a:ea typeface="Poppins Bold"/>
                <a:cs typeface="Poppins Bold"/>
                <a:sym typeface="Poppins Bold"/>
              </a:rPr>
              <a:t>LET’S BREAK THE NETWORK:  ROBUSTNESS ANALYSIS</a:t>
            </a:r>
          </a:p>
        </p:txBody>
      </p:sp>
      <p:sp>
        <p:nvSpPr>
          <p:cNvPr id="5" name="TextBox 5"/>
          <p:cNvSpPr txBox="1"/>
          <p:nvPr/>
        </p:nvSpPr>
        <p:spPr>
          <a:xfrm>
            <a:off x="1028700" y="3373327"/>
            <a:ext cx="6468610" cy="5546463"/>
          </a:xfrm>
          <a:prstGeom prst="rect">
            <a:avLst/>
          </a:prstGeom>
        </p:spPr>
        <p:txBody>
          <a:bodyPr lIns="0" tIns="0" rIns="0" bIns="0" rtlCol="0" anchor="t">
            <a:spAutoFit/>
          </a:bodyPr>
          <a:lstStyle/>
          <a:p>
            <a:pPr marL="622938" lvl="1" indent="-311469" algn="l">
              <a:lnSpc>
                <a:spcPts val="4039"/>
              </a:lnSpc>
              <a:buFont typeface="Arial"/>
              <a:buChar char="•"/>
            </a:pPr>
            <a:r>
              <a:rPr lang="en-US" sz="2885">
                <a:solidFill>
                  <a:srgbClr val="FEFEFE"/>
                </a:solidFill>
                <a:latin typeface="Roboto"/>
                <a:ea typeface="Roboto"/>
                <a:cs typeface="Roboto"/>
                <a:sym typeface="Roboto"/>
              </a:rPr>
              <a:t>GSCC starts at 0.905, around 370 airports lie outside the giant strongly connected component</a:t>
            </a:r>
          </a:p>
          <a:p>
            <a:pPr marL="622938" lvl="1" indent="-311469" algn="l">
              <a:lnSpc>
                <a:spcPts val="4039"/>
              </a:lnSpc>
              <a:buFont typeface="Arial"/>
              <a:buChar char="•"/>
            </a:pPr>
            <a:r>
              <a:rPr lang="en-US" sz="2885">
                <a:solidFill>
                  <a:srgbClr val="FEFEFE"/>
                </a:solidFill>
                <a:latin typeface="Roboto"/>
                <a:ea typeface="Roboto"/>
                <a:cs typeface="Roboto"/>
                <a:sym typeface="Roboto"/>
              </a:rPr>
              <a:t>Targeted attacks: f ≈ 0.15 collapses the core, except betweenness, which leaves a residual periphery up to f ≈ 0.65</a:t>
            </a:r>
          </a:p>
          <a:p>
            <a:pPr marL="622938" lvl="1" indent="-311469" algn="l">
              <a:lnSpc>
                <a:spcPts val="4039"/>
              </a:lnSpc>
              <a:buFont typeface="Arial"/>
              <a:buChar char="•"/>
            </a:pPr>
            <a:r>
              <a:rPr lang="en-US" sz="2885">
                <a:solidFill>
                  <a:srgbClr val="FEFEFE"/>
                </a:solidFill>
                <a:latin typeface="Roboto"/>
                <a:ea typeface="Roboto"/>
                <a:cs typeface="Roboto"/>
                <a:sym typeface="Roboto"/>
              </a:rPr>
              <a:t>The residual core under betweenness attack is the </a:t>
            </a:r>
            <a:r>
              <a:rPr lang="en-US" sz="2885" b="1">
                <a:solidFill>
                  <a:srgbClr val="FEFEFE"/>
                </a:solidFill>
                <a:latin typeface="Roboto Bold"/>
                <a:ea typeface="Roboto Bold"/>
                <a:cs typeface="Roboto Bold"/>
                <a:sym typeface="Roboto Bold"/>
              </a:rPr>
              <a:t>assortative low-degree mesh </a:t>
            </a:r>
            <a:r>
              <a:rPr lang="en-US" sz="2885">
                <a:solidFill>
                  <a:srgbClr val="FEFEFE"/>
                </a:solidFill>
                <a:latin typeface="Roboto"/>
                <a:ea typeface="Roboto"/>
                <a:cs typeface="Roboto"/>
                <a:sym typeface="Roboto"/>
              </a:rPr>
              <a:t>seen in assortativity analisys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3374100" y="3623421"/>
            <a:ext cx="5261581" cy="4893270"/>
          </a:xfrm>
          <a:custGeom>
            <a:avLst/>
            <a:gdLst/>
            <a:ahLst/>
            <a:cxnLst/>
            <a:rect l="l" t="t" r="r" b="b"/>
            <a:pathLst>
              <a:path w="5261581" h="4893270">
                <a:moveTo>
                  <a:pt x="0" y="0"/>
                </a:moveTo>
                <a:lnTo>
                  <a:pt x="5261581" y="0"/>
                </a:lnTo>
                <a:lnTo>
                  <a:pt x="5261581" y="4893270"/>
                </a:lnTo>
                <a:lnTo>
                  <a:pt x="0" y="48932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3" name="Freeform 3"/>
          <p:cNvSpPr/>
          <p:nvPr/>
        </p:nvSpPr>
        <p:spPr>
          <a:xfrm>
            <a:off x="10325031" y="3558253"/>
            <a:ext cx="4948252" cy="5023606"/>
          </a:xfrm>
          <a:custGeom>
            <a:avLst/>
            <a:gdLst/>
            <a:ahLst/>
            <a:cxnLst/>
            <a:rect l="l" t="t" r="r" b="b"/>
            <a:pathLst>
              <a:path w="4948252" h="5023606">
                <a:moveTo>
                  <a:pt x="0" y="0"/>
                </a:moveTo>
                <a:lnTo>
                  <a:pt x="4948252" y="0"/>
                </a:lnTo>
                <a:lnTo>
                  <a:pt x="4948252" y="5023606"/>
                </a:lnTo>
                <a:lnTo>
                  <a:pt x="0" y="502360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t-IT"/>
          </a:p>
        </p:txBody>
      </p:sp>
      <p:sp>
        <p:nvSpPr>
          <p:cNvPr id="4" name="TextBox 4"/>
          <p:cNvSpPr txBox="1"/>
          <p:nvPr/>
        </p:nvSpPr>
        <p:spPr>
          <a:xfrm>
            <a:off x="2309521" y="1282330"/>
            <a:ext cx="13844879" cy="1474827"/>
          </a:xfrm>
          <a:prstGeom prst="rect">
            <a:avLst/>
          </a:prstGeom>
        </p:spPr>
        <p:txBody>
          <a:bodyPr wrap="square" lIns="0" tIns="0" rIns="0" bIns="0" rtlCol="0" anchor="t">
            <a:spAutoFit/>
          </a:bodyPr>
          <a:lstStyle/>
          <a:p>
            <a:pPr algn="ctr">
              <a:lnSpc>
                <a:spcPts val="12128"/>
              </a:lnSpc>
              <a:spcBef>
                <a:spcPct val="0"/>
              </a:spcBef>
            </a:pPr>
            <a:r>
              <a:rPr lang="en-US" sz="8663" b="1" dirty="0">
                <a:solidFill>
                  <a:srgbClr val="FFFFFF"/>
                </a:solidFill>
                <a:latin typeface="Poppins Bold"/>
                <a:ea typeface="Poppins Bold"/>
                <a:cs typeface="Poppins Bold"/>
                <a:sym typeface="Poppins Bold"/>
              </a:rPr>
              <a:t>COMMUNITY STRUCTURE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848429" y="1567299"/>
            <a:ext cx="16591142" cy="7477275"/>
          </a:xfrm>
          <a:custGeom>
            <a:avLst/>
            <a:gdLst/>
            <a:ahLst/>
            <a:cxnLst/>
            <a:rect l="l" t="t" r="r" b="b"/>
            <a:pathLst>
              <a:path w="16591142" h="7477275">
                <a:moveTo>
                  <a:pt x="0" y="0"/>
                </a:moveTo>
                <a:lnTo>
                  <a:pt x="16591142" y="0"/>
                </a:lnTo>
                <a:lnTo>
                  <a:pt x="16591142" y="7477275"/>
                </a:lnTo>
                <a:lnTo>
                  <a:pt x="0" y="7477275"/>
                </a:lnTo>
                <a:lnTo>
                  <a:pt x="0" y="0"/>
                </a:lnTo>
                <a:close/>
              </a:path>
            </a:pathLst>
          </a:custGeom>
          <a:blipFill>
            <a:blip r:embed="rId2"/>
            <a:stretch>
              <a:fillRect/>
            </a:stretch>
          </a:blipFill>
        </p:spPr>
        <p:txBody>
          <a:bodyPr/>
          <a:lstStyle/>
          <a:p>
            <a:endParaRPr lang="it-IT"/>
          </a:p>
        </p:txBody>
      </p:sp>
      <p:sp>
        <p:nvSpPr>
          <p:cNvPr id="3" name="TextBox 3"/>
          <p:cNvSpPr txBox="1"/>
          <p:nvPr/>
        </p:nvSpPr>
        <p:spPr>
          <a:xfrm>
            <a:off x="1411784" y="280551"/>
            <a:ext cx="15464433" cy="1286748"/>
          </a:xfrm>
          <a:prstGeom prst="rect">
            <a:avLst/>
          </a:prstGeom>
        </p:spPr>
        <p:txBody>
          <a:bodyPr lIns="0" tIns="0" rIns="0" bIns="0" rtlCol="0" anchor="t">
            <a:spAutoFit/>
          </a:bodyPr>
          <a:lstStyle/>
          <a:p>
            <a:pPr algn="ctr">
              <a:lnSpc>
                <a:spcPts val="9926"/>
              </a:lnSpc>
              <a:spcBef>
                <a:spcPct val="0"/>
              </a:spcBef>
            </a:pPr>
            <a:r>
              <a:rPr lang="en-US" sz="7090" b="1">
                <a:solidFill>
                  <a:srgbClr val="FFFFFF"/>
                </a:solidFill>
                <a:latin typeface="Poppins Bold"/>
                <a:ea typeface="Poppins Bold"/>
                <a:cs typeface="Poppins Bold"/>
                <a:sym typeface="Poppins Bold"/>
              </a:rPr>
              <a:t>COMMUNITY DETECTION: LOUVAIN</a:t>
            </a:r>
          </a:p>
        </p:txBody>
      </p:sp>
      <p:sp>
        <p:nvSpPr>
          <p:cNvPr id="4" name="TextBox 4"/>
          <p:cNvSpPr txBox="1"/>
          <p:nvPr/>
        </p:nvSpPr>
        <p:spPr>
          <a:xfrm>
            <a:off x="3276600" y="9172575"/>
            <a:ext cx="11460356" cy="475579"/>
          </a:xfrm>
          <a:prstGeom prst="rect">
            <a:avLst/>
          </a:prstGeom>
        </p:spPr>
        <p:txBody>
          <a:bodyPr wrap="square" lIns="0" tIns="0" rIns="0" bIns="0" rtlCol="0" anchor="t">
            <a:spAutoFit/>
          </a:bodyPr>
          <a:lstStyle/>
          <a:p>
            <a:pPr algn="ctr">
              <a:lnSpc>
                <a:spcPts val="3917"/>
              </a:lnSpc>
              <a:spcBef>
                <a:spcPct val="0"/>
              </a:spcBef>
            </a:pPr>
            <a:r>
              <a:rPr lang="en-US" sz="2798" b="1" dirty="0">
                <a:solidFill>
                  <a:srgbClr val="FFFFFF"/>
                </a:solidFill>
                <a:latin typeface="Poppins Bold"/>
                <a:ea typeface="Poppins Bold"/>
                <a:cs typeface="Poppins Bold"/>
                <a:sym typeface="Poppins Bold"/>
              </a:rPr>
              <a:t>Communities align with geographic and geopolitical regions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1028700" y="1710840"/>
            <a:ext cx="6409329" cy="3909782"/>
          </a:xfrm>
          <a:custGeom>
            <a:avLst/>
            <a:gdLst/>
            <a:ahLst/>
            <a:cxnLst/>
            <a:rect l="l" t="t" r="r" b="b"/>
            <a:pathLst>
              <a:path w="6409329" h="3909782">
                <a:moveTo>
                  <a:pt x="0" y="0"/>
                </a:moveTo>
                <a:lnTo>
                  <a:pt x="6409329" y="0"/>
                </a:lnTo>
                <a:lnTo>
                  <a:pt x="6409329" y="3909782"/>
                </a:lnTo>
                <a:lnTo>
                  <a:pt x="0" y="3909782"/>
                </a:lnTo>
                <a:lnTo>
                  <a:pt x="0" y="0"/>
                </a:lnTo>
                <a:close/>
              </a:path>
            </a:pathLst>
          </a:custGeom>
          <a:blipFill>
            <a:blip r:embed="rId2"/>
            <a:stretch>
              <a:fillRect b="-1936"/>
            </a:stretch>
          </a:blipFill>
        </p:spPr>
        <p:txBody>
          <a:bodyPr/>
          <a:lstStyle/>
          <a:p>
            <a:endParaRPr lang="it-IT"/>
          </a:p>
        </p:txBody>
      </p:sp>
      <p:graphicFrame>
        <p:nvGraphicFramePr>
          <p:cNvPr id="3" name="Table 3"/>
          <p:cNvGraphicFramePr>
            <a:graphicFrameLocks noGrp="1"/>
          </p:cNvGraphicFramePr>
          <p:nvPr/>
        </p:nvGraphicFramePr>
        <p:xfrm>
          <a:off x="10212603" y="5620622"/>
          <a:ext cx="5255395" cy="3905250"/>
        </p:xfrm>
        <a:graphic>
          <a:graphicData uri="http://schemas.openxmlformats.org/drawingml/2006/table">
            <a:tbl>
              <a:tblPr/>
              <a:tblGrid>
                <a:gridCol w="3539850">
                  <a:extLst>
                    <a:ext uri="{9D8B030D-6E8A-4147-A177-3AD203B41FA5}">
                      <a16:colId xmlns:a16="http://schemas.microsoft.com/office/drawing/2014/main" val="20000"/>
                    </a:ext>
                  </a:extLst>
                </a:gridCol>
                <a:gridCol w="1715545">
                  <a:extLst>
                    <a:ext uri="{9D8B030D-6E8A-4147-A177-3AD203B41FA5}">
                      <a16:colId xmlns:a16="http://schemas.microsoft.com/office/drawing/2014/main" val="20001"/>
                    </a:ext>
                  </a:extLst>
                </a:gridCol>
              </a:tblGrid>
              <a:tr h="990741">
                <a:tc>
                  <a:txBody>
                    <a:bodyPr/>
                    <a:lstStyle/>
                    <a:p>
                      <a:pPr algn="ctr">
                        <a:lnSpc>
                          <a:spcPts val="4115"/>
                        </a:lnSpc>
                        <a:defRPr/>
                      </a:pPr>
                      <a:r>
                        <a:rPr lang="en-US" sz="2939" b="1">
                          <a:solidFill>
                            <a:srgbClr val="FCFDFC"/>
                          </a:solidFill>
                          <a:latin typeface="Roboto Bold"/>
                          <a:ea typeface="Roboto Bold"/>
                          <a:cs typeface="Roboto Bold"/>
                          <a:sym typeface="Roboto Bold"/>
                        </a:rPr>
                        <a:t>COMMUNITIES</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4115"/>
                        </a:lnSpc>
                        <a:defRPr/>
                      </a:pPr>
                      <a:r>
                        <a:rPr lang="en-US" sz="2939">
                          <a:solidFill>
                            <a:srgbClr val="FCFDFC"/>
                          </a:solidFill>
                          <a:latin typeface="Roboto"/>
                          <a:ea typeface="Roboto"/>
                          <a:cs typeface="Roboto"/>
                          <a:sym typeface="Roboto"/>
                        </a:rPr>
                        <a:t>30</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0"/>
                  </a:ext>
                </a:extLst>
              </a:tr>
              <a:tr h="971503">
                <a:tc>
                  <a:txBody>
                    <a:bodyPr/>
                    <a:lstStyle/>
                    <a:p>
                      <a:pPr algn="ctr">
                        <a:lnSpc>
                          <a:spcPts val="3919"/>
                        </a:lnSpc>
                        <a:defRPr/>
                      </a:pPr>
                      <a:r>
                        <a:rPr lang="en-US" sz="2799" b="1">
                          <a:solidFill>
                            <a:srgbClr val="FCFDFC"/>
                          </a:solidFill>
                          <a:latin typeface="Roboto Bold"/>
                          <a:ea typeface="Roboto Bold"/>
                          <a:cs typeface="Roboto Bold"/>
                          <a:sym typeface="Roboto Bold"/>
                        </a:rPr>
                        <a:t>MODULARITY</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3919"/>
                        </a:lnSpc>
                        <a:defRPr/>
                      </a:pPr>
                      <a:r>
                        <a:rPr lang="en-US" sz="2799">
                          <a:solidFill>
                            <a:srgbClr val="FCFDFC"/>
                          </a:solidFill>
                          <a:latin typeface="Roboto"/>
                          <a:ea typeface="Roboto"/>
                          <a:cs typeface="Roboto"/>
                          <a:sym typeface="Roboto"/>
                        </a:rPr>
                        <a:t>0.7714</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1"/>
                  </a:ext>
                </a:extLst>
              </a:tr>
              <a:tr h="971503">
                <a:tc>
                  <a:txBody>
                    <a:bodyPr/>
                    <a:lstStyle/>
                    <a:p>
                      <a:pPr algn="ctr">
                        <a:lnSpc>
                          <a:spcPts val="3919"/>
                        </a:lnSpc>
                        <a:defRPr/>
                      </a:pPr>
                      <a:r>
                        <a:rPr lang="en-US" sz="2799" b="1">
                          <a:solidFill>
                            <a:srgbClr val="FCFDFC"/>
                          </a:solidFill>
                          <a:latin typeface="Roboto Bold"/>
                          <a:ea typeface="Roboto Bold"/>
                          <a:cs typeface="Roboto Bold"/>
                          <a:sym typeface="Roboto Bold"/>
                        </a:rPr>
                        <a:t>CODELENGTH</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3919"/>
                        </a:lnSpc>
                        <a:defRPr/>
                      </a:pPr>
                      <a:r>
                        <a:rPr lang="en-US" sz="2799">
                          <a:solidFill>
                            <a:srgbClr val="FCFDFC"/>
                          </a:solidFill>
                          <a:latin typeface="Roboto"/>
                          <a:ea typeface="Roboto"/>
                          <a:cs typeface="Roboto"/>
                          <a:sym typeface="Roboto"/>
                        </a:rPr>
                        <a:t>6.9195</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2"/>
                  </a:ext>
                </a:extLst>
              </a:tr>
              <a:tr h="971503">
                <a:tc>
                  <a:txBody>
                    <a:bodyPr/>
                    <a:lstStyle/>
                    <a:p>
                      <a:pPr algn="ctr">
                        <a:lnSpc>
                          <a:spcPts val="3919"/>
                        </a:lnSpc>
                        <a:defRPr/>
                      </a:pPr>
                      <a:r>
                        <a:rPr lang="en-US" sz="2799" b="1">
                          <a:solidFill>
                            <a:srgbClr val="FCFDFC"/>
                          </a:solidFill>
                          <a:latin typeface="Roboto Bold"/>
                          <a:ea typeface="Roboto Bold"/>
                          <a:cs typeface="Roboto Bold"/>
                          <a:sym typeface="Roboto Bold"/>
                        </a:rPr>
                        <a:t>NMI (stability)</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3919"/>
                        </a:lnSpc>
                        <a:defRPr/>
                      </a:pPr>
                      <a:r>
                        <a:rPr lang="en-US" sz="2799">
                          <a:solidFill>
                            <a:srgbClr val="FCFDFC"/>
                          </a:solidFill>
                          <a:latin typeface="Roboto"/>
                          <a:ea typeface="Roboto"/>
                          <a:cs typeface="Roboto"/>
                          <a:sym typeface="Roboto"/>
                        </a:rPr>
                        <a:t>0.9767</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Freeform 4"/>
          <p:cNvSpPr/>
          <p:nvPr/>
        </p:nvSpPr>
        <p:spPr>
          <a:xfrm>
            <a:off x="1028700" y="5763497"/>
            <a:ext cx="6409329" cy="3985497"/>
          </a:xfrm>
          <a:custGeom>
            <a:avLst/>
            <a:gdLst/>
            <a:ahLst/>
            <a:cxnLst/>
            <a:rect l="l" t="t" r="r" b="b"/>
            <a:pathLst>
              <a:path w="6409329" h="3985497">
                <a:moveTo>
                  <a:pt x="0" y="0"/>
                </a:moveTo>
                <a:lnTo>
                  <a:pt x="6409329" y="0"/>
                </a:lnTo>
                <a:lnTo>
                  <a:pt x="6409329" y="3985496"/>
                </a:lnTo>
                <a:lnTo>
                  <a:pt x="0" y="3985496"/>
                </a:lnTo>
                <a:lnTo>
                  <a:pt x="0" y="0"/>
                </a:lnTo>
                <a:close/>
              </a:path>
            </a:pathLst>
          </a:custGeom>
          <a:blipFill>
            <a:blip r:embed="rId3"/>
            <a:stretch>
              <a:fillRect/>
            </a:stretch>
          </a:blipFill>
        </p:spPr>
        <p:txBody>
          <a:bodyPr/>
          <a:lstStyle/>
          <a:p>
            <a:endParaRPr lang="it-IT"/>
          </a:p>
        </p:txBody>
      </p:sp>
      <p:sp>
        <p:nvSpPr>
          <p:cNvPr id="5" name="Freeform 5"/>
          <p:cNvSpPr/>
          <p:nvPr/>
        </p:nvSpPr>
        <p:spPr>
          <a:xfrm>
            <a:off x="1028700" y="5763497"/>
            <a:ext cx="6409329" cy="3985497"/>
          </a:xfrm>
          <a:custGeom>
            <a:avLst/>
            <a:gdLst/>
            <a:ahLst/>
            <a:cxnLst/>
            <a:rect l="l" t="t" r="r" b="b"/>
            <a:pathLst>
              <a:path w="6409329" h="3985497">
                <a:moveTo>
                  <a:pt x="0" y="0"/>
                </a:moveTo>
                <a:lnTo>
                  <a:pt x="6409329" y="0"/>
                </a:lnTo>
                <a:lnTo>
                  <a:pt x="6409329" y="3985496"/>
                </a:lnTo>
                <a:lnTo>
                  <a:pt x="0" y="3985496"/>
                </a:lnTo>
                <a:lnTo>
                  <a:pt x="0" y="0"/>
                </a:lnTo>
                <a:close/>
              </a:path>
            </a:pathLst>
          </a:custGeom>
          <a:blipFill>
            <a:blip r:embed="rId4"/>
            <a:stretch>
              <a:fillRect/>
            </a:stretch>
          </a:blipFill>
        </p:spPr>
        <p:txBody>
          <a:bodyPr/>
          <a:lstStyle/>
          <a:p>
            <a:endParaRPr lang="it-IT"/>
          </a:p>
        </p:txBody>
      </p:sp>
      <p:sp>
        <p:nvSpPr>
          <p:cNvPr id="6" name="TextBox 6"/>
          <p:cNvSpPr txBox="1"/>
          <p:nvPr/>
        </p:nvSpPr>
        <p:spPr>
          <a:xfrm>
            <a:off x="1411784" y="280551"/>
            <a:ext cx="15657016" cy="1206741"/>
          </a:xfrm>
          <a:prstGeom prst="rect">
            <a:avLst/>
          </a:prstGeom>
        </p:spPr>
        <p:txBody>
          <a:bodyPr wrap="square" lIns="0" tIns="0" rIns="0" bIns="0" rtlCol="0" anchor="t">
            <a:spAutoFit/>
          </a:bodyPr>
          <a:lstStyle/>
          <a:p>
            <a:pPr algn="ctr">
              <a:lnSpc>
                <a:spcPts val="9926"/>
              </a:lnSpc>
              <a:spcBef>
                <a:spcPct val="0"/>
              </a:spcBef>
            </a:pPr>
            <a:r>
              <a:rPr lang="en-US" sz="7090" b="1" dirty="0">
                <a:solidFill>
                  <a:srgbClr val="FFFFFF"/>
                </a:solidFill>
                <a:latin typeface="Poppins Bold"/>
                <a:ea typeface="Poppins Bold"/>
                <a:cs typeface="Poppins Bold"/>
                <a:sym typeface="Poppins Bold"/>
              </a:rPr>
              <a:t>COMMUNITY DETECTION: LOUVAIN</a:t>
            </a:r>
          </a:p>
        </p:txBody>
      </p:sp>
      <p:sp>
        <p:nvSpPr>
          <p:cNvPr id="7" name="TextBox 7"/>
          <p:cNvSpPr txBox="1"/>
          <p:nvPr/>
        </p:nvSpPr>
        <p:spPr>
          <a:xfrm>
            <a:off x="8169896" y="2219899"/>
            <a:ext cx="9340808" cy="2681447"/>
          </a:xfrm>
          <a:prstGeom prst="rect">
            <a:avLst/>
          </a:prstGeom>
        </p:spPr>
        <p:txBody>
          <a:bodyPr lIns="0" tIns="0" rIns="0" bIns="0" rtlCol="0" anchor="t">
            <a:spAutoFit/>
          </a:bodyPr>
          <a:lstStyle/>
          <a:p>
            <a:pPr algn="l">
              <a:lnSpc>
                <a:spcPts val="4271"/>
              </a:lnSpc>
            </a:pPr>
            <a:r>
              <a:rPr lang="en-US" sz="3050">
                <a:solidFill>
                  <a:srgbClr val="FEFEFE"/>
                </a:solidFill>
                <a:latin typeface="Roboto"/>
                <a:ea typeface="Roboto"/>
                <a:cs typeface="Roboto"/>
                <a:sym typeface="Roboto"/>
              </a:rPr>
              <a:t>To select the optimal resolution parameter, </a:t>
            </a:r>
            <a:r>
              <a:rPr lang="en-US" sz="3050" b="1">
                <a:solidFill>
                  <a:srgbClr val="FEFEFE"/>
                </a:solidFill>
                <a:latin typeface="Roboto Bold"/>
                <a:ea typeface="Roboto Bold"/>
                <a:cs typeface="Roboto Bold"/>
                <a:sym typeface="Roboto Bold"/>
              </a:rPr>
              <a:t>consensus clustering</a:t>
            </a:r>
            <a:r>
              <a:rPr lang="en-US" sz="3050">
                <a:solidFill>
                  <a:srgbClr val="FEFEFE"/>
                </a:solidFill>
                <a:latin typeface="Roboto"/>
                <a:ea typeface="Roboto"/>
                <a:cs typeface="Roboto"/>
                <a:sym typeface="Roboto"/>
              </a:rPr>
              <a:t> was employed with 50 iterations.</a:t>
            </a:r>
          </a:p>
          <a:p>
            <a:pPr algn="l">
              <a:lnSpc>
                <a:spcPts val="4271"/>
              </a:lnSpc>
            </a:pPr>
            <a:r>
              <a:rPr lang="en-US" sz="3050">
                <a:solidFill>
                  <a:srgbClr val="FEFEFE"/>
                </a:solidFill>
                <a:latin typeface="Roboto"/>
                <a:ea typeface="Roboto"/>
                <a:cs typeface="Roboto"/>
                <a:sym typeface="Roboto"/>
              </a:rPr>
              <a:t>Observing the modularity score we get its peak value at a resolution value of 1, while also exhibiting a local peak in NMI.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1332071" y="1734763"/>
            <a:ext cx="15525849" cy="8146643"/>
          </a:xfrm>
          <a:custGeom>
            <a:avLst/>
            <a:gdLst/>
            <a:ahLst/>
            <a:cxnLst/>
            <a:rect l="l" t="t" r="r" b="b"/>
            <a:pathLst>
              <a:path w="15525849" h="8146643">
                <a:moveTo>
                  <a:pt x="0" y="0"/>
                </a:moveTo>
                <a:lnTo>
                  <a:pt x="15525849" y="0"/>
                </a:lnTo>
                <a:lnTo>
                  <a:pt x="15525849" y="8146643"/>
                </a:lnTo>
                <a:lnTo>
                  <a:pt x="0" y="8146643"/>
                </a:lnTo>
                <a:lnTo>
                  <a:pt x="0" y="0"/>
                </a:lnTo>
                <a:close/>
              </a:path>
            </a:pathLst>
          </a:custGeom>
          <a:blipFill>
            <a:blip r:embed="rId2"/>
            <a:stretch>
              <a:fillRect/>
            </a:stretch>
          </a:blipFill>
        </p:spPr>
        <p:txBody>
          <a:bodyPr/>
          <a:lstStyle/>
          <a:p>
            <a:endParaRPr lang="it-IT"/>
          </a:p>
        </p:txBody>
      </p:sp>
      <p:sp>
        <p:nvSpPr>
          <p:cNvPr id="3" name="TextBox 3"/>
          <p:cNvSpPr txBox="1"/>
          <p:nvPr/>
        </p:nvSpPr>
        <p:spPr>
          <a:xfrm>
            <a:off x="1332070" y="280551"/>
            <a:ext cx="15812929" cy="1206741"/>
          </a:xfrm>
          <a:prstGeom prst="rect">
            <a:avLst/>
          </a:prstGeom>
        </p:spPr>
        <p:txBody>
          <a:bodyPr wrap="square" lIns="0" tIns="0" rIns="0" bIns="0" rtlCol="0" anchor="t">
            <a:spAutoFit/>
          </a:bodyPr>
          <a:lstStyle/>
          <a:p>
            <a:pPr algn="ctr">
              <a:lnSpc>
                <a:spcPts val="9926"/>
              </a:lnSpc>
              <a:spcBef>
                <a:spcPct val="0"/>
              </a:spcBef>
            </a:pPr>
            <a:r>
              <a:rPr lang="en-US" sz="7090" b="1" dirty="0">
                <a:solidFill>
                  <a:srgbClr val="FFFFFF"/>
                </a:solidFill>
                <a:latin typeface="Poppins Bold"/>
                <a:ea typeface="Poppins Bold"/>
                <a:cs typeface="Poppins Bold"/>
                <a:sym typeface="Poppins Bold"/>
              </a:rPr>
              <a:t>COMMUNITY DETECTION: INFOMAP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12603" y="5620622"/>
          <a:ext cx="5255395" cy="3905250"/>
        </p:xfrm>
        <a:graphic>
          <a:graphicData uri="http://schemas.openxmlformats.org/drawingml/2006/table">
            <a:tbl>
              <a:tblPr/>
              <a:tblGrid>
                <a:gridCol w="3539850">
                  <a:extLst>
                    <a:ext uri="{9D8B030D-6E8A-4147-A177-3AD203B41FA5}">
                      <a16:colId xmlns:a16="http://schemas.microsoft.com/office/drawing/2014/main" val="20000"/>
                    </a:ext>
                  </a:extLst>
                </a:gridCol>
                <a:gridCol w="1715545">
                  <a:extLst>
                    <a:ext uri="{9D8B030D-6E8A-4147-A177-3AD203B41FA5}">
                      <a16:colId xmlns:a16="http://schemas.microsoft.com/office/drawing/2014/main" val="20001"/>
                    </a:ext>
                  </a:extLst>
                </a:gridCol>
              </a:tblGrid>
              <a:tr h="990741">
                <a:tc>
                  <a:txBody>
                    <a:bodyPr/>
                    <a:lstStyle/>
                    <a:p>
                      <a:pPr algn="ctr">
                        <a:lnSpc>
                          <a:spcPts val="4115"/>
                        </a:lnSpc>
                        <a:defRPr/>
                      </a:pPr>
                      <a:r>
                        <a:rPr lang="en-US" sz="2939" b="1">
                          <a:solidFill>
                            <a:srgbClr val="FCFDFC"/>
                          </a:solidFill>
                          <a:latin typeface="Roboto Bold"/>
                          <a:ea typeface="Roboto Bold"/>
                          <a:cs typeface="Roboto Bold"/>
                          <a:sym typeface="Roboto Bold"/>
                        </a:rPr>
                        <a:t>COMMUNITIES</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4115"/>
                        </a:lnSpc>
                        <a:defRPr/>
                      </a:pPr>
                      <a:r>
                        <a:rPr lang="en-US" sz="2939">
                          <a:solidFill>
                            <a:srgbClr val="FCFDFC"/>
                          </a:solidFill>
                          <a:latin typeface="Roboto"/>
                          <a:ea typeface="Roboto"/>
                          <a:cs typeface="Roboto"/>
                          <a:sym typeface="Roboto"/>
                        </a:rPr>
                        <a:t>148</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0"/>
                  </a:ext>
                </a:extLst>
              </a:tr>
              <a:tr h="971503">
                <a:tc>
                  <a:txBody>
                    <a:bodyPr/>
                    <a:lstStyle/>
                    <a:p>
                      <a:pPr algn="ctr">
                        <a:lnSpc>
                          <a:spcPts val="3919"/>
                        </a:lnSpc>
                        <a:defRPr/>
                      </a:pPr>
                      <a:r>
                        <a:rPr lang="en-US" sz="2799" b="1">
                          <a:solidFill>
                            <a:srgbClr val="FCFDFC"/>
                          </a:solidFill>
                          <a:latin typeface="Roboto Bold"/>
                          <a:ea typeface="Roboto Bold"/>
                          <a:cs typeface="Roboto Bold"/>
                          <a:sym typeface="Roboto Bold"/>
                        </a:rPr>
                        <a:t>MODULARITY</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3919"/>
                        </a:lnSpc>
                        <a:defRPr/>
                      </a:pPr>
                      <a:r>
                        <a:rPr lang="en-US" sz="2799">
                          <a:solidFill>
                            <a:srgbClr val="FCFDFC"/>
                          </a:solidFill>
                          <a:latin typeface="Roboto"/>
                          <a:ea typeface="Roboto"/>
                          <a:cs typeface="Roboto"/>
                          <a:sym typeface="Roboto"/>
                        </a:rPr>
                        <a:t>0.7312</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1"/>
                  </a:ext>
                </a:extLst>
              </a:tr>
              <a:tr h="971503">
                <a:tc>
                  <a:txBody>
                    <a:bodyPr/>
                    <a:lstStyle/>
                    <a:p>
                      <a:pPr algn="ctr">
                        <a:lnSpc>
                          <a:spcPts val="3919"/>
                        </a:lnSpc>
                        <a:defRPr/>
                      </a:pPr>
                      <a:r>
                        <a:rPr lang="en-US" sz="2799" b="1">
                          <a:solidFill>
                            <a:srgbClr val="FCFDFC"/>
                          </a:solidFill>
                          <a:latin typeface="Roboto Bold"/>
                          <a:ea typeface="Roboto Bold"/>
                          <a:cs typeface="Roboto Bold"/>
                          <a:sym typeface="Roboto Bold"/>
                        </a:rPr>
                        <a:t>CODELENGTH</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3919"/>
                        </a:lnSpc>
                        <a:defRPr/>
                      </a:pPr>
                      <a:r>
                        <a:rPr lang="en-US" sz="2799">
                          <a:solidFill>
                            <a:srgbClr val="FCFDFC"/>
                          </a:solidFill>
                          <a:latin typeface="Roboto"/>
                          <a:ea typeface="Roboto"/>
                          <a:cs typeface="Roboto"/>
                          <a:sym typeface="Roboto"/>
                        </a:rPr>
                        <a:t>6.5250</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2"/>
                  </a:ext>
                </a:extLst>
              </a:tr>
              <a:tr h="971503">
                <a:tc>
                  <a:txBody>
                    <a:bodyPr/>
                    <a:lstStyle/>
                    <a:p>
                      <a:pPr algn="ctr">
                        <a:lnSpc>
                          <a:spcPts val="3919"/>
                        </a:lnSpc>
                        <a:defRPr/>
                      </a:pPr>
                      <a:r>
                        <a:rPr lang="en-US" sz="2799" b="1">
                          <a:solidFill>
                            <a:srgbClr val="FCFDFC"/>
                          </a:solidFill>
                          <a:latin typeface="Roboto Bold"/>
                          <a:ea typeface="Roboto Bold"/>
                          <a:cs typeface="Roboto Bold"/>
                          <a:sym typeface="Roboto Bold"/>
                        </a:rPr>
                        <a:t>NMI (stability)</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3919"/>
                        </a:lnSpc>
                        <a:defRPr/>
                      </a:pPr>
                      <a:r>
                        <a:rPr lang="en-US" sz="2799">
                          <a:solidFill>
                            <a:srgbClr val="FCFDFC"/>
                          </a:solidFill>
                          <a:latin typeface="Roboto"/>
                          <a:ea typeface="Roboto"/>
                          <a:cs typeface="Roboto"/>
                          <a:sym typeface="Roboto"/>
                        </a:rPr>
                        <a:t>0.9859</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Freeform 3"/>
          <p:cNvSpPr/>
          <p:nvPr/>
        </p:nvSpPr>
        <p:spPr>
          <a:xfrm>
            <a:off x="3411244" y="5563472"/>
            <a:ext cx="3962400" cy="3962400"/>
          </a:xfrm>
          <a:custGeom>
            <a:avLst/>
            <a:gdLst/>
            <a:ahLst/>
            <a:cxnLst/>
            <a:rect l="l" t="t" r="r" b="b"/>
            <a:pathLst>
              <a:path w="3962400" h="3962400">
                <a:moveTo>
                  <a:pt x="0" y="0"/>
                </a:moveTo>
                <a:lnTo>
                  <a:pt x="3962400" y="0"/>
                </a:lnTo>
                <a:lnTo>
                  <a:pt x="3962400" y="3962400"/>
                </a:lnTo>
                <a:lnTo>
                  <a:pt x="0" y="39624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4" name="TextBox 4"/>
          <p:cNvSpPr txBox="1"/>
          <p:nvPr/>
        </p:nvSpPr>
        <p:spPr>
          <a:xfrm>
            <a:off x="1332070" y="280551"/>
            <a:ext cx="15927229" cy="1206741"/>
          </a:xfrm>
          <a:prstGeom prst="rect">
            <a:avLst/>
          </a:prstGeom>
        </p:spPr>
        <p:txBody>
          <a:bodyPr wrap="square" lIns="0" tIns="0" rIns="0" bIns="0" rtlCol="0" anchor="t">
            <a:spAutoFit/>
          </a:bodyPr>
          <a:lstStyle/>
          <a:p>
            <a:pPr algn="ctr">
              <a:lnSpc>
                <a:spcPts val="9926"/>
              </a:lnSpc>
              <a:spcBef>
                <a:spcPct val="0"/>
              </a:spcBef>
            </a:pPr>
            <a:r>
              <a:rPr lang="en-US" sz="7090" b="1" dirty="0">
                <a:solidFill>
                  <a:srgbClr val="FFFFFF"/>
                </a:solidFill>
                <a:latin typeface="Poppins Bold"/>
                <a:ea typeface="Poppins Bold"/>
                <a:cs typeface="Poppins Bold"/>
                <a:sym typeface="Poppins Bold"/>
              </a:rPr>
              <a:t>COMMUNITY DETECTION: INFOMAP</a:t>
            </a:r>
          </a:p>
        </p:txBody>
      </p:sp>
      <p:sp>
        <p:nvSpPr>
          <p:cNvPr id="5" name="TextBox 5"/>
          <p:cNvSpPr txBox="1"/>
          <p:nvPr/>
        </p:nvSpPr>
        <p:spPr>
          <a:xfrm>
            <a:off x="1028700" y="2030332"/>
            <a:ext cx="15927229" cy="2390140"/>
          </a:xfrm>
          <a:prstGeom prst="rect">
            <a:avLst/>
          </a:prstGeom>
        </p:spPr>
        <p:txBody>
          <a:bodyPr lIns="0" tIns="0" rIns="0" bIns="0" rtlCol="0" anchor="t">
            <a:spAutoFit/>
          </a:bodyPr>
          <a:lstStyle/>
          <a:p>
            <a:pPr algn="l">
              <a:lnSpc>
                <a:spcPts val="4759"/>
              </a:lnSpc>
            </a:pPr>
            <a:r>
              <a:rPr lang="en-US" sz="3399">
                <a:solidFill>
                  <a:srgbClr val="FEFEFE"/>
                </a:solidFill>
                <a:latin typeface="Roboto"/>
                <a:ea typeface="Roboto"/>
                <a:cs typeface="Roboto"/>
                <a:sym typeface="Roboto"/>
              </a:rPr>
              <a:t>Minimises the map equation: cost of describing a random walk with a two-level code.</a:t>
            </a:r>
          </a:p>
          <a:p>
            <a:pPr algn="l">
              <a:lnSpc>
                <a:spcPts val="4759"/>
              </a:lnSpc>
            </a:pPr>
            <a:r>
              <a:rPr lang="en-US" sz="3399">
                <a:solidFill>
                  <a:srgbClr val="FEFEFE"/>
                </a:solidFill>
                <a:latin typeface="Roboto"/>
                <a:ea typeface="Roboto"/>
                <a:cs typeface="Roboto"/>
                <a:sym typeface="Roboto"/>
              </a:rPr>
              <a:t>Modules are regions where flow gets trapped. They are </a:t>
            </a:r>
            <a:r>
              <a:rPr lang="en-US" sz="3399" b="1">
                <a:solidFill>
                  <a:srgbClr val="FEFEFE"/>
                </a:solidFill>
                <a:latin typeface="Roboto Bold"/>
                <a:ea typeface="Roboto Bold"/>
                <a:cs typeface="Roboto Bold"/>
                <a:sym typeface="Roboto Bold"/>
              </a:rPr>
              <a:t>plausible epidemic basins</a:t>
            </a:r>
            <a:r>
              <a:rPr lang="en-US" sz="3399">
                <a:solidFill>
                  <a:srgbClr val="FEFEFE"/>
                </a:solidFill>
                <a:latin typeface="Roboto"/>
                <a:ea typeface="Roboto"/>
                <a:cs typeface="Roboto"/>
                <a:sym typeface="Roboto"/>
              </a:rPr>
              <a:t> .</a:t>
            </a:r>
          </a:p>
          <a:p>
            <a:pPr algn="l">
              <a:lnSpc>
                <a:spcPts val="4759"/>
              </a:lnSpc>
            </a:pPr>
            <a:r>
              <a:rPr lang="en-US" sz="3399">
                <a:solidFill>
                  <a:srgbClr val="FEFEFE"/>
                </a:solidFill>
                <a:latin typeface="Roboto"/>
                <a:ea typeface="Roboto"/>
                <a:cs typeface="Roboto"/>
                <a:sym typeface="Roboto"/>
              </a:rPr>
              <a:t>Consensus clustering was employed with the same number of runs as in Louvain.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5152779" y="2163776"/>
          <a:ext cx="7599895" cy="4914901"/>
        </p:xfrm>
        <a:graphic>
          <a:graphicData uri="http://schemas.openxmlformats.org/drawingml/2006/table">
            <a:tbl>
              <a:tblPr/>
              <a:tblGrid>
                <a:gridCol w="3048117">
                  <a:extLst>
                    <a:ext uri="{9D8B030D-6E8A-4147-A177-3AD203B41FA5}">
                      <a16:colId xmlns:a16="http://schemas.microsoft.com/office/drawing/2014/main" val="20000"/>
                    </a:ext>
                  </a:extLst>
                </a:gridCol>
                <a:gridCol w="2110401">
                  <a:extLst>
                    <a:ext uri="{9D8B030D-6E8A-4147-A177-3AD203B41FA5}">
                      <a16:colId xmlns:a16="http://schemas.microsoft.com/office/drawing/2014/main" val="20001"/>
                    </a:ext>
                  </a:extLst>
                </a:gridCol>
                <a:gridCol w="2441377">
                  <a:extLst>
                    <a:ext uri="{9D8B030D-6E8A-4147-A177-3AD203B41FA5}">
                      <a16:colId xmlns:a16="http://schemas.microsoft.com/office/drawing/2014/main" val="20002"/>
                    </a:ext>
                  </a:extLst>
                </a:gridCol>
              </a:tblGrid>
              <a:tr h="988740">
                <a:tc>
                  <a:txBody>
                    <a:bodyPr/>
                    <a:lstStyle/>
                    <a:p>
                      <a:pPr algn="ctr">
                        <a:lnSpc>
                          <a:spcPts val="4115"/>
                        </a:lnSpc>
                        <a:defRPr/>
                      </a:pP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solidFill>
                      <a:srgbClr val="FEFEFE"/>
                    </a:solidFill>
                  </a:tcPr>
                </a:tc>
                <a:tc>
                  <a:txBody>
                    <a:bodyPr/>
                    <a:lstStyle/>
                    <a:p>
                      <a:pPr algn="ctr">
                        <a:lnSpc>
                          <a:spcPts val="4115"/>
                        </a:lnSpc>
                        <a:defRPr/>
                      </a:pPr>
                      <a:r>
                        <a:rPr lang="en-US" sz="2939" b="1">
                          <a:solidFill>
                            <a:srgbClr val="FCFDFC"/>
                          </a:solidFill>
                          <a:latin typeface="Roboto Bold"/>
                          <a:ea typeface="Roboto Bold"/>
                          <a:cs typeface="Roboto Bold"/>
                          <a:sym typeface="Roboto Bold"/>
                        </a:rPr>
                        <a:t>InfoMap</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4115"/>
                        </a:lnSpc>
                        <a:defRPr/>
                      </a:pPr>
                      <a:r>
                        <a:rPr lang="en-US" sz="2939" b="1">
                          <a:solidFill>
                            <a:srgbClr val="FCFDFC"/>
                          </a:solidFill>
                          <a:latin typeface="Roboto Bold"/>
                          <a:ea typeface="Roboto Bold"/>
                          <a:cs typeface="Roboto Bold"/>
                          <a:sym typeface="Roboto Bold"/>
                        </a:rPr>
                        <a:t>Louvain</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0"/>
                  </a:ext>
                </a:extLst>
              </a:tr>
              <a:tr h="1017538">
                <a:tc>
                  <a:txBody>
                    <a:bodyPr/>
                    <a:lstStyle/>
                    <a:p>
                      <a:pPr algn="ctr">
                        <a:lnSpc>
                          <a:spcPts val="4115"/>
                        </a:lnSpc>
                        <a:defRPr/>
                      </a:pPr>
                      <a:r>
                        <a:rPr lang="en-US" sz="2939" b="1">
                          <a:solidFill>
                            <a:srgbClr val="FCFDFC"/>
                          </a:solidFill>
                          <a:latin typeface="Roboto Bold"/>
                          <a:ea typeface="Roboto Bold"/>
                          <a:cs typeface="Roboto Bold"/>
                          <a:sym typeface="Roboto Bold"/>
                        </a:rPr>
                        <a:t>COMMUNITIES</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4255"/>
                        </a:lnSpc>
                        <a:defRPr/>
                      </a:pPr>
                      <a:r>
                        <a:rPr lang="en-US" sz="3039" b="1">
                          <a:solidFill>
                            <a:srgbClr val="FCFDFC"/>
                          </a:solidFill>
                          <a:latin typeface="Roboto Bold"/>
                          <a:ea typeface="Roboto Bold"/>
                          <a:cs typeface="Roboto Bold"/>
                          <a:sym typeface="Roboto Bold"/>
                        </a:rPr>
                        <a:t>148</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4115"/>
                        </a:lnSpc>
                        <a:defRPr/>
                      </a:pPr>
                      <a:r>
                        <a:rPr lang="en-US" sz="2939">
                          <a:solidFill>
                            <a:srgbClr val="FCFDFC"/>
                          </a:solidFill>
                          <a:latin typeface="Roboto"/>
                          <a:ea typeface="Roboto"/>
                          <a:cs typeface="Roboto"/>
                          <a:sym typeface="Roboto"/>
                        </a:rPr>
                        <a:t>30</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1"/>
                  </a:ext>
                </a:extLst>
              </a:tr>
              <a:tr h="969541">
                <a:tc>
                  <a:txBody>
                    <a:bodyPr/>
                    <a:lstStyle/>
                    <a:p>
                      <a:pPr algn="ctr">
                        <a:lnSpc>
                          <a:spcPts val="3919"/>
                        </a:lnSpc>
                        <a:defRPr/>
                      </a:pPr>
                      <a:r>
                        <a:rPr lang="en-US" sz="2799" b="1">
                          <a:solidFill>
                            <a:srgbClr val="FCFDFC"/>
                          </a:solidFill>
                          <a:latin typeface="Roboto Bold"/>
                          <a:ea typeface="Roboto Bold"/>
                          <a:cs typeface="Roboto Bold"/>
                          <a:sym typeface="Roboto Bold"/>
                        </a:rPr>
                        <a:t>MODULARITY</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3919"/>
                        </a:lnSpc>
                        <a:defRPr/>
                      </a:pPr>
                      <a:r>
                        <a:rPr lang="en-US" sz="2799">
                          <a:solidFill>
                            <a:srgbClr val="FCFDFC"/>
                          </a:solidFill>
                          <a:latin typeface="Roboto"/>
                          <a:ea typeface="Roboto"/>
                          <a:cs typeface="Roboto"/>
                          <a:sym typeface="Roboto"/>
                        </a:rPr>
                        <a:t>0.7312</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3919"/>
                        </a:lnSpc>
                        <a:defRPr/>
                      </a:pPr>
                      <a:r>
                        <a:rPr lang="en-US" sz="2799" b="1">
                          <a:solidFill>
                            <a:srgbClr val="FCFDFC"/>
                          </a:solidFill>
                          <a:latin typeface="Roboto Bold"/>
                          <a:ea typeface="Roboto Bold"/>
                          <a:cs typeface="Roboto Bold"/>
                          <a:sym typeface="Roboto Bold"/>
                        </a:rPr>
                        <a:t>0.7714</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2"/>
                  </a:ext>
                </a:extLst>
              </a:tr>
              <a:tr h="969541">
                <a:tc>
                  <a:txBody>
                    <a:bodyPr/>
                    <a:lstStyle/>
                    <a:p>
                      <a:pPr algn="ctr">
                        <a:lnSpc>
                          <a:spcPts val="3919"/>
                        </a:lnSpc>
                        <a:defRPr/>
                      </a:pPr>
                      <a:r>
                        <a:rPr lang="en-US" sz="2799" b="1">
                          <a:solidFill>
                            <a:srgbClr val="FCFDFC"/>
                          </a:solidFill>
                          <a:latin typeface="Roboto Bold"/>
                          <a:ea typeface="Roboto Bold"/>
                          <a:cs typeface="Roboto Bold"/>
                          <a:sym typeface="Roboto Bold"/>
                        </a:rPr>
                        <a:t>CODELENGTH</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3919"/>
                        </a:lnSpc>
                        <a:defRPr/>
                      </a:pPr>
                      <a:r>
                        <a:rPr lang="en-US" sz="2799" b="1">
                          <a:solidFill>
                            <a:srgbClr val="FCFDFC"/>
                          </a:solidFill>
                          <a:latin typeface="Roboto Bold"/>
                          <a:ea typeface="Roboto Bold"/>
                          <a:cs typeface="Roboto Bold"/>
                          <a:sym typeface="Roboto Bold"/>
                        </a:rPr>
                        <a:t>6.5250</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3919"/>
                        </a:lnSpc>
                        <a:defRPr/>
                      </a:pPr>
                      <a:r>
                        <a:rPr lang="en-US" sz="2799">
                          <a:solidFill>
                            <a:srgbClr val="FCFDFC"/>
                          </a:solidFill>
                          <a:latin typeface="Roboto"/>
                          <a:ea typeface="Roboto"/>
                          <a:cs typeface="Roboto"/>
                          <a:sym typeface="Roboto"/>
                        </a:rPr>
                        <a:t>6.9195</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3"/>
                  </a:ext>
                </a:extLst>
              </a:tr>
              <a:tr h="969541">
                <a:tc>
                  <a:txBody>
                    <a:bodyPr/>
                    <a:lstStyle/>
                    <a:p>
                      <a:pPr algn="ctr">
                        <a:lnSpc>
                          <a:spcPts val="3919"/>
                        </a:lnSpc>
                        <a:defRPr/>
                      </a:pPr>
                      <a:r>
                        <a:rPr lang="en-US" sz="2799" b="1">
                          <a:solidFill>
                            <a:srgbClr val="FCFDFC"/>
                          </a:solidFill>
                          <a:latin typeface="Roboto Bold"/>
                          <a:ea typeface="Roboto Bold"/>
                          <a:cs typeface="Roboto Bold"/>
                          <a:sym typeface="Roboto Bold"/>
                        </a:rPr>
                        <a:t>NMI (stability)</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3919"/>
                        </a:lnSpc>
                        <a:defRPr/>
                      </a:pPr>
                      <a:r>
                        <a:rPr lang="en-US" sz="2799" b="1">
                          <a:solidFill>
                            <a:srgbClr val="FCFDFC"/>
                          </a:solidFill>
                          <a:latin typeface="Roboto Bold"/>
                          <a:ea typeface="Roboto Bold"/>
                          <a:cs typeface="Roboto Bold"/>
                          <a:sym typeface="Roboto Bold"/>
                        </a:rPr>
                        <a:t>0.9859</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tc>
                  <a:txBody>
                    <a:bodyPr/>
                    <a:lstStyle/>
                    <a:p>
                      <a:pPr algn="ctr">
                        <a:lnSpc>
                          <a:spcPts val="3919"/>
                        </a:lnSpc>
                        <a:defRPr/>
                      </a:pPr>
                      <a:r>
                        <a:rPr lang="en-US" sz="2799">
                          <a:solidFill>
                            <a:srgbClr val="FCFDFC"/>
                          </a:solidFill>
                          <a:latin typeface="Roboto"/>
                          <a:ea typeface="Roboto"/>
                          <a:cs typeface="Roboto"/>
                          <a:sym typeface="Roboto"/>
                        </a:rPr>
                        <a:t>0.9767</a:t>
                      </a:r>
                      <a:endParaRPr lang="en-US" sz="1100"/>
                    </a:p>
                  </a:txBody>
                  <a:tcPr marL="190500" marR="190500" marT="190500" marB="190500" anchor="ctr">
                    <a:lnL w="38100" cap="flat" cmpd="sng" algn="ctr">
                      <a:solidFill>
                        <a:srgbClr val="FCFDFC"/>
                      </a:solidFill>
                      <a:prstDash val="solid"/>
                      <a:round/>
                      <a:headEnd type="none" w="med" len="med"/>
                      <a:tailEnd type="none" w="med" len="med"/>
                    </a:lnL>
                    <a:lnR w="38100" cap="flat" cmpd="sng" algn="ctr">
                      <a:solidFill>
                        <a:srgbClr val="FCFDFC"/>
                      </a:solidFill>
                      <a:prstDash val="solid"/>
                      <a:round/>
                      <a:headEnd type="none" w="med" len="med"/>
                      <a:tailEnd type="none" w="med" len="med"/>
                    </a:lnR>
                    <a:lnT w="38100" cap="flat" cmpd="sng" algn="ctr">
                      <a:solidFill>
                        <a:srgbClr val="FCFDFC"/>
                      </a:solidFill>
                      <a:prstDash val="solid"/>
                      <a:round/>
                      <a:headEnd type="none" w="med" len="med"/>
                      <a:tailEnd type="none" w="med" len="med"/>
                    </a:lnT>
                    <a:lnB w="38100" cap="flat" cmpd="sng" algn="ctr">
                      <a:solidFill>
                        <a:srgbClr val="FCFDF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Freeform 3"/>
          <p:cNvSpPr/>
          <p:nvPr/>
        </p:nvSpPr>
        <p:spPr>
          <a:xfrm>
            <a:off x="1028700" y="3340474"/>
            <a:ext cx="3017137" cy="3017137"/>
          </a:xfrm>
          <a:custGeom>
            <a:avLst/>
            <a:gdLst/>
            <a:ahLst/>
            <a:cxnLst/>
            <a:rect l="l" t="t" r="r" b="b"/>
            <a:pathLst>
              <a:path w="3017137" h="3017137">
                <a:moveTo>
                  <a:pt x="0" y="0"/>
                </a:moveTo>
                <a:lnTo>
                  <a:pt x="3017137" y="0"/>
                </a:lnTo>
                <a:lnTo>
                  <a:pt x="3017137" y="3017137"/>
                </a:lnTo>
                <a:lnTo>
                  <a:pt x="0" y="301713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4" name="Freeform 4"/>
          <p:cNvSpPr/>
          <p:nvPr/>
        </p:nvSpPr>
        <p:spPr>
          <a:xfrm>
            <a:off x="13500894" y="2897565"/>
            <a:ext cx="3758406" cy="3232229"/>
          </a:xfrm>
          <a:custGeom>
            <a:avLst/>
            <a:gdLst/>
            <a:ahLst/>
            <a:cxnLst/>
            <a:rect l="l" t="t" r="r" b="b"/>
            <a:pathLst>
              <a:path w="3758406" h="3232229">
                <a:moveTo>
                  <a:pt x="0" y="0"/>
                </a:moveTo>
                <a:lnTo>
                  <a:pt x="3758406" y="0"/>
                </a:lnTo>
                <a:lnTo>
                  <a:pt x="3758406" y="3232229"/>
                </a:lnTo>
                <a:lnTo>
                  <a:pt x="0" y="3232229"/>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it-IT"/>
          </a:p>
        </p:txBody>
      </p:sp>
      <p:sp>
        <p:nvSpPr>
          <p:cNvPr id="5" name="TextBox 5"/>
          <p:cNvSpPr txBox="1"/>
          <p:nvPr/>
        </p:nvSpPr>
        <p:spPr>
          <a:xfrm>
            <a:off x="4231957" y="280551"/>
            <a:ext cx="9865043" cy="1206741"/>
          </a:xfrm>
          <a:prstGeom prst="rect">
            <a:avLst/>
          </a:prstGeom>
        </p:spPr>
        <p:txBody>
          <a:bodyPr wrap="square" lIns="0" tIns="0" rIns="0" bIns="0" rtlCol="0" anchor="t">
            <a:spAutoFit/>
          </a:bodyPr>
          <a:lstStyle/>
          <a:p>
            <a:pPr algn="ctr">
              <a:lnSpc>
                <a:spcPts val="9926"/>
              </a:lnSpc>
              <a:spcBef>
                <a:spcPct val="0"/>
              </a:spcBef>
            </a:pPr>
            <a:r>
              <a:rPr lang="en-US" sz="7090" b="1" dirty="0">
                <a:solidFill>
                  <a:srgbClr val="FFFFFF"/>
                </a:solidFill>
                <a:latin typeface="Poppins Bold"/>
                <a:ea typeface="Poppins Bold"/>
                <a:cs typeface="Poppins Bold"/>
                <a:sym typeface="Poppins Bold"/>
              </a:rPr>
              <a:t>LOUVAIN VS INFOMAP</a:t>
            </a:r>
          </a:p>
        </p:txBody>
      </p:sp>
      <p:sp>
        <p:nvSpPr>
          <p:cNvPr id="6" name="TextBox 6"/>
          <p:cNvSpPr txBox="1"/>
          <p:nvPr/>
        </p:nvSpPr>
        <p:spPr>
          <a:xfrm>
            <a:off x="1363514" y="7793939"/>
            <a:ext cx="15895786" cy="1790065"/>
          </a:xfrm>
          <a:prstGeom prst="rect">
            <a:avLst/>
          </a:prstGeom>
        </p:spPr>
        <p:txBody>
          <a:bodyPr lIns="0" tIns="0" rIns="0" bIns="0" rtlCol="0" anchor="t">
            <a:spAutoFit/>
          </a:bodyPr>
          <a:lstStyle/>
          <a:p>
            <a:pPr algn="l">
              <a:lnSpc>
                <a:spcPts val="4759"/>
              </a:lnSpc>
            </a:pPr>
            <a:r>
              <a:rPr lang="en-US" sz="3399">
                <a:solidFill>
                  <a:srgbClr val="FEFEFE"/>
                </a:solidFill>
                <a:latin typeface="Roboto"/>
                <a:ea typeface="Roboto"/>
                <a:cs typeface="Roboto"/>
                <a:sym typeface="Roboto"/>
              </a:rPr>
              <a:t>As expected </a:t>
            </a:r>
            <a:r>
              <a:rPr lang="en-US" sz="3399" b="1">
                <a:solidFill>
                  <a:srgbClr val="FEFEFE"/>
                </a:solidFill>
                <a:latin typeface="Roboto Bold"/>
                <a:ea typeface="Roboto Bold"/>
                <a:cs typeface="Roboto Bold"/>
                <a:sym typeface="Roboto Bold"/>
              </a:rPr>
              <a:t>Louvain wins on modularity</a:t>
            </a:r>
            <a:r>
              <a:rPr lang="en-US" sz="3399">
                <a:solidFill>
                  <a:srgbClr val="FEFEFE"/>
                </a:solidFill>
                <a:latin typeface="Roboto"/>
                <a:ea typeface="Roboto"/>
                <a:cs typeface="Roboto"/>
                <a:sym typeface="Roboto"/>
              </a:rPr>
              <a:t> while InfoMap </a:t>
            </a:r>
            <a:r>
              <a:rPr lang="en-US" sz="3399" b="1">
                <a:solidFill>
                  <a:srgbClr val="FEFEFE"/>
                </a:solidFill>
                <a:latin typeface="Roboto Bold"/>
                <a:ea typeface="Roboto Bold"/>
                <a:cs typeface="Roboto Bold"/>
                <a:sym typeface="Roboto Bold"/>
              </a:rPr>
              <a:t>minimizes the codelength.</a:t>
            </a:r>
          </a:p>
          <a:p>
            <a:pPr algn="l">
              <a:lnSpc>
                <a:spcPts val="4759"/>
              </a:lnSpc>
            </a:pPr>
            <a:endParaRPr lang="en-US" sz="3399" b="1">
              <a:solidFill>
                <a:srgbClr val="FEFEFE"/>
              </a:solidFill>
              <a:latin typeface="Roboto Bold"/>
              <a:ea typeface="Roboto Bold"/>
              <a:cs typeface="Roboto Bold"/>
              <a:sym typeface="Roboto Bold"/>
            </a:endParaRPr>
          </a:p>
          <a:p>
            <a:pPr algn="l">
              <a:lnSpc>
                <a:spcPts val="4759"/>
              </a:lnSpc>
            </a:pPr>
            <a:r>
              <a:rPr lang="en-US" sz="3399">
                <a:solidFill>
                  <a:srgbClr val="FEFEFE"/>
                </a:solidFill>
                <a:latin typeface="Roboto"/>
                <a:ea typeface="Roboto"/>
                <a:cs typeface="Roboto"/>
                <a:sym typeface="Roboto"/>
              </a:rPr>
              <a:t>These communities results will be used to drive vaccination strategies...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3663877" y="3558253"/>
            <a:ext cx="5480123" cy="4767707"/>
          </a:xfrm>
          <a:custGeom>
            <a:avLst/>
            <a:gdLst/>
            <a:ahLst/>
            <a:cxnLst/>
            <a:rect l="l" t="t" r="r" b="b"/>
            <a:pathLst>
              <a:path w="5480123" h="4767707">
                <a:moveTo>
                  <a:pt x="0" y="0"/>
                </a:moveTo>
                <a:lnTo>
                  <a:pt x="5480123" y="0"/>
                </a:lnTo>
                <a:lnTo>
                  <a:pt x="5480123" y="4767707"/>
                </a:lnTo>
                <a:lnTo>
                  <a:pt x="0" y="4767707"/>
                </a:lnTo>
                <a:lnTo>
                  <a:pt x="0" y="0"/>
                </a:lnTo>
                <a:close/>
              </a:path>
            </a:pathLst>
          </a:custGeom>
          <a:blipFill>
            <a:blip r:embed="rId2"/>
            <a:stretch>
              <a:fillRect/>
            </a:stretch>
          </a:blipFill>
          <a:ln cap="sq">
            <a:noFill/>
            <a:prstDash val="solid"/>
            <a:miter/>
          </a:ln>
        </p:spPr>
        <p:txBody>
          <a:bodyPr/>
          <a:lstStyle/>
          <a:p>
            <a:endParaRPr lang="it-IT"/>
          </a:p>
        </p:txBody>
      </p:sp>
      <p:sp>
        <p:nvSpPr>
          <p:cNvPr id="3" name="Freeform 3"/>
          <p:cNvSpPr/>
          <p:nvPr/>
        </p:nvSpPr>
        <p:spPr>
          <a:xfrm>
            <a:off x="9000459" y="2846125"/>
            <a:ext cx="5980831" cy="5980831"/>
          </a:xfrm>
          <a:custGeom>
            <a:avLst/>
            <a:gdLst/>
            <a:ahLst/>
            <a:cxnLst/>
            <a:rect l="l" t="t" r="r" b="b"/>
            <a:pathLst>
              <a:path w="5980831" h="5980831">
                <a:moveTo>
                  <a:pt x="0" y="0"/>
                </a:moveTo>
                <a:lnTo>
                  <a:pt x="5980831" y="0"/>
                </a:lnTo>
                <a:lnTo>
                  <a:pt x="5980831" y="5980831"/>
                </a:lnTo>
                <a:lnTo>
                  <a:pt x="0" y="5980831"/>
                </a:lnTo>
                <a:lnTo>
                  <a:pt x="0" y="0"/>
                </a:lnTo>
                <a:close/>
              </a:path>
            </a:pathLst>
          </a:custGeom>
          <a:blipFill>
            <a:blip r:embed="rId3"/>
            <a:stretch>
              <a:fillRect/>
            </a:stretch>
          </a:blipFill>
          <a:ln cap="sq">
            <a:noFill/>
            <a:prstDash val="solid"/>
            <a:miter/>
          </a:ln>
        </p:spPr>
        <p:txBody>
          <a:bodyPr/>
          <a:lstStyle/>
          <a:p>
            <a:endParaRPr lang="it-IT"/>
          </a:p>
        </p:txBody>
      </p:sp>
      <p:sp>
        <p:nvSpPr>
          <p:cNvPr id="4" name="TextBox 4"/>
          <p:cNvSpPr txBox="1"/>
          <p:nvPr/>
        </p:nvSpPr>
        <p:spPr>
          <a:xfrm>
            <a:off x="3069907" y="1272805"/>
            <a:ext cx="12246293" cy="1560107"/>
          </a:xfrm>
          <a:prstGeom prst="rect">
            <a:avLst/>
          </a:prstGeom>
        </p:spPr>
        <p:txBody>
          <a:bodyPr wrap="square" lIns="0" tIns="0" rIns="0" bIns="0" rtlCol="0" anchor="t">
            <a:spAutoFit/>
          </a:bodyPr>
          <a:lstStyle/>
          <a:p>
            <a:pPr algn="ctr">
              <a:lnSpc>
                <a:spcPts val="12828"/>
              </a:lnSpc>
              <a:spcBef>
                <a:spcPct val="0"/>
              </a:spcBef>
            </a:pPr>
            <a:r>
              <a:rPr lang="en-US" sz="9163" b="1" dirty="0">
                <a:solidFill>
                  <a:srgbClr val="FFFFFF"/>
                </a:solidFill>
                <a:latin typeface="Poppins Bold"/>
                <a:ea typeface="Poppins Bold"/>
                <a:cs typeface="Poppins Bold"/>
                <a:sym typeface="Poppins Bold"/>
              </a:rPr>
              <a:t>THE EPIDEMIC MODEL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grpSp>
        <p:nvGrpSpPr>
          <p:cNvPr id="2" name="Group 2"/>
          <p:cNvGrpSpPr/>
          <p:nvPr/>
        </p:nvGrpSpPr>
        <p:grpSpPr>
          <a:xfrm>
            <a:off x="750570" y="3309815"/>
            <a:ext cx="3086100" cy="3086195"/>
            <a:chOff x="0" y="0"/>
            <a:chExt cx="812800" cy="812800"/>
          </a:xfrm>
        </p:grpSpPr>
        <p:sp>
          <p:nvSpPr>
            <p:cNvPr id="3" name="Freeform 3"/>
            <p:cNvSpPr/>
            <p:nvPr/>
          </p:nvSpPr>
          <p:spPr>
            <a:xfrm>
              <a:off x="0" y="0"/>
              <a:ext cx="812800" cy="812800"/>
            </a:xfrm>
            <a:custGeom>
              <a:avLst/>
              <a:gdLst/>
              <a:ahLst/>
              <a:cxnLst/>
              <a:rect l="l" t="t" r="r" b="b"/>
              <a:pathLst>
                <a:path w="812800" h="812800">
                  <a:moveTo>
                    <a:pt x="812800" y="0"/>
                  </a:moveTo>
                  <a:lnTo>
                    <a:pt x="812800" y="812800"/>
                  </a:lnTo>
                  <a:lnTo>
                    <a:pt x="0" y="812800"/>
                  </a:lnTo>
                  <a:lnTo>
                    <a:pt x="0" y="0"/>
                  </a:lnTo>
                  <a:close/>
                </a:path>
              </a:pathLst>
            </a:custGeom>
            <a:solidFill>
              <a:srgbClr val="00107E"/>
            </a:solidFill>
            <a:ln cap="sq">
              <a:noFill/>
              <a:prstDash val="solid"/>
              <a:miter/>
            </a:ln>
          </p:spPr>
          <p:txBody>
            <a:bodyPr/>
            <a:lstStyle/>
            <a:p>
              <a:endParaRPr lang="it-IT"/>
            </a:p>
          </p:txBody>
        </p:sp>
        <p:sp>
          <p:nvSpPr>
            <p:cNvPr id="4" name="TextBox 4"/>
            <p:cNvSpPr txBox="1"/>
            <p:nvPr/>
          </p:nvSpPr>
          <p:spPr>
            <a:xfrm>
              <a:off x="0" y="-57150"/>
              <a:ext cx="812800" cy="869950"/>
            </a:xfrm>
            <a:prstGeom prst="rect">
              <a:avLst/>
            </a:prstGeom>
          </p:spPr>
          <p:txBody>
            <a:bodyPr lIns="50800" tIns="50800" rIns="50800" bIns="50800" rtlCol="0" anchor="ctr"/>
            <a:lstStyle/>
            <a:p>
              <a:pPr algn="ctr">
                <a:lnSpc>
                  <a:spcPts val="4480"/>
                </a:lnSpc>
                <a:spcBef>
                  <a:spcPct val="0"/>
                </a:spcBef>
              </a:pPr>
              <a:r>
                <a:rPr lang="en-US" sz="3200">
                  <a:solidFill>
                    <a:srgbClr val="FFFFFF"/>
                  </a:solidFill>
                  <a:latin typeface="Open Sans"/>
                  <a:ea typeface="Open Sans"/>
                  <a:cs typeface="Open Sans"/>
                  <a:sym typeface="Open Sans"/>
                </a:rPr>
                <a:t>Susceptible</a:t>
              </a:r>
            </a:p>
          </p:txBody>
        </p:sp>
      </p:grpSp>
      <p:grpSp>
        <p:nvGrpSpPr>
          <p:cNvPr id="5" name="Group 5"/>
          <p:cNvGrpSpPr/>
          <p:nvPr/>
        </p:nvGrpSpPr>
        <p:grpSpPr>
          <a:xfrm>
            <a:off x="5297372" y="3309815"/>
            <a:ext cx="3086100" cy="3086100"/>
            <a:chOff x="0" y="0"/>
            <a:chExt cx="812800" cy="812800"/>
          </a:xfrm>
        </p:grpSpPr>
        <p:sp>
          <p:nvSpPr>
            <p:cNvPr id="6" name="Freeform 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C7C021"/>
            </a:solidFill>
          </p:spPr>
          <p:txBody>
            <a:bodyPr/>
            <a:lstStyle/>
            <a:p>
              <a:endParaRPr lang="it-IT"/>
            </a:p>
          </p:txBody>
        </p:sp>
        <p:sp>
          <p:nvSpPr>
            <p:cNvPr id="7" name="TextBox 7"/>
            <p:cNvSpPr txBox="1"/>
            <p:nvPr/>
          </p:nvSpPr>
          <p:spPr>
            <a:xfrm>
              <a:off x="0" y="-76200"/>
              <a:ext cx="812800" cy="889000"/>
            </a:xfrm>
            <a:prstGeom prst="rect">
              <a:avLst/>
            </a:prstGeom>
          </p:spPr>
          <p:txBody>
            <a:bodyPr lIns="50800" tIns="50800" rIns="50800" bIns="50800" rtlCol="0" anchor="ctr"/>
            <a:lstStyle/>
            <a:p>
              <a:pPr algn="ctr">
                <a:lnSpc>
                  <a:spcPts val="5599"/>
                </a:lnSpc>
                <a:spcBef>
                  <a:spcPct val="0"/>
                </a:spcBef>
              </a:pPr>
              <a:r>
                <a:rPr lang="en-US" sz="3999">
                  <a:solidFill>
                    <a:srgbClr val="FFFFFF"/>
                  </a:solidFill>
                  <a:latin typeface="Open Sans"/>
                  <a:ea typeface="Open Sans"/>
                  <a:cs typeface="Open Sans"/>
                  <a:sym typeface="Open Sans"/>
                </a:rPr>
                <a:t>Exposed</a:t>
              </a:r>
            </a:p>
          </p:txBody>
        </p:sp>
      </p:grpSp>
      <p:grpSp>
        <p:nvGrpSpPr>
          <p:cNvPr id="8" name="Group 8"/>
          <p:cNvGrpSpPr/>
          <p:nvPr/>
        </p:nvGrpSpPr>
        <p:grpSpPr>
          <a:xfrm>
            <a:off x="9844174" y="3309815"/>
            <a:ext cx="3086100" cy="3086100"/>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E00000"/>
            </a:solidFill>
          </p:spPr>
          <p:txBody>
            <a:bodyPr/>
            <a:lstStyle/>
            <a:p>
              <a:endParaRPr lang="it-IT"/>
            </a:p>
          </p:txBody>
        </p:sp>
        <p:sp>
          <p:nvSpPr>
            <p:cNvPr id="10" name="TextBox 10"/>
            <p:cNvSpPr txBox="1"/>
            <p:nvPr/>
          </p:nvSpPr>
          <p:spPr>
            <a:xfrm>
              <a:off x="0" y="-76200"/>
              <a:ext cx="812800" cy="889000"/>
            </a:xfrm>
            <a:prstGeom prst="rect">
              <a:avLst/>
            </a:prstGeom>
          </p:spPr>
          <p:txBody>
            <a:bodyPr lIns="50800" tIns="50800" rIns="50800" bIns="50800" rtlCol="0" anchor="ctr"/>
            <a:lstStyle/>
            <a:p>
              <a:pPr algn="ctr">
                <a:lnSpc>
                  <a:spcPts val="5599"/>
                </a:lnSpc>
                <a:spcBef>
                  <a:spcPct val="0"/>
                </a:spcBef>
              </a:pPr>
              <a:r>
                <a:rPr lang="en-US" sz="3999">
                  <a:solidFill>
                    <a:srgbClr val="FFFFFF"/>
                  </a:solidFill>
                  <a:latin typeface="Open Sans"/>
                  <a:ea typeface="Open Sans"/>
                  <a:cs typeface="Open Sans"/>
                  <a:sym typeface="Open Sans"/>
                </a:rPr>
                <a:t>Infected</a:t>
              </a:r>
            </a:p>
          </p:txBody>
        </p:sp>
      </p:grpSp>
      <p:grpSp>
        <p:nvGrpSpPr>
          <p:cNvPr id="11" name="Group 11"/>
          <p:cNvGrpSpPr/>
          <p:nvPr/>
        </p:nvGrpSpPr>
        <p:grpSpPr>
          <a:xfrm>
            <a:off x="14390976" y="3309815"/>
            <a:ext cx="3086100" cy="3086100"/>
            <a:chOff x="0" y="0"/>
            <a:chExt cx="812800" cy="812800"/>
          </a:xfrm>
        </p:grpSpPr>
        <p:sp>
          <p:nvSpPr>
            <p:cNvPr id="12" name="Freeform 12"/>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1CA700"/>
            </a:solidFill>
          </p:spPr>
          <p:txBody>
            <a:bodyPr/>
            <a:lstStyle/>
            <a:p>
              <a:endParaRPr lang="it-IT"/>
            </a:p>
          </p:txBody>
        </p:sp>
        <p:sp>
          <p:nvSpPr>
            <p:cNvPr id="13" name="TextBox 13"/>
            <p:cNvSpPr txBox="1"/>
            <p:nvPr/>
          </p:nvSpPr>
          <p:spPr>
            <a:xfrm>
              <a:off x="0" y="-76200"/>
              <a:ext cx="812800" cy="889000"/>
            </a:xfrm>
            <a:prstGeom prst="rect">
              <a:avLst/>
            </a:prstGeom>
          </p:spPr>
          <p:txBody>
            <a:bodyPr lIns="50800" tIns="50800" rIns="50800" bIns="50800" rtlCol="0" anchor="ctr"/>
            <a:lstStyle/>
            <a:p>
              <a:pPr algn="ctr">
                <a:lnSpc>
                  <a:spcPts val="5319"/>
                </a:lnSpc>
                <a:spcBef>
                  <a:spcPct val="0"/>
                </a:spcBef>
              </a:pPr>
              <a:r>
                <a:rPr lang="en-US" sz="3799">
                  <a:solidFill>
                    <a:srgbClr val="FFFFFF"/>
                  </a:solidFill>
                  <a:latin typeface="Open Sans"/>
                  <a:ea typeface="Open Sans"/>
                  <a:cs typeface="Open Sans"/>
                  <a:sym typeface="Open Sans"/>
                </a:rPr>
                <a:t>Recovered</a:t>
              </a:r>
            </a:p>
          </p:txBody>
        </p:sp>
      </p:grpSp>
      <p:grpSp>
        <p:nvGrpSpPr>
          <p:cNvPr id="14" name="Group 14"/>
          <p:cNvGrpSpPr/>
          <p:nvPr/>
        </p:nvGrpSpPr>
        <p:grpSpPr>
          <a:xfrm>
            <a:off x="3836670" y="4670265"/>
            <a:ext cx="1460702" cy="365201"/>
            <a:chOff x="0" y="0"/>
            <a:chExt cx="812800" cy="203214"/>
          </a:xfrm>
        </p:grpSpPr>
        <p:sp>
          <p:nvSpPr>
            <p:cNvPr id="15" name="Freeform 15"/>
            <p:cNvSpPr/>
            <p:nvPr/>
          </p:nvSpPr>
          <p:spPr>
            <a:xfrm>
              <a:off x="0" y="0"/>
              <a:ext cx="812800" cy="203214"/>
            </a:xfrm>
            <a:custGeom>
              <a:avLst/>
              <a:gdLst/>
              <a:ahLst/>
              <a:cxnLst/>
              <a:rect l="l" t="t" r="r" b="b"/>
              <a:pathLst>
                <a:path w="812800" h="203214">
                  <a:moveTo>
                    <a:pt x="0" y="0"/>
                  </a:moveTo>
                  <a:lnTo>
                    <a:pt x="609600" y="0"/>
                  </a:lnTo>
                  <a:lnTo>
                    <a:pt x="812800" y="101607"/>
                  </a:lnTo>
                  <a:lnTo>
                    <a:pt x="609600" y="203214"/>
                  </a:lnTo>
                  <a:lnTo>
                    <a:pt x="0" y="203214"/>
                  </a:lnTo>
                  <a:lnTo>
                    <a:pt x="203200" y="101607"/>
                  </a:lnTo>
                  <a:lnTo>
                    <a:pt x="0" y="0"/>
                  </a:lnTo>
                  <a:close/>
                </a:path>
              </a:pathLst>
            </a:custGeom>
            <a:solidFill>
              <a:srgbClr val="FFFFFF"/>
            </a:solidFill>
          </p:spPr>
          <p:txBody>
            <a:bodyPr/>
            <a:lstStyle/>
            <a:p>
              <a:endParaRPr lang="it-IT"/>
            </a:p>
          </p:txBody>
        </p:sp>
        <p:sp>
          <p:nvSpPr>
            <p:cNvPr id="16" name="TextBox 16"/>
            <p:cNvSpPr txBox="1"/>
            <p:nvPr/>
          </p:nvSpPr>
          <p:spPr>
            <a:xfrm>
              <a:off x="177800" y="-38100"/>
              <a:ext cx="558800" cy="241314"/>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8383472" y="4670313"/>
            <a:ext cx="1460702" cy="365201"/>
            <a:chOff x="0" y="0"/>
            <a:chExt cx="812800" cy="203214"/>
          </a:xfrm>
        </p:grpSpPr>
        <p:sp>
          <p:nvSpPr>
            <p:cNvPr id="18" name="Freeform 18"/>
            <p:cNvSpPr/>
            <p:nvPr/>
          </p:nvSpPr>
          <p:spPr>
            <a:xfrm>
              <a:off x="0" y="0"/>
              <a:ext cx="812800" cy="203214"/>
            </a:xfrm>
            <a:custGeom>
              <a:avLst/>
              <a:gdLst/>
              <a:ahLst/>
              <a:cxnLst/>
              <a:rect l="l" t="t" r="r" b="b"/>
              <a:pathLst>
                <a:path w="812800" h="203214">
                  <a:moveTo>
                    <a:pt x="0" y="0"/>
                  </a:moveTo>
                  <a:lnTo>
                    <a:pt x="609600" y="0"/>
                  </a:lnTo>
                  <a:lnTo>
                    <a:pt x="812800" y="101607"/>
                  </a:lnTo>
                  <a:lnTo>
                    <a:pt x="609600" y="203214"/>
                  </a:lnTo>
                  <a:lnTo>
                    <a:pt x="0" y="203214"/>
                  </a:lnTo>
                  <a:lnTo>
                    <a:pt x="203200" y="101607"/>
                  </a:lnTo>
                  <a:lnTo>
                    <a:pt x="0" y="0"/>
                  </a:lnTo>
                  <a:close/>
                </a:path>
              </a:pathLst>
            </a:custGeom>
            <a:solidFill>
              <a:srgbClr val="FFFFFF"/>
            </a:solidFill>
          </p:spPr>
          <p:txBody>
            <a:bodyPr/>
            <a:lstStyle/>
            <a:p>
              <a:endParaRPr lang="it-IT"/>
            </a:p>
          </p:txBody>
        </p:sp>
        <p:sp>
          <p:nvSpPr>
            <p:cNvPr id="19" name="TextBox 19"/>
            <p:cNvSpPr txBox="1"/>
            <p:nvPr/>
          </p:nvSpPr>
          <p:spPr>
            <a:xfrm>
              <a:off x="177800" y="-38100"/>
              <a:ext cx="558800" cy="241314"/>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12930274" y="4670313"/>
            <a:ext cx="1460702" cy="365201"/>
            <a:chOff x="0" y="0"/>
            <a:chExt cx="812800" cy="203214"/>
          </a:xfrm>
        </p:grpSpPr>
        <p:sp>
          <p:nvSpPr>
            <p:cNvPr id="21" name="Freeform 21"/>
            <p:cNvSpPr/>
            <p:nvPr/>
          </p:nvSpPr>
          <p:spPr>
            <a:xfrm>
              <a:off x="0" y="0"/>
              <a:ext cx="812800" cy="203214"/>
            </a:xfrm>
            <a:custGeom>
              <a:avLst/>
              <a:gdLst/>
              <a:ahLst/>
              <a:cxnLst/>
              <a:rect l="l" t="t" r="r" b="b"/>
              <a:pathLst>
                <a:path w="812800" h="203214">
                  <a:moveTo>
                    <a:pt x="0" y="0"/>
                  </a:moveTo>
                  <a:lnTo>
                    <a:pt x="609600" y="0"/>
                  </a:lnTo>
                  <a:lnTo>
                    <a:pt x="812800" y="101607"/>
                  </a:lnTo>
                  <a:lnTo>
                    <a:pt x="609600" y="203214"/>
                  </a:lnTo>
                  <a:lnTo>
                    <a:pt x="0" y="203214"/>
                  </a:lnTo>
                  <a:lnTo>
                    <a:pt x="203200" y="101607"/>
                  </a:lnTo>
                  <a:lnTo>
                    <a:pt x="0" y="0"/>
                  </a:lnTo>
                  <a:close/>
                </a:path>
              </a:pathLst>
            </a:custGeom>
            <a:solidFill>
              <a:srgbClr val="FFFFFF"/>
            </a:solidFill>
          </p:spPr>
          <p:txBody>
            <a:bodyPr/>
            <a:lstStyle/>
            <a:p>
              <a:endParaRPr lang="it-IT"/>
            </a:p>
          </p:txBody>
        </p:sp>
        <p:sp>
          <p:nvSpPr>
            <p:cNvPr id="22" name="TextBox 22"/>
            <p:cNvSpPr txBox="1"/>
            <p:nvPr/>
          </p:nvSpPr>
          <p:spPr>
            <a:xfrm>
              <a:off x="177800" y="-38100"/>
              <a:ext cx="558800" cy="241314"/>
            </a:xfrm>
            <a:prstGeom prst="rect">
              <a:avLst/>
            </a:prstGeom>
          </p:spPr>
          <p:txBody>
            <a:bodyPr lIns="50800" tIns="50800" rIns="50800" bIns="50800" rtlCol="0" anchor="ctr"/>
            <a:lstStyle/>
            <a:p>
              <a:pPr algn="ctr">
                <a:lnSpc>
                  <a:spcPts val="2659"/>
                </a:lnSpc>
                <a:spcBef>
                  <a:spcPct val="0"/>
                </a:spcBef>
              </a:pPr>
              <a:endParaRPr/>
            </a:p>
          </p:txBody>
        </p:sp>
      </p:grpSp>
      <p:sp>
        <p:nvSpPr>
          <p:cNvPr id="23" name="Freeform 23"/>
          <p:cNvSpPr/>
          <p:nvPr/>
        </p:nvSpPr>
        <p:spPr>
          <a:xfrm rot="1071065">
            <a:off x="15663833" y="252382"/>
            <a:ext cx="1489559" cy="2345762"/>
          </a:xfrm>
          <a:custGeom>
            <a:avLst/>
            <a:gdLst/>
            <a:ahLst/>
            <a:cxnLst/>
            <a:rect l="l" t="t" r="r" b="b"/>
            <a:pathLst>
              <a:path w="1489559" h="2345762">
                <a:moveTo>
                  <a:pt x="0" y="0"/>
                </a:moveTo>
                <a:lnTo>
                  <a:pt x="1489559" y="0"/>
                </a:lnTo>
                <a:lnTo>
                  <a:pt x="1489559" y="2345762"/>
                </a:lnTo>
                <a:lnTo>
                  <a:pt x="0" y="2345762"/>
                </a:lnTo>
                <a:lnTo>
                  <a:pt x="0" y="0"/>
                </a:lnTo>
                <a:close/>
              </a:path>
            </a:pathLst>
          </a:custGeom>
          <a:blipFill>
            <a:blip r:embed="rId2"/>
            <a:stretch>
              <a:fillRect/>
            </a:stretch>
          </a:blipFill>
          <a:ln cap="sq">
            <a:noFill/>
            <a:prstDash val="solid"/>
            <a:miter/>
          </a:ln>
        </p:spPr>
        <p:txBody>
          <a:bodyPr/>
          <a:lstStyle/>
          <a:p>
            <a:endParaRPr lang="it-IT"/>
          </a:p>
        </p:txBody>
      </p:sp>
      <p:sp>
        <p:nvSpPr>
          <p:cNvPr id="24" name="TextBox 24"/>
          <p:cNvSpPr txBox="1"/>
          <p:nvPr/>
        </p:nvSpPr>
        <p:spPr>
          <a:xfrm>
            <a:off x="4444067" y="280551"/>
            <a:ext cx="9399865" cy="1286748"/>
          </a:xfrm>
          <a:prstGeom prst="rect">
            <a:avLst/>
          </a:prstGeom>
        </p:spPr>
        <p:txBody>
          <a:bodyPr lIns="0" tIns="0" rIns="0" bIns="0" rtlCol="0" anchor="t">
            <a:spAutoFit/>
          </a:bodyPr>
          <a:lstStyle/>
          <a:p>
            <a:pPr algn="ctr">
              <a:lnSpc>
                <a:spcPts val="9926"/>
              </a:lnSpc>
              <a:spcBef>
                <a:spcPct val="0"/>
              </a:spcBef>
            </a:pPr>
            <a:r>
              <a:rPr lang="en-US" sz="7090" b="1">
                <a:solidFill>
                  <a:srgbClr val="FFFFFF"/>
                </a:solidFill>
                <a:latin typeface="Poppins Bold"/>
                <a:ea typeface="Poppins Bold"/>
                <a:cs typeface="Poppins Bold"/>
                <a:sym typeface="Poppins Bold"/>
              </a:rPr>
              <a:t>THE EPIDEMIC MODEL</a:t>
            </a:r>
          </a:p>
        </p:txBody>
      </p:sp>
      <p:sp>
        <p:nvSpPr>
          <p:cNvPr id="25" name="TextBox 25"/>
          <p:cNvSpPr txBox="1"/>
          <p:nvPr/>
        </p:nvSpPr>
        <p:spPr>
          <a:xfrm>
            <a:off x="750570" y="1946470"/>
            <a:ext cx="3881384"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Open Sans Bold"/>
                <a:ea typeface="Open Sans Bold"/>
                <a:cs typeface="Open Sans Bold"/>
                <a:sym typeface="Open Sans Bold"/>
              </a:rPr>
              <a:t>SEIR model</a:t>
            </a:r>
          </a:p>
        </p:txBody>
      </p:sp>
      <p:sp>
        <p:nvSpPr>
          <p:cNvPr id="26" name="TextBox 26"/>
          <p:cNvSpPr txBox="1"/>
          <p:nvPr/>
        </p:nvSpPr>
        <p:spPr>
          <a:xfrm>
            <a:off x="4346918" y="3895528"/>
            <a:ext cx="285036" cy="580390"/>
          </a:xfrm>
          <a:prstGeom prst="rect">
            <a:avLst/>
          </a:prstGeom>
        </p:spPr>
        <p:txBody>
          <a:bodyPr lIns="0" tIns="0" rIns="0" bIns="0" rtlCol="0" anchor="t">
            <a:spAutoFit/>
          </a:bodyPr>
          <a:lstStyle/>
          <a:p>
            <a:pPr algn="ctr">
              <a:lnSpc>
                <a:spcPts val="4759"/>
              </a:lnSpc>
            </a:pPr>
            <a:r>
              <a:rPr lang="en-US" sz="3399" b="1">
                <a:solidFill>
                  <a:srgbClr val="FEFEFE"/>
                </a:solidFill>
                <a:latin typeface="Open Sans Bold"/>
                <a:ea typeface="Open Sans Bold"/>
                <a:cs typeface="Open Sans Bold"/>
                <a:sym typeface="Open Sans Bold"/>
              </a:rPr>
              <a:t>β</a:t>
            </a:r>
          </a:p>
        </p:txBody>
      </p:sp>
      <p:sp>
        <p:nvSpPr>
          <p:cNvPr id="27" name="TextBox 27"/>
          <p:cNvSpPr txBox="1"/>
          <p:nvPr/>
        </p:nvSpPr>
        <p:spPr>
          <a:xfrm>
            <a:off x="13520824" y="3895528"/>
            <a:ext cx="245269" cy="580390"/>
          </a:xfrm>
          <a:prstGeom prst="rect">
            <a:avLst/>
          </a:prstGeom>
        </p:spPr>
        <p:txBody>
          <a:bodyPr lIns="0" tIns="0" rIns="0" bIns="0" rtlCol="0" anchor="t">
            <a:spAutoFit/>
          </a:bodyPr>
          <a:lstStyle/>
          <a:p>
            <a:pPr algn="ctr">
              <a:lnSpc>
                <a:spcPts val="4759"/>
              </a:lnSpc>
            </a:pPr>
            <a:r>
              <a:rPr lang="en-US" sz="3399" b="1">
                <a:solidFill>
                  <a:srgbClr val="FEFEFE"/>
                </a:solidFill>
                <a:latin typeface="Open Sans Bold"/>
                <a:ea typeface="Open Sans Bold"/>
                <a:cs typeface="Open Sans Bold"/>
                <a:sym typeface="Open Sans Bold"/>
              </a:rPr>
              <a:t>γ</a:t>
            </a:r>
          </a:p>
        </p:txBody>
      </p:sp>
      <p:sp>
        <p:nvSpPr>
          <p:cNvPr id="28" name="TextBox 28"/>
          <p:cNvSpPr txBox="1"/>
          <p:nvPr/>
        </p:nvSpPr>
        <p:spPr>
          <a:xfrm>
            <a:off x="8972853" y="3895528"/>
            <a:ext cx="281940" cy="580390"/>
          </a:xfrm>
          <a:prstGeom prst="rect">
            <a:avLst/>
          </a:prstGeom>
        </p:spPr>
        <p:txBody>
          <a:bodyPr lIns="0" tIns="0" rIns="0" bIns="0" rtlCol="0" anchor="t">
            <a:spAutoFit/>
          </a:bodyPr>
          <a:lstStyle/>
          <a:p>
            <a:pPr algn="ctr">
              <a:lnSpc>
                <a:spcPts val="4759"/>
              </a:lnSpc>
            </a:pPr>
            <a:r>
              <a:rPr lang="en-US" sz="3399" b="1">
                <a:solidFill>
                  <a:srgbClr val="FEFEFE"/>
                </a:solidFill>
                <a:latin typeface="Open Sans Bold"/>
                <a:ea typeface="Open Sans Bold"/>
                <a:cs typeface="Open Sans Bold"/>
                <a:sym typeface="Open Sans Bold"/>
              </a:rPr>
              <a:t>σ</a:t>
            </a:r>
          </a:p>
        </p:txBody>
      </p:sp>
      <p:sp>
        <p:nvSpPr>
          <p:cNvPr id="29" name="TextBox 29"/>
          <p:cNvSpPr txBox="1"/>
          <p:nvPr/>
        </p:nvSpPr>
        <p:spPr>
          <a:xfrm>
            <a:off x="846827" y="7578877"/>
            <a:ext cx="6120029" cy="1189990"/>
          </a:xfrm>
          <a:prstGeom prst="rect">
            <a:avLst/>
          </a:prstGeom>
        </p:spPr>
        <p:txBody>
          <a:bodyPr lIns="0" tIns="0" rIns="0" bIns="0" rtlCol="0" anchor="t">
            <a:spAutoFit/>
          </a:bodyPr>
          <a:lstStyle/>
          <a:p>
            <a:pPr algn="l">
              <a:lnSpc>
                <a:spcPts val="4759"/>
              </a:lnSpc>
            </a:pPr>
            <a:r>
              <a:rPr lang="en-US" sz="3399">
                <a:solidFill>
                  <a:srgbClr val="FEFEFE"/>
                </a:solidFill>
                <a:latin typeface="Roboto"/>
                <a:ea typeface="Roboto"/>
                <a:cs typeface="Roboto"/>
                <a:sym typeface="Roboto"/>
              </a:rPr>
              <a:t>β = Transmission rate ≈ γ*R0</a:t>
            </a:r>
          </a:p>
          <a:p>
            <a:pPr algn="l">
              <a:lnSpc>
                <a:spcPts val="4759"/>
              </a:lnSpc>
            </a:pPr>
            <a:endParaRPr lang="en-US" sz="3399">
              <a:solidFill>
                <a:srgbClr val="FEFEFE"/>
              </a:solidFill>
              <a:latin typeface="Roboto"/>
              <a:ea typeface="Roboto"/>
              <a:cs typeface="Roboto"/>
              <a:sym typeface="Roboto"/>
            </a:endParaRPr>
          </a:p>
        </p:txBody>
      </p:sp>
      <p:sp>
        <p:nvSpPr>
          <p:cNvPr id="30" name="TextBox 30"/>
          <p:cNvSpPr txBox="1"/>
          <p:nvPr/>
        </p:nvSpPr>
        <p:spPr>
          <a:xfrm>
            <a:off x="891540" y="8283092"/>
            <a:ext cx="7618366" cy="589915"/>
          </a:xfrm>
          <a:prstGeom prst="rect">
            <a:avLst/>
          </a:prstGeom>
        </p:spPr>
        <p:txBody>
          <a:bodyPr lIns="0" tIns="0" rIns="0" bIns="0" rtlCol="0" anchor="t">
            <a:spAutoFit/>
          </a:bodyPr>
          <a:lstStyle/>
          <a:p>
            <a:pPr algn="l">
              <a:lnSpc>
                <a:spcPts val="4759"/>
              </a:lnSpc>
            </a:pPr>
            <a:r>
              <a:rPr lang="en-US" sz="3399">
                <a:solidFill>
                  <a:srgbClr val="FEFEFE"/>
                </a:solidFill>
                <a:latin typeface="Roboto"/>
                <a:ea typeface="Roboto"/>
                <a:cs typeface="Roboto"/>
                <a:sym typeface="Roboto"/>
              </a:rPr>
              <a:t>σ = Infection rate = 1/Latent period </a:t>
            </a:r>
          </a:p>
        </p:txBody>
      </p:sp>
      <p:sp>
        <p:nvSpPr>
          <p:cNvPr id="31" name="TextBox 31"/>
          <p:cNvSpPr txBox="1"/>
          <p:nvPr/>
        </p:nvSpPr>
        <p:spPr>
          <a:xfrm>
            <a:off x="891540" y="8987308"/>
            <a:ext cx="8363253" cy="589915"/>
          </a:xfrm>
          <a:prstGeom prst="rect">
            <a:avLst/>
          </a:prstGeom>
        </p:spPr>
        <p:txBody>
          <a:bodyPr lIns="0" tIns="0" rIns="0" bIns="0" rtlCol="0" anchor="t">
            <a:spAutoFit/>
          </a:bodyPr>
          <a:lstStyle/>
          <a:p>
            <a:pPr algn="l">
              <a:lnSpc>
                <a:spcPts val="4759"/>
              </a:lnSpc>
            </a:pPr>
            <a:r>
              <a:rPr lang="en-US" sz="3399">
                <a:solidFill>
                  <a:srgbClr val="FEFEFE"/>
                </a:solidFill>
                <a:latin typeface="Roboto"/>
                <a:ea typeface="Roboto"/>
                <a:cs typeface="Roboto"/>
                <a:sym typeface="Roboto"/>
              </a:rPr>
              <a:t>γ = Recovery rate = 1/Infectious period </a:t>
            </a:r>
          </a:p>
        </p:txBody>
      </p:sp>
      <p:sp>
        <p:nvSpPr>
          <p:cNvPr id="32" name="TextBox 32"/>
          <p:cNvSpPr txBox="1"/>
          <p:nvPr/>
        </p:nvSpPr>
        <p:spPr>
          <a:xfrm>
            <a:off x="822771" y="6874662"/>
            <a:ext cx="17465229" cy="589915"/>
          </a:xfrm>
          <a:prstGeom prst="rect">
            <a:avLst/>
          </a:prstGeom>
        </p:spPr>
        <p:txBody>
          <a:bodyPr lIns="0" tIns="0" rIns="0" bIns="0" rtlCol="0" anchor="t">
            <a:spAutoFit/>
          </a:bodyPr>
          <a:lstStyle/>
          <a:p>
            <a:pPr algn="l">
              <a:lnSpc>
                <a:spcPts val="4759"/>
              </a:lnSpc>
            </a:pPr>
            <a:r>
              <a:rPr lang="en-US" sz="3399" b="1">
                <a:solidFill>
                  <a:srgbClr val="FEFEFE"/>
                </a:solidFill>
                <a:latin typeface="Roboto Bold"/>
                <a:ea typeface="Roboto Bold"/>
                <a:cs typeface="Roboto Bold"/>
                <a:sym typeface="Roboto Bold"/>
              </a:rPr>
              <a:t>R0 = Basic reproduction number. Key value, higher rate means increased aggressiveness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TextBox 2"/>
          <p:cNvSpPr txBox="1"/>
          <p:nvPr/>
        </p:nvSpPr>
        <p:spPr>
          <a:xfrm>
            <a:off x="4444067" y="280551"/>
            <a:ext cx="9399865" cy="1286748"/>
          </a:xfrm>
          <a:prstGeom prst="rect">
            <a:avLst/>
          </a:prstGeom>
        </p:spPr>
        <p:txBody>
          <a:bodyPr lIns="0" tIns="0" rIns="0" bIns="0" rtlCol="0" anchor="t">
            <a:spAutoFit/>
          </a:bodyPr>
          <a:lstStyle/>
          <a:p>
            <a:pPr algn="ctr">
              <a:lnSpc>
                <a:spcPts val="9926"/>
              </a:lnSpc>
              <a:spcBef>
                <a:spcPct val="0"/>
              </a:spcBef>
            </a:pPr>
            <a:r>
              <a:rPr lang="en-US" sz="7090" b="1">
                <a:solidFill>
                  <a:srgbClr val="FFFFFF"/>
                </a:solidFill>
                <a:latin typeface="Poppins Bold"/>
                <a:ea typeface="Poppins Bold"/>
                <a:cs typeface="Poppins Bold"/>
                <a:sym typeface="Poppins Bold"/>
              </a:rPr>
              <a:t>THE EPIDEMIC MODEL</a:t>
            </a:r>
          </a:p>
        </p:txBody>
      </p:sp>
      <p:sp>
        <p:nvSpPr>
          <p:cNvPr id="3" name="TextBox 3"/>
          <p:cNvSpPr txBox="1"/>
          <p:nvPr/>
        </p:nvSpPr>
        <p:spPr>
          <a:xfrm>
            <a:off x="741854" y="1840186"/>
            <a:ext cx="16804292" cy="887095"/>
          </a:xfrm>
          <a:prstGeom prst="rect">
            <a:avLst/>
          </a:prstGeom>
        </p:spPr>
        <p:txBody>
          <a:bodyPr lIns="0" tIns="0" rIns="0" bIns="0" rtlCol="0" anchor="t">
            <a:spAutoFit/>
          </a:bodyPr>
          <a:lstStyle/>
          <a:p>
            <a:pPr algn="l">
              <a:lnSpc>
                <a:spcPts val="7279"/>
              </a:lnSpc>
            </a:pPr>
            <a:r>
              <a:rPr lang="en-US" sz="5199" b="1">
                <a:solidFill>
                  <a:srgbClr val="FFFFFF"/>
                </a:solidFill>
                <a:latin typeface="Open Sans Bold"/>
                <a:ea typeface="Open Sans Bold"/>
                <a:cs typeface="Open Sans Bold"/>
                <a:sym typeface="Open Sans Bold"/>
              </a:rPr>
              <a:t>Stochastic SEIR model: breakdown on a single node</a:t>
            </a:r>
          </a:p>
        </p:txBody>
      </p:sp>
      <p:sp>
        <p:nvSpPr>
          <p:cNvPr id="4" name="TextBox 4"/>
          <p:cNvSpPr txBox="1"/>
          <p:nvPr/>
        </p:nvSpPr>
        <p:spPr>
          <a:xfrm>
            <a:off x="192001" y="3019218"/>
            <a:ext cx="17705966" cy="6590665"/>
          </a:xfrm>
          <a:prstGeom prst="rect">
            <a:avLst/>
          </a:prstGeom>
        </p:spPr>
        <p:txBody>
          <a:bodyPr lIns="0" tIns="0" rIns="0" bIns="0" rtlCol="0" anchor="t">
            <a:spAutoFit/>
          </a:bodyPr>
          <a:lstStyle/>
          <a:p>
            <a:pPr marL="734059" lvl="1" indent="-367030" algn="l">
              <a:lnSpc>
                <a:spcPts val="4759"/>
              </a:lnSpc>
              <a:buFont typeface="Arial"/>
              <a:buChar char="•"/>
            </a:pPr>
            <a:r>
              <a:rPr lang="en-US" sz="3399" b="1">
                <a:solidFill>
                  <a:srgbClr val="FFFFFF"/>
                </a:solidFill>
                <a:latin typeface="Roboto Bold"/>
                <a:ea typeface="Roboto Bold"/>
                <a:cs typeface="Roboto Bold"/>
                <a:sym typeface="Roboto Bold"/>
              </a:rPr>
              <a:t>The Probability</a:t>
            </a:r>
            <a:r>
              <a:rPr lang="en-US" sz="3399">
                <a:solidFill>
                  <a:srgbClr val="FFFFFF"/>
                </a:solidFill>
                <a:latin typeface="Roboto"/>
                <a:ea typeface="Roboto"/>
                <a:cs typeface="Roboto"/>
                <a:sym typeface="Roboto"/>
              </a:rPr>
              <a:t>: Continuous rates (like β or γ) are converted into discrete probabilities using </a:t>
            </a:r>
          </a:p>
          <a:p>
            <a:pPr algn="l">
              <a:lnSpc>
                <a:spcPts val="4759"/>
              </a:lnSpc>
            </a:pPr>
            <a:r>
              <a:rPr lang="en-US" sz="3399">
                <a:solidFill>
                  <a:srgbClr val="FFFFFF"/>
                </a:solidFill>
                <a:latin typeface="Roboto"/>
                <a:ea typeface="Roboto"/>
                <a:cs typeface="Roboto"/>
                <a:sym typeface="Roboto"/>
              </a:rPr>
              <a:t>      </a:t>
            </a:r>
          </a:p>
          <a:p>
            <a:pPr algn="l">
              <a:lnSpc>
                <a:spcPts val="4759"/>
              </a:lnSpc>
            </a:pPr>
            <a:r>
              <a:rPr lang="en-US" sz="3399">
                <a:solidFill>
                  <a:srgbClr val="FFFFFF"/>
                </a:solidFill>
                <a:latin typeface="Roboto"/>
                <a:ea typeface="Roboto"/>
                <a:cs typeface="Roboto"/>
                <a:sym typeface="Roboto"/>
              </a:rPr>
              <a:t>      This calculates the chance of a single individual transitioning within the time step dT.</a:t>
            </a:r>
          </a:p>
          <a:p>
            <a:pPr algn="l">
              <a:lnSpc>
                <a:spcPts val="4759"/>
              </a:lnSpc>
            </a:pPr>
            <a:endParaRPr lang="en-US" sz="3399">
              <a:solidFill>
                <a:srgbClr val="FFFFFF"/>
              </a:solidFill>
              <a:latin typeface="Roboto"/>
              <a:ea typeface="Roboto"/>
              <a:cs typeface="Roboto"/>
              <a:sym typeface="Roboto"/>
            </a:endParaRPr>
          </a:p>
          <a:p>
            <a:pPr marL="734059" lvl="1" indent="-367030" algn="l">
              <a:lnSpc>
                <a:spcPts val="4759"/>
              </a:lnSpc>
              <a:buFont typeface="Arial"/>
              <a:buChar char="•"/>
            </a:pPr>
            <a:r>
              <a:rPr lang="en-US" sz="3399" b="1">
                <a:solidFill>
                  <a:srgbClr val="FFFFFF"/>
                </a:solidFill>
                <a:latin typeface="Roboto Bold"/>
                <a:ea typeface="Roboto Bold"/>
                <a:cs typeface="Roboto Bold"/>
                <a:sym typeface="Roboto Bold"/>
              </a:rPr>
              <a:t>The Usage</a:t>
            </a:r>
            <a:r>
              <a:rPr lang="en-US" sz="3399">
                <a:solidFill>
                  <a:srgbClr val="FFFFFF"/>
                </a:solidFill>
                <a:latin typeface="Roboto"/>
                <a:ea typeface="Roboto"/>
                <a:cs typeface="Roboto"/>
                <a:sym typeface="Roboto"/>
              </a:rPr>
              <a:t>: These probabilities act as the "success rate" in a Binomial distribution. The model treats each subsceptible as an independent trial.</a:t>
            </a:r>
          </a:p>
          <a:p>
            <a:pPr algn="l">
              <a:lnSpc>
                <a:spcPts val="4759"/>
              </a:lnSpc>
            </a:pPr>
            <a:endParaRPr lang="en-US" sz="3399">
              <a:solidFill>
                <a:srgbClr val="FFFFFF"/>
              </a:solidFill>
              <a:latin typeface="Roboto"/>
              <a:ea typeface="Roboto"/>
              <a:cs typeface="Roboto"/>
              <a:sym typeface="Roboto"/>
            </a:endParaRPr>
          </a:p>
          <a:p>
            <a:pPr marL="734059" lvl="1" indent="-367030" algn="l">
              <a:lnSpc>
                <a:spcPts val="4759"/>
              </a:lnSpc>
              <a:buFont typeface="Arial"/>
              <a:buChar char="•"/>
            </a:pPr>
            <a:r>
              <a:rPr lang="en-US" sz="3399" b="1">
                <a:solidFill>
                  <a:srgbClr val="FFFFFF"/>
                </a:solidFill>
                <a:latin typeface="Roboto Bold"/>
                <a:ea typeface="Roboto Bold"/>
                <a:cs typeface="Roboto Bold"/>
                <a:sym typeface="Roboto Bold"/>
              </a:rPr>
              <a:t>Why Integers</a:t>
            </a:r>
            <a:r>
              <a:rPr lang="en-US" sz="3399">
                <a:solidFill>
                  <a:srgbClr val="FFFFFF"/>
                </a:solidFill>
                <a:latin typeface="Roboto"/>
                <a:ea typeface="Roboto"/>
                <a:cs typeface="Roboto"/>
                <a:sym typeface="Roboto"/>
              </a:rPr>
              <a:t>: Because the Binomial distribution samples a specific count of successes, the output is always a whole number. This prevents "fractional people" and captures the natural randomness (stochasticity) of real-world outbreaks.</a:t>
            </a:r>
          </a:p>
        </p:txBody>
      </p:sp>
      <p:pic>
        <p:nvPicPr>
          <p:cNvPr id="5" name="Picture 5"/>
          <p:cNvPicPr>
            <a:picLocks noChangeAspect="1"/>
          </p:cNvPicPr>
          <p:nvPr/>
        </p:nvPicPr>
        <p:blipFill>
          <a:blip r:embed="rId2"/>
          <a:stretch>
            <a:fillRect/>
          </a:stretch>
        </p:blipFill>
        <p:spPr>
          <a:xfrm>
            <a:off x="7566978" y="3842183"/>
            <a:ext cx="2956012" cy="106113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rot="2700000">
            <a:off x="3437609" y="4181646"/>
            <a:ext cx="1201712" cy="1201712"/>
          </a:xfrm>
          <a:custGeom>
            <a:avLst/>
            <a:gdLst/>
            <a:ahLst/>
            <a:cxnLst/>
            <a:rect l="l" t="t" r="r" b="b"/>
            <a:pathLst>
              <a:path w="1201712" h="1201712">
                <a:moveTo>
                  <a:pt x="0" y="0"/>
                </a:moveTo>
                <a:lnTo>
                  <a:pt x="1201712" y="0"/>
                </a:lnTo>
                <a:lnTo>
                  <a:pt x="1201712" y="1201712"/>
                </a:lnTo>
                <a:lnTo>
                  <a:pt x="0" y="120171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grpSp>
        <p:nvGrpSpPr>
          <p:cNvPr id="3" name="Group 3"/>
          <p:cNvGrpSpPr/>
          <p:nvPr/>
        </p:nvGrpSpPr>
        <p:grpSpPr>
          <a:xfrm>
            <a:off x="1028700" y="3964671"/>
            <a:ext cx="1635663" cy="163566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A700"/>
            </a:solidFill>
          </p:spPr>
          <p:txBody>
            <a:bodyPr/>
            <a:lstStyle/>
            <a:p>
              <a:endParaRPr lang="it-IT"/>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5568977" y="3964671"/>
            <a:ext cx="1635663" cy="16356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07E"/>
            </a:solidFill>
          </p:spPr>
          <p:txBody>
            <a:bodyPr/>
            <a:lstStyle/>
            <a:p>
              <a:endParaRPr lang="it-IT"/>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028700" y="3964671"/>
            <a:ext cx="817832" cy="817832"/>
            <a:chOff x="0" y="0"/>
            <a:chExt cx="558800" cy="558800"/>
          </a:xfrm>
        </p:grpSpPr>
        <p:sp>
          <p:nvSpPr>
            <p:cNvPr id="10" name="Freeform 10"/>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E00000"/>
            </a:solidFill>
          </p:spPr>
          <p:txBody>
            <a:bodyPr/>
            <a:lstStyle/>
            <a:p>
              <a:endParaRPr lang="it-IT"/>
            </a:p>
          </p:txBody>
        </p:sp>
        <p:sp>
          <p:nvSpPr>
            <p:cNvPr id="11" name="TextBox 11"/>
            <p:cNvSpPr txBox="1"/>
            <p:nvPr/>
          </p:nvSpPr>
          <p:spPr>
            <a:xfrm>
              <a:off x="165100" y="127000"/>
              <a:ext cx="393700" cy="431800"/>
            </a:xfrm>
            <a:prstGeom prst="rect">
              <a:avLst/>
            </a:prstGeom>
          </p:spPr>
          <p:txBody>
            <a:bodyPr lIns="50800" tIns="50800" rIns="50800" bIns="50800" rtlCol="0" anchor="ctr"/>
            <a:lstStyle/>
            <a:p>
              <a:pPr algn="ctr">
                <a:lnSpc>
                  <a:spcPts val="2659"/>
                </a:lnSpc>
              </a:pPr>
              <a:endParaRPr/>
            </a:p>
          </p:txBody>
        </p:sp>
      </p:grpSp>
      <p:sp>
        <p:nvSpPr>
          <p:cNvPr id="12" name="AutoShape 12"/>
          <p:cNvSpPr/>
          <p:nvPr/>
        </p:nvSpPr>
        <p:spPr>
          <a:xfrm>
            <a:off x="2664363" y="4782502"/>
            <a:ext cx="2929141" cy="51233"/>
          </a:xfrm>
          <a:prstGeom prst="line">
            <a:avLst/>
          </a:prstGeom>
          <a:ln w="38100" cap="flat">
            <a:solidFill>
              <a:srgbClr val="000000"/>
            </a:solidFill>
            <a:prstDash val="sysDot"/>
            <a:headEnd type="none" w="sm" len="sm"/>
            <a:tailEnd type="arrow" w="med" len="sm"/>
          </a:ln>
        </p:spPr>
        <p:txBody>
          <a:bodyPr/>
          <a:lstStyle/>
          <a:p>
            <a:endParaRPr lang="it-IT"/>
          </a:p>
        </p:txBody>
      </p:sp>
      <p:sp>
        <p:nvSpPr>
          <p:cNvPr id="13" name="Freeform 13"/>
          <p:cNvSpPr/>
          <p:nvPr/>
        </p:nvSpPr>
        <p:spPr>
          <a:xfrm>
            <a:off x="1846532" y="3964671"/>
            <a:ext cx="661421" cy="817832"/>
          </a:xfrm>
          <a:custGeom>
            <a:avLst/>
            <a:gdLst/>
            <a:ahLst/>
            <a:cxnLst/>
            <a:rect l="l" t="t" r="r" b="b"/>
            <a:pathLst>
              <a:path w="661421" h="817832">
                <a:moveTo>
                  <a:pt x="0" y="0"/>
                </a:moveTo>
                <a:lnTo>
                  <a:pt x="661421" y="0"/>
                </a:lnTo>
                <a:lnTo>
                  <a:pt x="661421" y="817831"/>
                </a:lnTo>
                <a:lnTo>
                  <a:pt x="0" y="81783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t-IT"/>
          </a:p>
        </p:txBody>
      </p:sp>
      <p:grpSp>
        <p:nvGrpSpPr>
          <p:cNvPr id="14" name="Group 14"/>
          <p:cNvGrpSpPr/>
          <p:nvPr/>
        </p:nvGrpSpPr>
        <p:grpSpPr>
          <a:xfrm>
            <a:off x="1028700" y="7890058"/>
            <a:ext cx="1635663" cy="16356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07E"/>
            </a:solidFill>
          </p:spPr>
          <p:txBody>
            <a:bodyPr/>
            <a:lstStyle/>
            <a:p>
              <a:endParaRPr lang="it-IT"/>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28700" y="7890058"/>
            <a:ext cx="817832" cy="817832"/>
            <a:chOff x="0" y="0"/>
            <a:chExt cx="558800" cy="558800"/>
          </a:xfrm>
        </p:grpSpPr>
        <p:sp>
          <p:nvSpPr>
            <p:cNvPr id="18" name="Freeform 18"/>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E00000"/>
            </a:solidFill>
          </p:spPr>
          <p:txBody>
            <a:bodyPr/>
            <a:lstStyle/>
            <a:p>
              <a:endParaRPr lang="it-IT"/>
            </a:p>
          </p:txBody>
        </p:sp>
        <p:sp>
          <p:nvSpPr>
            <p:cNvPr id="19" name="TextBox 19"/>
            <p:cNvSpPr txBox="1"/>
            <p:nvPr/>
          </p:nvSpPr>
          <p:spPr>
            <a:xfrm>
              <a:off x="165100" y="127000"/>
              <a:ext cx="393700" cy="4318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a:off x="1844232" y="7890058"/>
            <a:ext cx="663721" cy="820675"/>
          </a:xfrm>
          <a:custGeom>
            <a:avLst/>
            <a:gdLst/>
            <a:ahLst/>
            <a:cxnLst/>
            <a:rect l="l" t="t" r="r" b="b"/>
            <a:pathLst>
              <a:path w="663721" h="820675">
                <a:moveTo>
                  <a:pt x="0" y="0"/>
                </a:moveTo>
                <a:lnTo>
                  <a:pt x="663721" y="0"/>
                </a:lnTo>
                <a:lnTo>
                  <a:pt x="663721" y="820675"/>
                </a:lnTo>
                <a:lnTo>
                  <a:pt x="0" y="82067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it-IT"/>
          </a:p>
        </p:txBody>
      </p:sp>
      <p:sp>
        <p:nvSpPr>
          <p:cNvPr id="21" name="Freeform 21"/>
          <p:cNvSpPr/>
          <p:nvPr/>
        </p:nvSpPr>
        <p:spPr>
          <a:xfrm rot="188825">
            <a:off x="3515814" y="6258792"/>
            <a:ext cx="1201712" cy="1201712"/>
          </a:xfrm>
          <a:custGeom>
            <a:avLst/>
            <a:gdLst/>
            <a:ahLst/>
            <a:cxnLst/>
            <a:rect l="l" t="t" r="r" b="b"/>
            <a:pathLst>
              <a:path w="1201712" h="1201712">
                <a:moveTo>
                  <a:pt x="0" y="0"/>
                </a:moveTo>
                <a:lnTo>
                  <a:pt x="1201712" y="0"/>
                </a:lnTo>
                <a:lnTo>
                  <a:pt x="1201712" y="1201712"/>
                </a:lnTo>
                <a:lnTo>
                  <a:pt x="0" y="120171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22" name="AutoShape 22"/>
          <p:cNvSpPr/>
          <p:nvPr/>
        </p:nvSpPr>
        <p:spPr>
          <a:xfrm flipV="1">
            <a:off x="2530422" y="5288659"/>
            <a:ext cx="3213961" cy="3010315"/>
          </a:xfrm>
          <a:prstGeom prst="line">
            <a:avLst/>
          </a:prstGeom>
          <a:ln w="38100" cap="flat">
            <a:solidFill>
              <a:srgbClr val="000000"/>
            </a:solidFill>
            <a:prstDash val="sysDot"/>
            <a:headEnd type="none" w="sm" len="sm"/>
            <a:tailEnd type="arrow" w="med" len="sm"/>
          </a:ln>
        </p:spPr>
        <p:txBody>
          <a:bodyPr/>
          <a:lstStyle/>
          <a:p>
            <a:endParaRPr lang="it-IT"/>
          </a:p>
        </p:txBody>
      </p:sp>
      <p:sp>
        <p:nvSpPr>
          <p:cNvPr id="23" name="Freeform 23"/>
          <p:cNvSpPr/>
          <p:nvPr/>
        </p:nvSpPr>
        <p:spPr>
          <a:xfrm rot="3204295">
            <a:off x="2041508" y="8298974"/>
            <a:ext cx="661421" cy="817832"/>
          </a:xfrm>
          <a:custGeom>
            <a:avLst/>
            <a:gdLst/>
            <a:ahLst/>
            <a:cxnLst/>
            <a:rect l="l" t="t" r="r" b="b"/>
            <a:pathLst>
              <a:path w="661421" h="817832">
                <a:moveTo>
                  <a:pt x="0" y="0"/>
                </a:moveTo>
                <a:lnTo>
                  <a:pt x="661421" y="0"/>
                </a:lnTo>
                <a:lnTo>
                  <a:pt x="661421" y="817831"/>
                </a:lnTo>
                <a:lnTo>
                  <a:pt x="0" y="81783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t-IT"/>
          </a:p>
        </p:txBody>
      </p:sp>
      <p:sp>
        <p:nvSpPr>
          <p:cNvPr id="24" name="AutoShape 24"/>
          <p:cNvSpPr/>
          <p:nvPr/>
        </p:nvSpPr>
        <p:spPr>
          <a:xfrm>
            <a:off x="1846532" y="5600334"/>
            <a:ext cx="0" cy="2289724"/>
          </a:xfrm>
          <a:prstGeom prst="line">
            <a:avLst/>
          </a:prstGeom>
          <a:ln w="38100" cap="flat">
            <a:solidFill>
              <a:srgbClr val="000000"/>
            </a:solidFill>
            <a:prstDash val="sysDot"/>
            <a:headEnd type="none" w="sm" len="sm"/>
            <a:tailEnd type="arrow" w="med" len="sm"/>
          </a:ln>
        </p:spPr>
        <p:txBody>
          <a:bodyPr/>
          <a:lstStyle/>
          <a:p>
            <a:endParaRPr lang="it-IT"/>
          </a:p>
        </p:txBody>
      </p:sp>
      <p:sp>
        <p:nvSpPr>
          <p:cNvPr id="25" name="Freeform 25"/>
          <p:cNvSpPr/>
          <p:nvPr/>
        </p:nvSpPr>
        <p:spPr>
          <a:xfrm rot="8165424">
            <a:off x="1277583" y="6041990"/>
            <a:ext cx="1201712" cy="1201712"/>
          </a:xfrm>
          <a:custGeom>
            <a:avLst/>
            <a:gdLst/>
            <a:ahLst/>
            <a:cxnLst/>
            <a:rect l="l" t="t" r="r" b="b"/>
            <a:pathLst>
              <a:path w="1201712" h="1201712">
                <a:moveTo>
                  <a:pt x="0" y="0"/>
                </a:moveTo>
                <a:lnTo>
                  <a:pt x="1201712" y="0"/>
                </a:lnTo>
                <a:lnTo>
                  <a:pt x="1201712" y="1201712"/>
                </a:lnTo>
                <a:lnTo>
                  <a:pt x="0" y="120171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26" name="TextBox 26"/>
          <p:cNvSpPr txBox="1"/>
          <p:nvPr/>
        </p:nvSpPr>
        <p:spPr>
          <a:xfrm>
            <a:off x="4444067" y="280551"/>
            <a:ext cx="9399865" cy="1286748"/>
          </a:xfrm>
          <a:prstGeom prst="rect">
            <a:avLst/>
          </a:prstGeom>
        </p:spPr>
        <p:txBody>
          <a:bodyPr lIns="0" tIns="0" rIns="0" bIns="0" rtlCol="0" anchor="t">
            <a:spAutoFit/>
          </a:bodyPr>
          <a:lstStyle/>
          <a:p>
            <a:pPr algn="ctr">
              <a:lnSpc>
                <a:spcPts val="9926"/>
              </a:lnSpc>
              <a:spcBef>
                <a:spcPct val="0"/>
              </a:spcBef>
            </a:pPr>
            <a:r>
              <a:rPr lang="en-US" sz="7090" b="1">
                <a:solidFill>
                  <a:srgbClr val="FFFFFF"/>
                </a:solidFill>
                <a:latin typeface="Poppins Bold"/>
                <a:ea typeface="Poppins Bold"/>
                <a:cs typeface="Poppins Bold"/>
                <a:sym typeface="Poppins Bold"/>
              </a:rPr>
              <a:t>THE EPIDEMIC MODEL</a:t>
            </a:r>
          </a:p>
        </p:txBody>
      </p:sp>
      <p:sp>
        <p:nvSpPr>
          <p:cNvPr id="27" name="TextBox 27"/>
          <p:cNvSpPr txBox="1"/>
          <p:nvPr/>
        </p:nvSpPr>
        <p:spPr>
          <a:xfrm>
            <a:off x="729139" y="1767269"/>
            <a:ext cx="16804292" cy="887095"/>
          </a:xfrm>
          <a:prstGeom prst="rect">
            <a:avLst/>
          </a:prstGeom>
        </p:spPr>
        <p:txBody>
          <a:bodyPr lIns="0" tIns="0" rIns="0" bIns="0" rtlCol="0" anchor="t">
            <a:spAutoFit/>
          </a:bodyPr>
          <a:lstStyle/>
          <a:p>
            <a:pPr algn="l">
              <a:lnSpc>
                <a:spcPts val="7279"/>
              </a:lnSpc>
            </a:pPr>
            <a:r>
              <a:rPr lang="en-US" sz="5199" b="1">
                <a:solidFill>
                  <a:srgbClr val="FFFFFF"/>
                </a:solidFill>
                <a:latin typeface="Open Sans Bold"/>
                <a:ea typeface="Open Sans Bold"/>
                <a:cs typeface="Open Sans Bold"/>
                <a:sym typeface="Open Sans Bold"/>
              </a:rPr>
              <a:t>Stochastic SEIR model: inter-nodes infection</a:t>
            </a:r>
          </a:p>
        </p:txBody>
      </p:sp>
      <p:sp>
        <p:nvSpPr>
          <p:cNvPr id="28" name="TextBox 28"/>
          <p:cNvSpPr txBox="1"/>
          <p:nvPr/>
        </p:nvSpPr>
        <p:spPr>
          <a:xfrm>
            <a:off x="7728515" y="2997264"/>
            <a:ext cx="10308279" cy="1525857"/>
          </a:xfrm>
          <a:prstGeom prst="rect">
            <a:avLst/>
          </a:prstGeom>
        </p:spPr>
        <p:txBody>
          <a:bodyPr lIns="0" tIns="0" rIns="0" bIns="0" rtlCol="0" anchor="t">
            <a:spAutoFit/>
          </a:bodyPr>
          <a:lstStyle/>
          <a:p>
            <a:pPr marL="631912" lvl="1" indent="-315956" algn="l">
              <a:lnSpc>
                <a:spcPts val="4097"/>
              </a:lnSpc>
              <a:buFont typeface="Arial"/>
              <a:buChar char="•"/>
            </a:pPr>
            <a:r>
              <a:rPr lang="en-US" sz="2926">
                <a:solidFill>
                  <a:srgbClr val="FFFFFF"/>
                </a:solidFill>
                <a:latin typeface="Roboto"/>
                <a:ea typeface="Roboto"/>
                <a:cs typeface="Roboto"/>
                <a:sym typeface="Roboto"/>
              </a:rPr>
              <a:t>Each infected node (I&gt;0)  has a certain probability of infecting successor nodes with at least one susceptible individual</a:t>
            </a:r>
          </a:p>
        </p:txBody>
      </p:sp>
      <p:sp>
        <p:nvSpPr>
          <p:cNvPr id="29" name="TextBox 29"/>
          <p:cNvSpPr txBox="1"/>
          <p:nvPr/>
        </p:nvSpPr>
        <p:spPr>
          <a:xfrm>
            <a:off x="7728515" y="4620153"/>
            <a:ext cx="8328063" cy="523347"/>
          </a:xfrm>
          <a:prstGeom prst="rect">
            <a:avLst/>
          </a:prstGeom>
        </p:spPr>
        <p:txBody>
          <a:bodyPr lIns="0" tIns="0" rIns="0" bIns="0" rtlCol="0" anchor="t">
            <a:spAutoFit/>
          </a:bodyPr>
          <a:lstStyle/>
          <a:p>
            <a:pPr marL="652185" lvl="1" indent="-326093" algn="l">
              <a:lnSpc>
                <a:spcPts val="4229"/>
              </a:lnSpc>
              <a:buFont typeface="Arial"/>
              <a:buChar char="•"/>
            </a:pPr>
            <a:r>
              <a:rPr lang="en-US" sz="3020">
                <a:solidFill>
                  <a:srgbClr val="FFFFFF"/>
                </a:solidFill>
                <a:latin typeface="Roboto"/>
                <a:ea typeface="Roboto"/>
                <a:cs typeface="Roboto"/>
                <a:sym typeface="Roboto"/>
              </a:rPr>
              <a:t>Daily flights are treated in 2 different ways</a:t>
            </a:r>
          </a:p>
        </p:txBody>
      </p:sp>
      <p:sp>
        <p:nvSpPr>
          <p:cNvPr id="30" name="TextBox 30"/>
          <p:cNvSpPr txBox="1"/>
          <p:nvPr/>
        </p:nvSpPr>
        <p:spPr>
          <a:xfrm>
            <a:off x="6470143" y="3465552"/>
            <a:ext cx="734497" cy="32321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Open Sans"/>
                <a:ea typeface="Open Sans"/>
                <a:cs typeface="Open Sans"/>
                <a:sym typeface="Open Sans"/>
              </a:rPr>
              <a:t>Node i</a:t>
            </a:r>
          </a:p>
        </p:txBody>
      </p:sp>
      <p:sp>
        <p:nvSpPr>
          <p:cNvPr id="31" name="TextBox 31"/>
          <p:cNvSpPr txBox="1"/>
          <p:nvPr/>
        </p:nvSpPr>
        <p:spPr>
          <a:xfrm>
            <a:off x="750570" y="3465552"/>
            <a:ext cx="800100" cy="32321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Open Sans"/>
                <a:ea typeface="Open Sans"/>
                <a:cs typeface="Open Sans"/>
                <a:sym typeface="Open Sans"/>
              </a:rPr>
              <a:t>Node k</a:t>
            </a:r>
          </a:p>
        </p:txBody>
      </p:sp>
      <p:sp>
        <p:nvSpPr>
          <p:cNvPr id="32" name="TextBox 32"/>
          <p:cNvSpPr txBox="1"/>
          <p:nvPr/>
        </p:nvSpPr>
        <p:spPr>
          <a:xfrm>
            <a:off x="729139" y="9659071"/>
            <a:ext cx="821531" cy="32321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Open Sans"/>
                <a:ea typeface="Open Sans"/>
                <a:cs typeface="Open Sans"/>
                <a:sym typeface="Open Sans"/>
              </a:rPr>
              <a:t>Node u</a:t>
            </a:r>
          </a:p>
        </p:txBody>
      </p:sp>
      <p:sp>
        <p:nvSpPr>
          <p:cNvPr id="33" name="TextBox 33"/>
          <p:cNvSpPr txBox="1"/>
          <p:nvPr/>
        </p:nvSpPr>
        <p:spPr>
          <a:xfrm>
            <a:off x="8000653" y="5195323"/>
            <a:ext cx="9764001" cy="1562278"/>
          </a:xfrm>
          <a:prstGeom prst="rect">
            <a:avLst/>
          </a:prstGeom>
        </p:spPr>
        <p:txBody>
          <a:bodyPr lIns="0" tIns="0" rIns="0" bIns="0" rtlCol="0" anchor="t">
            <a:spAutoFit/>
          </a:bodyPr>
          <a:lstStyle/>
          <a:p>
            <a:pPr marL="484261" lvl="1" indent="-242131" algn="l">
              <a:lnSpc>
                <a:spcPts val="3140"/>
              </a:lnSpc>
              <a:buAutoNum type="arabicPeriod"/>
            </a:pPr>
            <a:r>
              <a:rPr lang="en-US" sz="2242">
                <a:solidFill>
                  <a:srgbClr val="FFFFFF"/>
                </a:solidFill>
                <a:latin typeface="Roboto"/>
                <a:ea typeface="Roboto"/>
                <a:cs typeface="Roboto"/>
                <a:sym typeface="Roboto"/>
              </a:rPr>
              <a:t>Taken from Poisson distribution with mean equal to the edge’s weight if mean flights are less than 20</a:t>
            </a:r>
          </a:p>
          <a:p>
            <a:pPr marL="484261" lvl="1" indent="-242131" algn="l">
              <a:lnSpc>
                <a:spcPts val="3140"/>
              </a:lnSpc>
              <a:buAutoNum type="arabicPeriod"/>
            </a:pPr>
            <a:r>
              <a:rPr lang="en-US" sz="2242">
                <a:solidFill>
                  <a:srgbClr val="FFFFFF"/>
                </a:solidFill>
                <a:latin typeface="Roboto"/>
                <a:ea typeface="Roboto"/>
                <a:cs typeface="Roboto"/>
                <a:sym typeface="Roboto"/>
              </a:rPr>
              <a:t>Treated as a deterministic value but with a probability of cancellation of 2% if mean flights are equal or more than 20</a:t>
            </a:r>
          </a:p>
        </p:txBody>
      </p:sp>
      <p:grpSp>
        <p:nvGrpSpPr>
          <p:cNvPr id="34" name="Group 34"/>
          <p:cNvGrpSpPr/>
          <p:nvPr/>
        </p:nvGrpSpPr>
        <p:grpSpPr>
          <a:xfrm>
            <a:off x="8336751" y="7492431"/>
            <a:ext cx="9091805" cy="2511449"/>
            <a:chOff x="0" y="0"/>
            <a:chExt cx="12122407" cy="3348599"/>
          </a:xfrm>
        </p:grpSpPr>
        <p:sp>
          <p:nvSpPr>
            <p:cNvPr id="35" name="Freeform 35"/>
            <p:cNvSpPr/>
            <p:nvPr/>
          </p:nvSpPr>
          <p:spPr>
            <a:xfrm>
              <a:off x="0" y="0"/>
              <a:ext cx="4818932" cy="922774"/>
            </a:xfrm>
            <a:custGeom>
              <a:avLst/>
              <a:gdLst/>
              <a:ahLst/>
              <a:cxnLst/>
              <a:rect l="l" t="t" r="r" b="b"/>
              <a:pathLst>
                <a:path w="4818932" h="922774">
                  <a:moveTo>
                    <a:pt x="0" y="0"/>
                  </a:moveTo>
                  <a:lnTo>
                    <a:pt x="4818932" y="0"/>
                  </a:lnTo>
                  <a:lnTo>
                    <a:pt x="4818932" y="922774"/>
                  </a:lnTo>
                  <a:lnTo>
                    <a:pt x="0" y="922774"/>
                  </a:lnTo>
                  <a:lnTo>
                    <a:pt x="0" y="0"/>
                  </a:lnTo>
                  <a:close/>
                </a:path>
              </a:pathLst>
            </a:custGeom>
            <a:blipFill>
              <a:blip r:embed="rId5"/>
              <a:stretch>
                <a:fillRect/>
              </a:stretch>
            </a:blipFill>
          </p:spPr>
          <p:txBody>
            <a:bodyPr/>
            <a:lstStyle/>
            <a:p>
              <a:endParaRPr lang="it-IT"/>
            </a:p>
          </p:txBody>
        </p:sp>
        <p:sp>
          <p:nvSpPr>
            <p:cNvPr id="36" name="Freeform 36"/>
            <p:cNvSpPr/>
            <p:nvPr/>
          </p:nvSpPr>
          <p:spPr>
            <a:xfrm>
              <a:off x="0" y="1062703"/>
              <a:ext cx="9637863" cy="853748"/>
            </a:xfrm>
            <a:custGeom>
              <a:avLst/>
              <a:gdLst/>
              <a:ahLst/>
              <a:cxnLst/>
              <a:rect l="l" t="t" r="r" b="b"/>
              <a:pathLst>
                <a:path w="9637863" h="853748">
                  <a:moveTo>
                    <a:pt x="0" y="0"/>
                  </a:moveTo>
                  <a:lnTo>
                    <a:pt x="9637863" y="0"/>
                  </a:lnTo>
                  <a:lnTo>
                    <a:pt x="9637863" y="853747"/>
                  </a:lnTo>
                  <a:lnTo>
                    <a:pt x="0" y="853747"/>
                  </a:lnTo>
                  <a:lnTo>
                    <a:pt x="0" y="0"/>
                  </a:lnTo>
                  <a:close/>
                </a:path>
              </a:pathLst>
            </a:custGeom>
            <a:blipFill>
              <a:blip r:embed="rId6"/>
              <a:stretch>
                <a:fillRect/>
              </a:stretch>
            </a:blipFill>
          </p:spPr>
          <p:txBody>
            <a:bodyPr/>
            <a:lstStyle/>
            <a:p>
              <a:endParaRPr lang="it-IT"/>
            </a:p>
          </p:txBody>
        </p:sp>
        <p:sp>
          <p:nvSpPr>
            <p:cNvPr id="37" name="Freeform 37"/>
            <p:cNvSpPr/>
            <p:nvPr/>
          </p:nvSpPr>
          <p:spPr>
            <a:xfrm>
              <a:off x="0" y="1914201"/>
              <a:ext cx="12122407" cy="1434397"/>
            </a:xfrm>
            <a:custGeom>
              <a:avLst/>
              <a:gdLst/>
              <a:ahLst/>
              <a:cxnLst/>
              <a:rect l="l" t="t" r="r" b="b"/>
              <a:pathLst>
                <a:path w="12122407" h="1434397">
                  <a:moveTo>
                    <a:pt x="0" y="0"/>
                  </a:moveTo>
                  <a:lnTo>
                    <a:pt x="12122407" y="0"/>
                  </a:lnTo>
                  <a:lnTo>
                    <a:pt x="12122407" y="1434398"/>
                  </a:lnTo>
                  <a:lnTo>
                    <a:pt x="0" y="1434398"/>
                  </a:lnTo>
                  <a:lnTo>
                    <a:pt x="0" y="0"/>
                  </a:lnTo>
                  <a:close/>
                </a:path>
              </a:pathLst>
            </a:custGeom>
            <a:blipFill>
              <a:blip r:embed="rId7"/>
              <a:stretch>
                <a:fillRect/>
              </a:stretch>
            </a:blipFill>
          </p:spPr>
          <p:txBody>
            <a:bodyPr/>
            <a:lstStyle/>
            <a:p>
              <a:endParaRPr lang="it-IT"/>
            </a:p>
          </p:txBody>
        </p:sp>
      </p:grpSp>
      <p:sp>
        <p:nvSpPr>
          <p:cNvPr id="38" name="TextBox 38"/>
          <p:cNvSpPr txBox="1"/>
          <p:nvPr/>
        </p:nvSpPr>
        <p:spPr>
          <a:xfrm>
            <a:off x="7728515" y="6995153"/>
            <a:ext cx="8580670" cy="497278"/>
          </a:xfrm>
          <a:prstGeom prst="rect">
            <a:avLst/>
          </a:prstGeom>
        </p:spPr>
        <p:txBody>
          <a:bodyPr lIns="0" tIns="0" rIns="0" bIns="0" rtlCol="0" anchor="t">
            <a:spAutoFit/>
          </a:bodyPr>
          <a:lstStyle/>
          <a:p>
            <a:pPr marL="630884" lvl="1" indent="-315442" algn="l">
              <a:lnSpc>
                <a:spcPts val="4090"/>
              </a:lnSpc>
              <a:buFont typeface="Arial"/>
              <a:buChar char="•"/>
            </a:pPr>
            <a:r>
              <a:rPr lang="en-US" sz="2922" i="1">
                <a:solidFill>
                  <a:srgbClr val="FFFFFF"/>
                </a:solidFill>
                <a:latin typeface="Roboto Italics"/>
                <a:ea typeface="Roboto Italics"/>
                <a:cs typeface="Roboto Italics"/>
                <a:sym typeface="Roboto Italics"/>
              </a:rPr>
              <a:t>P(Node i gets infected)</a:t>
            </a:r>
            <a:r>
              <a:rPr lang="en-US" sz="2922">
                <a:solidFill>
                  <a:srgbClr val="FFFFFF"/>
                </a:solidFill>
                <a:latin typeface="Roboto"/>
                <a:ea typeface="Roboto"/>
                <a:cs typeface="Roboto"/>
                <a:sym typeface="Roboto"/>
              </a:rPr>
              <a:t> is calculated as follows: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2936133" y="2990406"/>
            <a:ext cx="5793855" cy="5446223"/>
          </a:xfrm>
          <a:custGeom>
            <a:avLst/>
            <a:gdLst/>
            <a:ahLst/>
            <a:cxnLst/>
            <a:rect l="l" t="t" r="r" b="b"/>
            <a:pathLst>
              <a:path w="5793855" h="5446223">
                <a:moveTo>
                  <a:pt x="0" y="0"/>
                </a:moveTo>
                <a:lnTo>
                  <a:pt x="5793855" y="0"/>
                </a:lnTo>
                <a:lnTo>
                  <a:pt x="5793855" y="5446223"/>
                </a:lnTo>
                <a:lnTo>
                  <a:pt x="0" y="5446223"/>
                </a:lnTo>
                <a:lnTo>
                  <a:pt x="0" y="0"/>
                </a:lnTo>
                <a:close/>
              </a:path>
            </a:pathLst>
          </a:custGeom>
          <a:blipFill>
            <a:blip r:embed="rId2"/>
            <a:stretch>
              <a:fillRect/>
            </a:stretch>
          </a:blipFill>
          <a:ln cap="sq">
            <a:noFill/>
            <a:prstDash val="solid"/>
            <a:miter/>
          </a:ln>
        </p:spPr>
        <p:txBody>
          <a:bodyPr/>
          <a:lstStyle/>
          <a:p>
            <a:endParaRPr lang="it-IT"/>
          </a:p>
        </p:txBody>
      </p:sp>
      <p:sp>
        <p:nvSpPr>
          <p:cNvPr id="3" name="Freeform 3"/>
          <p:cNvSpPr/>
          <p:nvPr/>
        </p:nvSpPr>
        <p:spPr>
          <a:xfrm>
            <a:off x="11119381" y="4123201"/>
            <a:ext cx="3613531" cy="3595463"/>
          </a:xfrm>
          <a:custGeom>
            <a:avLst/>
            <a:gdLst/>
            <a:ahLst/>
            <a:cxnLst/>
            <a:rect l="l" t="t" r="r" b="b"/>
            <a:pathLst>
              <a:path w="3613531" h="3595463">
                <a:moveTo>
                  <a:pt x="0" y="0"/>
                </a:moveTo>
                <a:lnTo>
                  <a:pt x="3613531" y="0"/>
                </a:lnTo>
                <a:lnTo>
                  <a:pt x="3613531" y="3595463"/>
                </a:lnTo>
                <a:lnTo>
                  <a:pt x="0" y="359546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t-IT"/>
          </a:p>
        </p:txBody>
      </p:sp>
      <p:sp>
        <p:nvSpPr>
          <p:cNvPr id="4" name="Freeform 4"/>
          <p:cNvSpPr/>
          <p:nvPr/>
        </p:nvSpPr>
        <p:spPr>
          <a:xfrm>
            <a:off x="9993334" y="3203431"/>
            <a:ext cx="5435003" cy="5435003"/>
          </a:xfrm>
          <a:custGeom>
            <a:avLst/>
            <a:gdLst/>
            <a:ahLst/>
            <a:cxnLst/>
            <a:rect l="l" t="t" r="r" b="b"/>
            <a:pathLst>
              <a:path w="5435003" h="5435003">
                <a:moveTo>
                  <a:pt x="0" y="0"/>
                </a:moveTo>
                <a:lnTo>
                  <a:pt x="5435002" y="0"/>
                </a:lnTo>
                <a:lnTo>
                  <a:pt x="5435002" y="5435002"/>
                </a:lnTo>
                <a:lnTo>
                  <a:pt x="0" y="5435002"/>
                </a:lnTo>
                <a:lnTo>
                  <a:pt x="0" y="0"/>
                </a:lnTo>
                <a:close/>
              </a:path>
            </a:pathLst>
          </a:custGeom>
          <a:blipFill>
            <a:blip r:embed="rId4"/>
            <a:stretch>
              <a:fillRect/>
            </a:stretch>
          </a:blipFill>
        </p:spPr>
        <p:txBody>
          <a:bodyPr/>
          <a:lstStyle/>
          <a:p>
            <a:endParaRPr lang="it-IT"/>
          </a:p>
        </p:txBody>
      </p:sp>
      <p:sp>
        <p:nvSpPr>
          <p:cNvPr id="5" name="TextBox 5"/>
          <p:cNvSpPr txBox="1"/>
          <p:nvPr/>
        </p:nvSpPr>
        <p:spPr>
          <a:xfrm>
            <a:off x="1799636" y="1282330"/>
            <a:ext cx="14811963" cy="1474827"/>
          </a:xfrm>
          <a:prstGeom prst="rect">
            <a:avLst/>
          </a:prstGeom>
        </p:spPr>
        <p:txBody>
          <a:bodyPr wrap="square" lIns="0" tIns="0" rIns="0" bIns="0" rtlCol="0" anchor="t">
            <a:spAutoFit/>
          </a:bodyPr>
          <a:lstStyle/>
          <a:p>
            <a:pPr algn="ctr">
              <a:lnSpc>
                <a:spcPts val="12128"/>
              </a:lnSpc>
              <a:spcBef>
                <a:spcPct val="0"/>
              </a:spcBef>
            </a:pPr>
            <a:r>
              <a:rPr lang="en-US" sz="8663" b="1" dirty="0">
                <a:solidFill>
                  <a:srgbClr val="FFFFFF"/>
                </a:solidFill>
                <a:latin typeface="Poppins Bold"/>
                <a:ea typeface="Poppins Bold"/>
                <a:cs typeface="Poppins Bold"/>
                <a:sym typeface="Poppins Bold"/>
              </a:rPr>
              <a:t>VACCINATION STRATEGIES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TextBox 2"/>
          <p:cNvSpPr txBox="1"/>
          <p:nvPr/>
        </p:nvSpPr>
        <p:spPr>
          <a:xfrm>
            <a:off x="562197" y="3416599"/>
            <a:ext cx="17032032" cy="5039361"/>
          </a:xfrm>
          <a:prstGeom prst="rect">
            <a:avLst/>
          </a:prstGeom>
        </p:spPr>
        <p:txBody>
          <a:bodyPr lIns="0" tIns="0" rIns="0" bIns="0" rtlCol="0" anchor="t">
            <a:spAutoFit/>
          </a:bodyPr>
          <a:lstStyle/>
          <a:p>
            <a:pPr marL="885186" lvl="1" indent="-442593" algn="l">
              <a:lnSpc>
                <a:spcPts val="5739"/>
              </a:lnSpc>
              <a:buAutoNum type="arabicPeriod"/>
            </a:pPr>
            <a:r>
              <a:rPr lang="en-US" sz="4099">
                <a:solidFill>
                  <a:srgbClr val="FFFFFF"/>
                </a:solidFill>
                <a:latin typeface="Roboto"/>
                <a:ea typeface="Roboto"/>
                <a:cs typeface="Roboto"/>
                <a:sym typeface="Roboto"/>
              </a:rPr>
              <a:t>Vaccinating a node = </a:t>
            </a:r>
            <a:r>
              <a:rPr lang="en-US" sz="4099" b="1">
                <a:solidFill>
                  <a:srgbClr val="FFFFFF"/>
                </a:solidFill>
                <a:latin typeface="Roboto Bold"/>
                <a:ea typeface="Roboto Bold"/>
                <a:cs typeface="Roboto Bold"/>
                <a:sym typeface="Roboto Bold"/>
              </a:rPr>
              <a:t>Closing down the airport</a:t>
            </a:r>
          </a:p>
          <a:p>
            <a:pPr marL="885186" lvl="1" indent="-442593" algn="l">
              <a:lnSpc>
                <a:spcPts val="5739"/>
              </a:lnSpc>
              <a:buAutoNum type="arabicPeriod"/>
            </a:pPr>
            <a:r>
              <a:rPr lang="en-US" sz="4099">
                <a:solidFill>
                  <a:srgbClr val="FFFFFF"/>
                </a:solidFill>
                <a:latin typeface="Roboto"/>
                <a:ea typeface="Roboto"/>
                <a:cs typeface="Roboto"/>
                <a:sym typeface="Roboto"/>
              </a:rPr>
              <a:t>Each strategy selects </a:t>
            </a:r>
            <a:r>
              <a:rPr lang="en-US" sz="4099" b="1">
                <a:solidFill>
                  <a:srgbClr val="FFFFFF"/>
                </a:solidFill>
                <a:latin typeface="Roboto Bold"/>
                <a:ea typeface="Roboto Bold"/>
                <a:cs typeface="Roboto Bold"/>
                <a:sym typeface="Roboto Bold"/>
              </a:rPr>
              <a:t>5% of the nodes</a:t>
            </a:r>
          </a:p>
          <a:p>
            <a:pPr marL="885186" lvl="1" indent="-442593" algn="l">
              <a:lnSpc>
                <a:spcPts val="5739"/>
              </a:lnSpc>
              <a:buAutoNum type="arabicPeriod"/>
            </a:pPr>
            <a:r>
              <a:rPr lang="en-US" sz="4099">
                <a:solidFill>
                  <a:srgbClr val="FFFFFF"/>
                </a:solidFill>
                <a:latin typeface="Roboto"/>
                <a:ea typeface="Roboto"/>
                <a:cs typeface="Roboto"/>
                <a:sym typeface="Roboto"/>
              </a:rPr>
              <a:t>Perfect contact tracing</a:t>
            </a:r>
          </a:p>
          <a:p>
            <a:pPr marL="885186" lvl="1" indent="-442593" algn="l">
              <a:lnSpc>
                <a:spcPts val="5739"/>
              </a:lnSpc>
              <a:buAutoNum type="arabicPeriod"/>
            </a:pPr>
            <a:r>
              <a:rPr lang="en-US" sz="4099">
                <a:solidFill>
                  <a:srgbClr val="FFFFFF"/>
                </a:solidFill>
                <a:latin typeface="Roboto"/>
                <a:ea typeface="Roboto"/>
                <a:cs typeface="Roboto"/>
                <a:sym typeface="Roboto"/>
              </a:rPr>
              <a:t>Vaccination is </a:t>
            </a:r>
            <a:r>
              <a:rPr lang="en-US" sz="4099" b="1">
                <a:solidFill>
                  <a:srgbClr val="FFFFFF"/>
                </a:solidFill>
                <a:latin typeface="Roboto Bold"/>
                <a:ea typeface="Roboto Bold"/>
                <a:cs typeface="Roboto Bold"/>
                <a:sym typeface="Roboto Bold"/>
              </a:rPr>
              <a:t>immediately in effect</a:t>
            </a:r>
          </a:p>
          <a:p>
            <a:pPr marL="885186" lvl="1" indent="-442593" algn="l">
              <a:lnSpc>
                <a:spcPts val="5739"/>
              </a:lnSpc>
              <a:buAutoNum type="arabicPeriod"/>
            </a:pPr>
            <a:r>
              <a:rPr lang="en-US" sz="4099">
                <a:solidFill>
                  <a:srgbClr val="FFFFFF"/>
                </a:solidFill>
                <a:latin typeface="Roboto"/>
                <a:ea typeface="Roboto"/>
                <a:cs typeface="Roboto"/>
                <a:sym typeface="Roboto"/>
              </a:rPr>
              <a:t>Flight grounding is the only restriction strategy</a:t>
            </a:r>
          </a:p>
          <a:p>
            <a:pPr marL="885186" lvl="1" indent="-442593" algn="l">
              <a:lnSpc>
                <a:spcPts val="5739"/>
              </a:lnSpc>
              <a:buAutoNum type="arabicPeriod"/>
            </a:pPr>
            <a:r>
              <a:rPr lang="en-US" sz="4099">
                <a:solidFill>
                  <a:srgbClr val="FFFFFF"/>
                </a:solidFill>
                <a:latin typeface="Roboto"/>
                <a:ea typeface="Roboto"/>
                <a:cs typeface="Roboto"/>
                <a:sym typeface="Roboto"/>
              </a:rPr>
              <a:t>Economic impact of a strategy is directly proportional to the foreclosed flights. The </a:t>
            </a:r>
            <a:r>
              <a:rPr lang="en-US" sz="4099" b="1">
                <a:solidFill>
                  <a:srgbClr val="FFFFFF"/>
                </a:solidFill>
                <a:latin typeface="Roboto Bold"/>
                <a:ea typeface="Roboto Bold"/>
                <a:cs typeface="Roboto Bold"/>
                <a:sym typeface="Roboto Bold"/>
              </a:rPr>
              <a:t>cost is calculated on daily grounded planes</a:t>
            </a:r>
            <a:r>
              <a:rPr lang="en-US" sz="4099">
                <a:solidFill>
                  <a:srgbClr val="FFFFFF"/>
                </a:solidFill>
                <a:latin typeface="Roboto"/>
                <a:ea typeface="Roboto"/>
                <a:cs typeface="Roboto"/>
                <a:sym typeface="Roboto"/>
              </a:rPr>
              <a:t>.</a:t>
            </a:r>
          </a:p>
        </p:txBody>
      </p:sp>
      <p:sp>
        <p:nvSpPr>
          <p:cNvPr id="3" name="Freeform 3"/>
          <p:cNvSpPr/>
          <p:nvPr/>
        </p:nvSpPr>
        <p:spPr>
          <a:xfrm>
            <a:off x="14902526" y="490101"/>
            <a:ext cx="3002698" cy="3002698"/>
          </a:xfrm>
          <a:custGeom>
            <a:avLst/>
            <a:gdLst/>
            <a:ahLst/>
            <a:cxnLst/>
            <a:rect l="l" t="t" r="r" b="b"/>
            <a:pathLst>
              <a:path w="3002698" h="3002698">
                <a:moveTo>
                  <a:pt x="0" y="0"/>
                </a:moveTo>
                <a:lnTo>
                  <a:pt x="3002698" y="0"/>
                </a:lnTo>
                <a:lnTo>
                  <a:pt x="3002698" y="3002698"/>
                </a:lnTo>
                <a:lnTo>
                  <a:pt x="0" y="30026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4" name="TextBox 4"/>
          <p:cNvSpPr txBox="1"/>
          <p:nvPr/>
        </p:nvSpPr>
        <p:spPr>
          <a:xfrm>
            <a:off x="3133011" y="280551"/>
            <a:ext cx="12021979" cy="1286748"/>
          </a:xfrm>
          <a:prstGeom prst="rect">
            <a:avLst/>
          </a:prstGeom>
        </p:spPr>
        <p:txBody>
          <a:bodyPr lIns="0" tIns="0" rIns="0" bIns="0" rtlCol="0" anchor="t">
            <a:spAutoFit/>
          </a:bodyPr>
          <a:lstStyle/>
          <a:p>
            <a:pPr algn="ctr">
              <a:lnSpc>
                <a:spcPts val="9926"/>
              </a:lnSpc>
              <a:spcBef>
                <a:spcPct val="0"/>
              </a:spcBef>
            </a:pPr>
            <a:r>
              <a:rPr lang="en-US" sz="7090" b="1">
                <a:solidFill>
                  <a:srgbClr val="FFFFFF"/>
                </a:solidFill>
                <a:latin typeface="Poppins Bold"/>
                <a:ea typeface="Poppins Bold"/>
                <a:cs typeface="Poppins Bold"/>
                <a:sym typeface="Poppins Bold"/>
              </a:rPr>
              <a:t>VACCINATION STRATEGIES</a:t>
            </a:r>
          </a:p>
        </p:txBody>
      </p:sp>
      <p:sp>
        <p:nvSpPr>
          <p:cNvPr id="5" name="TextBox 5"/>
          <p:cNvSpPr txBox="1"/>
          <p:nvPr/>
        </p:nvSpPr>
        <p:spPr>
          <a:xfrm>
            <a:off x="571678" y="2196992"/>
            <a:ext cx="6177677" cy="695961"/>
          </a:xfrm>
          <a:prstGeom prst="rect">
            <a:avLst/>
          </a:prstGeom>
        </p:spPr>
        <p:txBody>
          <a:bodyPr lIns="0" tIns="0" rIns="0" bIns="0" rtlCol="0" anchor="t">
            <a:spAutoFit/>
          </a:bodyPr>
          <a:lstStyle/>
          <a:p>
            <a:pPr algn="l">
              <a:lnSpc>
                <a:spcPts val="5739"/>
              </a:lnSpc>
            </a:pPr>
            <a:r>
              <a:rPr lang="en-US" sz="4099">
                <a:solidFill>
                  <a:srgbClr val="FFFFFF"/>
                </a:solidFill>
                <a:latin typeface="Roboto"/>
                <a:ea typeface="Roboto"/>
                <a:cs typeface="Roboto"/>
                <a:sym typeface="Roboto"/>
              </a:rPr>
              <a:t>Basic hypothesis and rules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TextBox 2"/>
          <p:cNvSpPr txBox="1"/>
          <p:nvPr/>
        </p:nvSpPr>
        <p:spPr>
          <a:xfrm>
            <a:off x="627984" y="2605777"/>
            <a:ext cx="17032032" cy="6590665"/>
          </a:xfrm>
          <a:prstGeom prst="rect">
            <a:avLst/>
          </a:prstGeom>
        </p:spPr>
        <p:txBody>
          <a:bodyPr lIns="0" tIns="0" rIns="0" bIns="0" rtlCol="0" anchor="t">
            <a:spAutoFit/>
          </a:bodyPr>
          <a:lstStyle/>
          <a:p>
            <a:pPr marL="734059" lvl="1" indent="-367030" algn="l">
              <a:lnSpc>
                <a:spcPts val="4759"/>
              </a:lnSpc>
              <a:buAutoNum type="arabicPeriod"/>
            </a:pPr>
            <a:r>
              <a:rPr lang="en-US" sz="3399" b="1">
                <a:solidFill>
                  <a:srgbClr val="FFFFFF"/>
                </a:solidFill>
                <a:latin typeface="Roboto Bold"/>
                <a:ea typeface="Roboto Bold"/>
                <a:cs typeface="Roboto Bold"/>
                <a:sym typeface="Roboto Bold"/>
              </a:rPr>
              <a:t>No vaccination: </a:t>
            </a:r>
            <a:r>
              <a:rPr lang="en-US" sz="3399">
                <a:solidFill>
                  <a:srgbClr val="FFFFFF"/>
                </a:solidFill>
                <a:latin typeface="Roboto"/>
                <a:ea typeface="Roboto"/>
                <a:cs typeface="Roboto"/>
                <a:sym typeface="Roboto"/>
              </a:rPr>
              <a:t>Serves as baseline</a:t>
            </a:r>
          </a:p>
          <a:p>
            <a:pPr marL="734059" lvl="1" indent="-367030" algn="l">
              <a:lnSpc>
                <a:spcPts val="4759"/>
              </a:lnSpc>
              <a:buAutoNum type="arabicPeriod"/>
            </a:pPr>
            <a:r>
              <a:rPr lang="en-US" sz="3399" b="1">
                <a:solidFill>
                  <a:srgbClr val="FFFFFF"/>
                </a:solidFill>
                <a:latin typeface="Roboto Bold"/>
                <a:ea typeface="Roboto Bold"/>
                <a:cs typeface="Roboto Bold"/>
                <a:sym typeface="Roboto Bold"/>
              </a:rPr>
              <a:t>Random:</a:t>
            </a:r>
            <a:r>
              <a:rPr lang="en-US" sz="3399">
                <a:solidFill>
                  <a:srgbClr val="FFFFFF"/>
                </a:solidFill>
                <a:latin typeface="Roboto"/>
                <a:ea typeface="Roboto"/>
                <a:cs typeface="Roboto"/>
                <a:sym typeface="Roboto"/>
              </a:rPr>
              <a:t> Nodes were selected at random</a:t>
            </a:r>
          </a:p>
          <a:p>
            <a:pPr marL="734059" lvl="1" indent="-367030" algn="l">
              <a:lnSpc>
                <a:spcPts val="4759"/>
              </a:lnSpc>
              <a:buAutoNum type="arabicPeriod"/>
            </a:pPr>
            <a:r>
              <a:rPr lang="en-US" sz="3399" b="1">
                <a:solidFill>
                  <a:srgbClr val="FFFFFF"/>
                </a:solidFill>
                <a:latin typeface="Roboto Bold"/>
                <a:ea typeface="Roboto Bold"/>
                <a:cs typeface="Roboto Bold"/>
                <a:sym typeface="Roboto Bold"/>
              </a:rPr>
              <a:t>Hub:</a:t>
            </a:r>
            <a:r>
              <a:rPr lang="en-US" sz="3399">
                <a:solidFill>
                  <a:srgbClr val="FFFFFF"/>
                </a:solidFill>
                <a:latin typeface="Roboto"/>
                <a:ea typeface="Roboto"/>
                <a:cs typeface="Roboto"/>
                <a:sym typeface="Roboto"/>
              </a:rPr>
              <a:t> Targeting nodes with highest weighted degree</a:t>
            </a:r>
          </a:p>
          <a:p>
            <a:pPr marL="734059" lvl="1" indent="-367030" algn="l">
              <a:lnSpc>
                <a:spcPts val="4759"/>
              </a:lnSpc>
              <a:buAutoNum type="arabicPeriod"/>
            </a:pPr>
            <a:r>
              <a:rPr lang="en-US" sz="3399" b="1">
                <a:solidFill>
                  <a:srgbClr val="FFFFFF"/>
                </a:solidFill>
                <a:latin typeface="Roboto Bold"/>
                <a:ea typeface="Roboto Bold"/>
                <a:cs typeface="Roboto Bold"/>
                <a:sym typeface="Roboto Bold"/>
              </a:rPr>
              <a:t>Hub + PageRank:</a:t>
            </a:r>
            <a:r>
              <a:rPr lang="en-US" sz="3399">
                <a:solidFill>
                  <a:srgbClr val="FFFFFF"/>
                </a:solidFill>
                <a:latin typeface="Roboto"/>
                <a:ea typeface="Roboto"/>
                <a:cs typeface="Roboto"/>
                <a:sym typeface="Roboto"/>
              </a:rPr>
              <a:t> Targeting nodes with highest PR and weighted degree</a:t>
            </a:r>
          </a:p>
          <a:p>
            <a:pPr marL="734059" lvl="1" indent="-367030" algn="l">
              <a:lnSpc>
                <a:spcPts val="4759"/>
              </a:lnSpc>
              <a:buAutoNum type="arabicPeriod"/>
            </a:pPr>
            <a:r>
              <a:rPr lang="en-US" sz="3399" b="1">
                <a:solidFill>
                  <a:srgbClr val="FFFFFF"/>
                </a:solidFill>
                <a:latin typeface="Roboto Bold"/>
                <a:ea typeface="Roboto Bold"/>
                <a:cs typeface="Roboto Bold"/>
                <a:sym typeface="Roboto Bold"/>
              </a:rPr>
              <a:t>Betweenness: </a:t>
            </a:r>
            <a:r>
              <a:rPr lang="en-US" sz="3399">
                <a:solidFill>
                  <a:srgbClr val="FFFFFF"/>
                </a:solidFill>
                <a:latin typeface="Roboto"/>
                <a:ea typeface="Roboto"/>
                <a:cs typeface="Roboto"/>
                <a:sym typeface="Roboto"/>
              </a:rPr>
              <a:t>Targeting nodes according to their betweenness centrality</a:t>
            </a:r>
          </a:p>
          <a:p>
            <a:pPr marL="734059" lvl="1" indent="-367030" algn="l">
              <a:lnSpc>
                <a:spcPts val="4759"/>
              </a:lnSpc>
              <a:buAutoNum type="arabicPeriod"/>
            </a:pPr>
            <a:r>
              <a:rPr lang="en-US" sz="3399" b="1">
                <a:solidFill>
                  <a:srgbClr val="FFFFFF"/>
                </a:solidFill>
                <a:latin typeface="Roboto Bold"/>
                <a:ea typeface="Roboto Bold"/>
                <a:cs typeface="Roboto Bold"/>
                <a:sym typeface="Roboto Bold"/>
              </a:rPr>
              <a:t>Louvain bridges:</a:t>
            </a:r>
            <a:r>
              <a:rPr lang="en-US" sz="3399">
                <a:solidFill>
                  <a:srgbClr val="FFFFFF"/>
                </a:solidFill>
                <a:latin typeface="Roboto"/>
                <a:ea typeface="Roboto"/>
                <a:cs typeface="Roboto"/>
                <a:sym typeface="Roboto"/>
              </a:rPr>
              <a:t> Targeting nodes in each community that had many connections to other different communities</a:t>
            </a:r>
          </a:p>
          <a:p>
            <a:pPr marL="734059" lvl="1" indent="-367030" algn="l">
              <a:lnSpc>
                <a:spcPts val="4759"/>
              </a:lnSpc>
              <a:buAutoNum type="arabicPeriod"/>
            </a:pPr>
            <a:r>
              <a:rPr lang="en-US" sz="3399" b="1">
                <a:solidFill>
                  <a:srgbClr val="FFFFFF"/>
                </a:solidFill>
                <a:latin typeface="Roboto Bold"/>
                <a:ea typeface="Roboto Bold"/>
                <a:cs typeface="Roboto Bold"/>
                <a:sym typeface="Roboto Bold"/>
              </a:rPr>
              <a:t>Infomap bridges:</a:t>
            </a:r>
            <a:r>
              <a:rPr lang="en-US" sz="3399">
                <a:solidFill>
                  <a:srgbClr val="FFFFFF"/>
                </a:solidFill>
                <a:latin typeface="Roboto"/>
                <a:ea typeface="Roboto"/>
                <a:cs typeface="Roboto"/>
                <a:sym typeface="Roboto"/>
              </a:rPr>
              <a:t> same criterion, applied to the Infomap partition</a:t>
            </a:r>
          </a:p>
          <a:p>
            <a:pPr marL="734059" lvl="1" indent="-367030" algn="l">
              <a:lnSpc>
                <a:spcPts val="4759"/>
              </a:lnSpc>
              <a:buAutoNum type="arabicPeriod"/>
            </a:pPr>
            <a:r>
              <a:rPr lang="en-US" sz="3399" b="1">
                <a:solidFill>
                  <a:srgbClr val="FFFFFF"/>
                </a:solidFill>
                <a:latin typeface="Roboto Bold"/>
                <a:ea typeface="Roboto Bold"/>
                <a:cs typeface="Roboto Bold"/>
                <a:sym typeface="Roboto Bold"/>
              </a:rPr>
              <a:t>Collective Influence:</a:t>
            </a:r>
            <a:r>
              <a:rPr lang="en-US" sz="3399">
                <a:solidFill>
                  <a:srgbClr val="FFFFFF"/>
                </a:solidFill>
                <a:latin typeface="Roboto"/>
                <a:ea typeface="Roboto"/>
                <a:cs typeface="Roboto"/>
                <a:sym typeface="Roboto"/>
              </a:rPr>
              <a:t>  Removal is based on scores that measure how much connectivity lies on a node's 2-hop frontier and removes nodes greedily recomputing after each removal.</a:t>
            </a:r>
          </a:p>
        </p:txBody>
      </p:sp>
      <p:sp>
        <p:nvSpPr>
          <p:cNvPr id="3" name="Freeform 3"/>
          <p:cNvSpPr/>
          <p:nvPr/>
        </p:nvSpPr>
        <p:spPr>
          <a:xfrm>
            <a:off x="14902526" y="490101"/>
            <a:ext cx="3002698" cy="3002698"/>
          </a:xfrm>
          <a:custGeom>
            <a:avLst/>
            <a:gdLst/>
            <a:ahLst/>
            <a:cxnLst/>
            <a:rect l="l" t="t" r="r" b="b"/>
            <a:pathLst>
              <a:path w="3002698" h="3002698">
                <a:moveTo>
                  <a:pt x="0" y="0"/>
                </a:moveTo>
                <a:lnTo>
                  <a:pt x="3002698" y="0"/>
                </a:lnTo>
                <a:lnTo>
                  <a:pt x="3002698" y="3002698"/>
                </a:lnTo>
                <a:lnTo>
                  <a:pt x="0" y="30026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4" name="TextBox 4"/>
          <p:cNvSpPr txBox="1"/>
          <p:nvPr/>
        </p:nvSpPr>
        <p:spPr>
          <a:xfrm>
            <a:off x="3133011" y="280551"/>
            <a:ext cx="12021979" cy="1286748"/>
          </a:xfrm>
          <a:prstGeom prst="rect">
            <a:avLst/>
          </a:prstGeom>
        </p:spPr>
        <p:txBody>
          <a:bodyPr lIns="0" tIns="0" rIns="0" bIns="0" rtlCol="0" anchor="t">
            <a:spAutoFit/>
          </a:bodyPr>
          <a:lstStyle/>
          <a:p>
            <a:pPr algn="ctr">
              <a:lnSpc>
                <a:spcPts val="9926"/>
              </a:lnSpc>
              <a:spcBef>
                <a:spcPct val="0"/>
              </a:spcBef>
            </a:pPr>
            <a:r>
              <a:rPr lang="en-US" sz="7090" b="1">
                <a:solidFill>
                  <a:srgbClr val="FFFFFF"/>
                </a:solidFill>
                <a:latin typeface="Poppins Bold"/>
                <a:ea typeface="Poppins Bold"/>
                <a:cs typeface="Poppins Bold"/>
                <a:sym typeface="Poppins Bold"/>
              </a:rPr>
              <a:t>VACCINATION STRATEGIES</a:t>
            </a:r>
          </a:p>
        </p:txBody>
      </p:sp>
      <p:sp>
        <p:nvSpPr>
          <p:cNvPr id="5" name="TextBox 5"/>
          <p:cNvSpPr txBox="1"/>
          <p:nvPr/>
        </p:nvSpPr>
        <p:spPr>
          <a:xfrm>
            <a:off x="562197" y="1897798"/>
            <a:ext cx="5557718" cy="589915"/>
          </a:xfrm>
          <a:prstGeom prst="rect">
            <a:avLst/>
          </a:prstGeom>
        </p:spPr>
        <p:txBody>
          <a:bodyPr lIns="0" tIns="0" rIns="0" bIns="0" rtlCol="0" anchor="t">
            <a:spAutoFit/>
          </a:bodyPr>
          <a:lstStyle/>
          <a:p>
            <a:pPr algn="l">
              <a:lnSpc>
                <a:spcPts val="4759"/>
              </a:lnSpc>
            </a:pPr>
            <a:r>
              <a:rPr lang="en-US" sz="3399">
                <a:solidFill>
                  <a:srgbClr val="FFFFFF"/>
                </a:solidFill>
                <a:latin typeface="Roboto"/>
                <a:ea typeface="Roboto"/>
                <a:cs typeface="Roboto"/>
                <a:sym typeface="Roboto"/>
              </a:rPr>
              <a:t>The adopted strategies were: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TextBox 2"/>
          <p:cNvSpPr txBox="1"/>
          <p:nvPr/>
        </p:nvSpPr>
        <p:spPr>
          <a:xfrm>
            <a:off x="871690" y="3059918"/>
            <a:ext cx="17032032" cy="1189990"/>
          </a:xfrm>
          <a:prstGeom prst="rect">
            <a:avLst/>
          </a:prstGeom>
        </p:spPr>
        <p:txBody>
          <a:bodyPr lIns="0" tIns="0" rIns="0" bIns="0" rtlCol="0" anchor="t">
            <a:spAutoFit/>
          </a:bodyPr>
          <a:lstStyle/>
          <a:p>
            <a:pPr algn="l">
              <a:lnSpc>
                <a:spcPts val="4759"/>
              </a:lnSpc>
            </a:pPr>
            <a:r>
              <a:rPr lang="en-US" sz="3399">
                <a:solidFill>
                  <a:srgbClr val="FFFFFF"/>
                </a:solidFill>
                <a:latin typeface="Roboto"/>
                <a:ea typeface="Roboto"/>
                <a:cs typeface="Roboto"/>
                <a:sym typeface="Roboto"/>
              </a:rPr>
              <a:t>For each airport in a community, compute the Shannon entropy of its outgoing traffic across communities </a:t>
            </a:r>
          </a:p>
        </p:txBody>
      </p:sp>
      <p:sp>
        <p:nvSpPr>
          <p:cNvPr id="3" name="Freeform 3"/>
          <p:cNvSpPr/>
          <p:nvPr/>
        </p:nvSpPr>
        <p:spPr>
          <a:xfrm>
            <a:off x="15548460" y="490101"/>
            <a:ext cx="2356764" cy="2356764"/>
          </a:xfrm>
          <a:custGeom>
            <a:avLst/>
            <a:gdLst/>
            <a:ahLst/>
            <a:cxnLst/>
            <a:rect l="l" t="t" r="r" b="b"/>
            <a:pathLst>
              <a:path w="2356764" h="2356764">
                <a:moveTo>
                  <a:pt x="0" y="0"/>
                </a:moveTo>
                <a:lnTo>
                  <a:pt x="2356764" y="0"/>
                </a:lnTo>
                <a:lnTo>
                  <a:pt x="2356764" y="2356764"/>
                </a:lnTo>
                <a:lnTo>
                  <a:pt x="0" y="235676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4" name="TextBox 4"/>
          <p:cNvSpPr txBox="1"/>
          <p:nvPr/>
        </p:nvSpPr>
        <p:spPr>
          <a:xfrm>
            <a:off x="871690" y="310215"/>
            <a:ext cx="15010605" cy="959481"/>
          </a:xfrm>
          <a:prstGeom prst="rect">
            <a:avLst/>
          </a:prstGeom>
        </p:spPr>
        <p:txBody>
          <a:bodyPr lIns="0" tIns="0" rIns="0" bIns="0" rtlCol="0" anchor="t">
            <a:spAutoFit/>
          </a:bodyPr>
          <a:lstStyle/>
          <a:p>
            <a:pPr algn="ctr">
              <a:lnSpc>
                <a:spcPts val="7437"/>
              </a:lnSpc>
              <a:spcBef>
                <a:spcPct val="0"/>
              </a:spcBef>
            </a:pPr>
            <a:r>
              <a:rPr lang="en-US" sz="5312" b="1">
                <a:solidFill>
                  <a:srgbClr val="FFFFFF"/>
                </a:solidFill>
                <a:latin typeface="Poppins Bold"/>
                <a:ea typeface="Poppins Bold"/>
                <a:cs typeface="Poppins Bold"/>
                <a:sym typeface="Poppins Bold"/>
              </a:rPr>
              <a:t>VACCINATION STRATEGIES - A CLOSER LOOK </a:t>
            </a:r>
          </a:p>
        </p:txBody>
      </p:sp>
      <p:sp>
        <p:nvSpPr>
          <p:cNvPr id="5" name="TextBox 5"/>
          <p:cNvSpPr txBox="1"/>
          <p:nvPr/>
        </p:nvSpPr>
        <p:spPr>
          <a:xfrm>
            <a:off x="871690" y="1801122"/>
            <a:ext cx="9927230" cy="664198"/>
          </a:xfrm>
          <a:prstGeom prst="rect">
            <a:avLst/>
          </a:prstGeom>
        </p:spPr>
        <p:txBody>
          <a:bodyPr lIns="0" tIns="0" rIns="0" bIns="0" rtlCol="0" anchor="t">
            <a:spAutoFit/>
          </a:bodyPr>
          <a:lstStyle/>
          <a:p>
            <a:pPr algn="l">
              <a:lnSpc>
                <a:spcPts val="5448"/>
              </a:lnSpc>
            </a:pPr>
            <a:r>
              <a:rPr lang="en-US" sz="3891" b="1">
                <a:solidFill>
                  <a:srgbClr val="FFFFFF"/>
                </a:solidFill>
                <a:latin typeface="Roboto Bold"/>
                <a:ea typeface="Roboto Bold"/>
                <a:cs typeface="Roboto Bold"/>
                <a:sym typeface="Roboto Bold"/>
              </a:rPr>
              <a:t>How are communities used in this scenario? </a:t>
            </a:r>
          </a:p>
        </p:txBody>
      </p:sp>
      <p:pic>
        <p:nvPicPr>
          <p:cNvPr id="6" name="Picture 6"/>
          <p:cNvPicPr>
            <a:picLocks noChangeAspect="1"/>
          </p:cNvPicPr>
          <p:nvPr/>
        </p:nvPicPr>
        <p:blipFill>
          <a:blip r:embed="rId3"/>
          <a:stretch>
            <a:fillRect/>
          </a:stretch>
        </p:blipFill>
        <p:spPr>
          <a:xfrm>
            <a:off x="6474653" y="4053652"/>
            <a:ext cx="5826107" cy="2415253"/>
          </a:xfrm>
          <a:prstGeom prst="rect">
            <a:avLst/>
          </a:prstGeom>
        </p:spPr>
      </p:pic>
      <p:sp>
        <p:nvSpPr>
          <p:cNvPr id="7" name="TextBox 7"/>
          <p:cNvSpPr txBox="1"/>
          <p:nvPr/>
        </p:nvSpPr>
        <p:spPr>
          <a:xfrm>
            <a:off x="871690" y="7584741"/>
            <a:ext cx="17032032" cy="1189990"/>
          </a:xfrm>
          <a:prstGeom prst="rect">
            <a:avLst/>
          </a:prstGeom>
        </p:spPr>
        <p:txBody>
          <a:bodyPr lIns="0" tIns="0" rIns="0" bIns="0" rtlCol="0" anchor="t">
            <a:spAutoFit/>
          </a:bodyPr>
          <a:lstStyle/>
          <a:p>
            <a:pPr algn="l">
              <a:lnSpc>
                <a:spcPts val="4759"/>
              </a:lnSpc>
            </a:pPr>
            <a:r>
              <a:rPr lang="en-US" sz="3399" b="1">
                <a:solidFill>
                  <a:srgbClr val="FFFFFF"/>
                </a:solidFill>
                <a:latin typeface="Roboto Bold"/>
                <a:ea typeface="Roboto Bold"/>
                <a:cs typeface="Roboto Bold"/>
                <a:sym typeface="Roboto Bold"/>
              </a:rPr>
              <a:t>Vaccination targets = entropy × total out-traffic</a:t>
            </a:r>
            <a:r>
              <a:rPr lang="en-US" sz="3399">
                <a:solidFill>
                  <a:srgbClr val="FFFFFF"/>
                </a:solidFill>
                <a:latin typeface="Roboto"/>
                <a:ea typeface="Roboto"/>
                <a:cs typeface="Roboto"/>
                <a:sym typeface="Roboto"/>
              </a:rPr>
              <a:t>, so a bridge only ranks high if it carries meaningful volume and if traffic spread across many communities</a:t>
            </a:r>
          </a:p>
        </p:txBody>
      </p:sp>
      <p:sp>
        <p:nvSpPr>
          <p:cNvPr id="8" name="TextBox 8"/>
          <p:cNvSpPr txBox="1"/>
          <p:nvPr/>
        </p:nvSpPr>
        <p:spPr>
          <a:xfrm>
            <a:off x="774297" y="6489111"/>
            <a:ext cx="12408303" cy="589915"/>
          </a:xfrm>
          <a:prstGeom prst="rect">
            <a:avLst/>
          </a:prstGeom>
        </p:spPr>
        <p:txBody>
          <a:bodyPr wrap="square" lIns="0" tIns="0" rIns="0" bIns="0" rtlCol="0" anchor="t">
            <a:spAutoFit/>
          </a:bodyPr>
          <a:lstStyle/>
          <a:p>
            <a:pPr algn="ctr">
              <a:lnSpc>
                <a:spcPts val="4759"/>
              </a:lnSpc>
              <a:spcBef>
                <a:spcPct val="0"/>
              </a:spcBef>
            </a:pPr>
            <a:r>
              <a:rPr lang="en-US" sz="3399" dirty="0">
                <a:solidFill>
                  <a:srgbClr val="FFFFFF"/>
                </a:solidFill>
                <a:latin typeface="Roboto"/>
                <a:ea typeface="Roboto"/>
                <a:cs typeface="Roboto"/>
                <a:sym typeface="Roboto"/>
              </a:rPr>
              <a:t>where </a:t>
            </a:r>
            <a:r>
              <a:rPr lang="en-US" sz="3399" dirty="0" err="1">
                <a:solidFill>
                  <a:srgbClr val="FFFFFF"/>
                </a:solidFill>
                <a:latin typeface="Roboto"/>
                <a:ea typeface="Roboto"/>
                <a:cs typeface="Roboto"/>
                <a:sym typeface="Roboto"/>
              </a:rPr>
              <a:t>p_i,c</a:t>
            </a:r>
            <a:r>
              <a:rPr lang="en-US" sz="3399" dirty="0">
                <a:solidFill>
                  <a:srgbClr val="FFFFFF"/>
                </a:solidFill>
                <a:latin typeface="Roboto"/>
                <a:ea typeface="Roboto"/>
                <a:cs typeface="Roboto"/>
                <a:sym typeface="Roboto"/>
              </a:rPr>
              <a:t>​ is the fraction of out-traffic directed to community c.</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TextBox 2"/>
          <p:cNvSpPr txBox="1"/>
          <p:nvPr/>
        </p:nvSpPr>
        <p:spPr>
          <a:xfrm>
            <a:off x="873193" y="2939818"/>
            <a:ext cx="17032032" cy="1790065"/>
          </a:xfrm>
          <a:prstGeom prst="rect">
            <a:avLst/>
          </a:prstGeom>
        </p:spPr>
        <p:txBody>
          <a:bodyPr lIns="0" tIns="0" rIns="0" bIns="0" rtlCol="0" anchor="t">
            <a:spAutoFit/>
          </a:bodyPr>
          <a:lstStyle/>
          <a:p>
            <a:pPr algn="l">
              <a:lnSpc>
                <a:spcPts val="4759"/>
              </a:lnSpc>
            </a:pPr>
            <a:r>
              <a:rPr lang="en-US" sz="3399">
                <a:solidFill>
                  <a:srgbClr val="FFFFFF"/>
                </a:solidFill>
                <a:latin typeface="Roboto"/>
                <a:ea typeface="Roboto"/>
                <a:cs typeface="Roboto"/>
                <a:sym typeface="Roboto"/>
              </a:rPr>
              <a:t>It is inspired by the work of </a:t>
            </a:r>
            <a:r>
              <a:rPr lang="en-US" sz="3399" i="1">
                <a:solidFill>
                  <a:srgbClr val="FFFFFF"/>
                </a:solidFill>
                <a:latin typeface="Roboto Italics"/>
                <a:ea typeface="Roboto Italics"/>
                <a:cs typeface="Roboto Italics"/>
                <a:sym typeface="Roboto Italics"/>
              </a:rPr>
              <a:t>Morone &amp; Makse, </a:t>
            </a:r>
            <a:r>
              <a:rPr lang="en-US" sz="3399" b="1" i="1">
                <a:solidFill>
                  <a:srgbClr val="FFFFFF"/>
                </a:solidFill>
                <a:latin typeface="Roboto Bold Italics"/>
                <a:ea typeface="Roboto Bold Italics"/>
                <a:cs typeface="Roboto Bold Italics"/>
                <a:sym typeface="Roboto Bold Italics"/>
              </a:rPr>
              <a:t>Influence maximization in complex networks through optimal percolation (2015) </a:t>
            </a:r>
            <a:r>
              <a:rPr lang="en-US" sz="3399">
                <a:solidFill>
                  <a:srgbClr val="FFFFFF"/>
                </a:solidFill>
                <a:latin typeface="Roboto"/>
                <a:ea typeface="Roboto"/>
                <a:cs typeface="Roboto"/>
                <a:sym typeface="Roboto"/>
              </a:rPr>
              <a:t>adapted to a directed weighted network with the frontier follows outgoing edges only</a:t>
            </a:r>
          </a:p>
        </p:txBody>
      </p:sp>
      <p:sp>
        <p:nvSpPr>
          <p:cNvPr id="3" name="Freeform 3"/>
          <p:cNvSpPr/>
          <p:nvPr/>
        </p:nvSpPr>
        <p:spPr>
          <a:xfrm>
            <a:off x="15548460" y="490101"/>
            <a:ext cx="2356764" cy="2356764"/>
          </a:xfrm>
          <a:custGeom>
            <a:avLst/>
            <a:gdLst/>
            <a:ahLst/>
            <a:cxnLst/>
            <a:rect l="l" t="t" r="r" b="b"/>
            <a:pathLst>
              <a:path w="2356764" h="2356764">
                <a:moveTo>
                  <a:pt x="0" y="0"/>
                </a:moveTo>
                <a:lnTo>
                  <a:pt x="2356764" y="0"/>
                </a:lnTo>
                <a:lnTo>
                  <a:pt x="2356764" y="2356764"/>
                </a:lnTo>
                <a:lnTo>
                  <a:pt x="0" y="235676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4" name="TextBox 4"/>
          <p:cNvSpPr txBox="1"/>
          <p:nvPr/>
        </p:nvSpPr>
        <p:spPr>
          <a:xfrm>
            <a:off x="871690" y="310215"/>
            <a:ext cx="15010605" cy="959481"/>
          </a:xfrm>
          <a:prstGeom prst="rect">
            <a:avLst/>
          </a:prstGeom>
        </p:spPr>
        <p:txBody>
          <a:bodyPr lIns="0" tIns="0" rIns="0" bIns="0" rtlCol="0" anchor="t">
            <a:spAutoFit/>
          </a:bodyPr>
          <a:lstStyle/>
          <a:p>
            <a:pPr algn="ctr">
              <a:lnSpc>
                <a:spcPts val="7437"/>
              </a:lnSpc>
              <a:spcBef>
                <a:spcPct val="0"/>
              </a:spcBef>
            </a:pPr>
            <a:r>
              <a:rPr lang="en-US" sz="5312" b="1">
                <a:solidFill>
                  <a:srgbClr val="FFFFFF"/>
                </a:solidFill>
                <a:latin typeface="Poppins Bold"/>
                <a:ea typeface="Poppins Bold"/>
                <a:cs typeface="Poppins Bold"/>
                <a:sym typeface="Poppins Bold"/>
              </a:rPr>
              <a:t>VACCINATION STRATEGIES - A CLOSER LOOK </a:t>
            </a:r>
          </a:p>
        </p:txBody>
      </p:sp>
      <p:sp>
        <p:nvSpPr>
          <p:cNvPr id="5" name="TextBox 5"/>
          <p:cNvSpPr txBox="1"/>
          <p:nvPr/>
        </p:nvSpPr>
        <p:spPr>
          <a:xfrm>
            <a:off x="871690" y="1801122"/>
            <a:ext cx="8105455" cy="664198"/>
          </a:xfrm>
          <a:prstGeom prst="rect">
            <a:avLst/>
          </a:prstGeom>
        </p:spPr>
        <p:txBody>
          <a:bodyPr lIns="0" tIns="0" rIns="0" bIns="0" rtlCol="0" anchor="t">
            <a:spAutoFit/>
          </a:bodyPr>
          <a:lstStyle/>
          <a:p>
            <a:pPr algn="l">
              <a:lnSpc>
                <a:spcPts val="5448"/>
              </a:lnSpc>
            </a:pPr>
            <a:r>
              <a:rPr lang="en-US" sz="3891" b="1">
                <a:solidFill>
                  <a:srgbClr val="FFFFFF"/>
                </a:solidFill>
                <a:latin typeface="Roboto Bold"/>
                <a:ea typeface="Roboto Bold"/>
                <a:cs typeface="Roboto Bold"/>
                <a:sym typeface="Roboto Bold"/>
              </a:rPr>
              <a:t>How about the Collective Influence? </a:t>
            </a:r>
          </a:p>
        </p:txBody>
      </p:sp>
      <p:sp>
        <p:nvSpPr>
          <p:cNvPr id="6" name="TextBox 6"/>
          <p:cNvSpPr txBox="1"/>
          <p:nvPr/>
        </p:nvSpPr>
        <p:spPr>
          <a:xfrm>
            <a:off x="873193" y="4825133"/>
            <a:ext cx="17032032" cy="1189990"/>
          </a:xfrm>
          <a:prstGeom prst="rect">
            <a:avLst/>
          </a:prstGeom>
        </p:spPr>
        <p:txBody>
          <a:bodyPr lIns="0" tIns="0" rIns="0" bIns="0" rtlCol="0" anchor="t">
            <a:spAutoFit/>
          </a:bodyPr>
          <a:lstStyle/>
          <a:p>
            <a:pPr algn="l">
              <a:lnSpc>
                <a:spcPts val="4759"/>
              </a:lnSpc>
            </a:pPr>
            <a:r>
              <a:rPr lang="en-US" sz="3399">
                <a:solidFill>
                  <a:srgbClr val="FFFFFF"/>
                </a:solidFill>
                <a:latin typeface="Roboto"/>
                <a:ea typeface="Roboto"/>
                <a:cs typeface="Roboto"/>
                <a:sym typeface="Roboto"/>
              </a:rPr>
              <a:t>Scores each airport by the product of its own out-strength and the total out-strength of all nodes exactly 2 hops away</a:t>
            </a:r>
          </a:p>
        </p:txBody>
      </p:sp>
      <p:pic>
        <p:nvPicPr>
          <p:cNvPr id="7" name="Picture 7"/>
          <p:cNvPicPr>
            <a:picLocks noChangeAspect="1"/>
          </p:cNvPicPr>
          <p:nvPr/>
        </p:nvPicPr>
        <p:blipFill>
          <a:blip r:embed="rId3"/>
          <a:stretch>
            <a:fillRect/>
          </a:stretch>
        </p:blipFill>
        <p:spPr>
          <a:xfrm>
            <a:off x="4518526" y="5756043"/>
            <a:ext cx="9738360" cy="2886918"/>
          </a:xfrm>
          <a:prstGeom prst="rect">
            <a:avLst/>
          </a:prstGeom>
        </p:spPr>
      </p:pic>
      <p:sp>
        <p:nvSpPr>
          <p:cNvPr id="8" name="TextBox 8"/>
          <p:cNvSpPr txBox="1"/>
          <p:nvPr/>
        </p:nvSpPr>
        <p:spPr>
          <a:xfrm>
            <a:off x="871690" y="7964781"/>
            <a:ext cx="17032032" cy="1790065"/>
          </a:xfrm>
          <a:prstGeom prst="rect">
            <a:avLst/>
          </a:prstGeom>
        </p:spPr>
        <p:txBody>
          <a:bodyPr lIns="0" tIns="0" rIns="0" bIns="0" rtlCol="0" anchor="t">
            <a:spAutoFit/>
          </a:bodyPr>
          <a:lstStyle/>
          <a:p>
            <a:pPr algn="l">
              <a:lnSpc>
                <a:spcPts val="4759"/>
              </a:lnSpc>
            </a:pPr>
            <a:r>
              <a:rPr lang="en-US" sz="3399" dirty="0">
                <a:solidFill>
                  <a:srgbClr val="FFFFFF"/>
                </a:solidFill>
                <a:latin typeface="Roboto"/>
                <a:ea typeface="Roboto"/>
                <a:cs typeface="Roboto"/>
                <a:sym typeface="Roboto"/>
              </a:rPr>
              <a:t>where s is the weighted out strength and g is the max between s and 0. The non-negativity function is retained from the original formulation, where the original argument (i.e. reduced degree k−1) could vanish</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11764481" y="3229620"/>
            <a:ext cx="5494819" cy="4725544"/>
          </a:xfrm>
          <a:custGeom>
            <a:avLst/>
            <a:gdLst/>
            <a:ahLst/>
            <a:cxnLst/>
            <a:rect l="l" t="t" r="r" b="b"/>
            <a:pathLst>
              <a:path w="5494819" h="4725544">
                <a:moveTo>
                  <a:pt x="0" y="0"/>
                </a:moveTo>
                <a:lnTo>
                  <a:pt x="5494819" y="0"/>
                </a:lnTo>
                <a:lnTo>
                  <a:pt x="5494819" y="4725544"/>
                </a:lnTo>
                <a:lnTo>
                  <a:pt x="0" y="472554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3" name="Freeform 3"/>
          <p:cNvSpPr/>
          <p:nvPr/>
        </p:nvSpPr>
        <p:spPr>
          <a:xfrm>
            <a:off x="12030132" y="3697425"/>
            <a:ext cx="1396634" cy="1745793"/>
          </a:xfrm>
          <a:custGeom>
            <a:avLst/>
            <a:gdLst/>
            <a:ahLst/>
            <a:cxnLst/>
            <a:rect l="l" t="t" r="r" b="b"/>
            <a:pathLst>
              <a:path w="1396634" h="1745793">
                <a:moveTo>
                  <a:pt x="0" y="0"/>
                </a:moveTo>
                <a:lnTo>
                  <a:pt x="1396634" y="0"/>
                </a:lnTo>
                <a:lnTo>
                  <a:pt x="1396634" y="1745793"/>
                </a:lnTo>
                <a:lnTo>
                  <a:pt x="0" y="174579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t-IT"/>
          </a:p>
        </p:txBody>
      </p:sp>
      <p:sp>
        <p:nvSpPr>
          <p:cNvPr id="4" name="Freeform 4"/>
          <p:cNvSpPr/>
          <p:nvPr/>
        </p:nvSpPr>
        <p:spPr>
          <a:xfrm>
            <a:off x="15594730" y="4863457"/>
            <a:ext cx="1457869" cy="1457869"/>
          </a:xfrm>
          <a:custGeom>
            <a:avLst/>
            <a:gdLst/>
            <a:ahLst/>
            <a:cxnLst/>
            <a:rect l="l" t="t" r="r" b="b"/>
            <a:pathLst>
              <a:path w="1457869" h="1457869">
                <a:moveTo>
                  <a:pt x="0" y="0"/>
                </a:moveTo>
                <a:lnTo>
                  <a:pt x="1457868" y="0"/>
                </a:lnTo>
                <a:lnTo>
                  <a:pt x="1457868" y="1457869"/>
                </a:lnTo>
                <a:lnTo>
                  <a:pt x="0" y="145786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it-IT"/>
          </a:p>
        </p:txBody>
      </p:sp>
      <p:sp>
        <p:nvSpPr>
          <p:cNvPr id="5" name="TextBox 5"/>
          <p:cNvSpPr txBox="1"/>
          <p:nvPr/>
        </p:nvSpPr>
        <p:spPr>
          <a:xfrm>
            <a:off x="4286905" y="280551"/>
            <a:ext cx="9714190" cy="1286748"/>
          </a:xfrm>
          <a:prstGeom prst="rect">
            <a:avLst/>
          </a:prstGeom>
        </p:spPr>
        <p:txBody>
          <a:bodyPr lIns="0" tIns="0" rIns="0" bIns="0" rtlCol="0" anchor="t">
            <a:spAutoFit/>
          </a:bodyPr>
          <a:lstStyle/>
          <a:p>
            <a:pPr algn="ctr">
              <a:lnSpc>
                <a:spcPts val="9926"/>
              </a:lnSpc>
              <a:spcBef>
                <a:spcPct val="0"/>
              </a:spcBef>
            </a:pPr>
            <a:r>
              <a:rPr lang="en-US" sz="7090" b="1">
                <a:solidFill>
                  <a:srgbClr val="FFFFFF"/>
                </a:solidFill>
                <a:latin typeface="Poppins Bold"/>
                <a:ea typeface="Poppins Bold"/>
                <a:cs typeface="Poppins Bold"/>
                <a:sym typeface="Poppins Bold"/>
              </a:rPr>
              <a:t>VACCINATION GOALS</a:t>
            </a:r>
          </a:p>
        </p:txBody>
      </p:sp>
      <p:sp>
        <p:nvSpPr>
          <p:cNvPr id="6" name="TextBox 6"/>
          <p:cNvSpPr txBox="1"/>
          <p:nvPr/>
        </p:nvSpPr>
        <p:spPr>
          <a:xfrm>
            <a:off x="807038" y="2895854"/>
            <a:ext cx="10291792" cy="4888251"/>
          </a:xfrm>
          <a:prstGeom prst="rect">
            <a:avLst/>
          </a:prstGeom>
        </p:spPr>
        <p:txBody>
          <a:bodyPr lIns="0" tIns="0" rIns="0" bIns="0" rtlCol="0" anchor="t">
            <a:spAutoFit/>
          </a:bodyPr>
          <a:lstStyle/>
          <a:p>
            <a:pPr marL="859436" lvl="1" indent="-429718" algn="l">
              <a:lnSpc>
                <a:spcPts val="9951"/>
              </a:lnSpc>
              <a:buAutoNum type="arabicPeriod"/>
            </a:pPr>
            <a:r>
              <a:rPr lang="en-US" sz="3980" b="1">
                <a:solidFill>
                  <a:srgbClr val="FFFFFF"/>
                </a:solidFill>
                <a:latin typeface="Roboto Bold"/>
                <a:ea typeface="Roboto Bold"/>
                <a:cs typeface="Roboto Bold"/>
                <a:sym typeface="Roboto Bold"/>
              </a:rPr>
              <a:t>Protect</a:t>
            </a:r>
            <a:r>
              <a:rPr lang="en-US" sz="3980">
                <a:solidFill>
                  <a:srgbClr val="FFFFFF"/>
                </a:solidFill>
                <a:latin typeface="Roboto"/>
                <a:ea typeface="Roboto"/>
                <a:cs typeface="Roboto"/>
                <a:sym typeface="Roboto"/>
              </a:rPr>
              <a:t> as many nodes as possible</a:t>
            </a:r>
          </a:p>
          <a:p>
            <a:pPr marL="859436" lvl="1" indent="-429718" algn="l">
              <a:lnSpc>
                <a:spcPts val="9951"/>
              </a:lnSpc>
              <a:buAutoNum type="arabicPeriod"/>
            </a:pPr>
            <a:r>
              <a:rPr lang="en-US" sz="3980" b="1">
                <a:solidFill>
                  <a:srgbClr val="FFFFFF"/>
                </a:solidFill>
                <a:latin typeface="Roboto Bold"/>
                <a:ea typeface="Roboto Bold"/>
                <a:cs typeface="Roboto Bold"/>
                <a:sym typeface="Roboto Bold"/>
              </a:rPr>
              <a:t>Delay and reduce</a:t>
            </a:r>
            <a:r>
              <a:rPr lang="en-US" sz="3980">
                <a:solidFill>
                  <a:srgbClr val="FFFFFF"/>
                </a:solidFill>
                <a:latin typeface="Roboto"/>
                <a:ea typeface="Roboto"/>
                <a:cs typeface="Roboto"/>
                <a:sym typeface="Roboto"/>
              </a:rPr>
              <a:t> the peak</a:t>
            </a:r>
          </a:p>
          <a:p>
            <a:pPr marL="859436" lvl="1" indent="-429718" algn="l">
              <a:lnSpc>
                <a:spcPts val="9951"/>
              </a:lnSpc>
              <a:buAutoNum type="arabicPeriod"/>
            </a:pPr>
            <a:r>
              <a:rPr lang="en-US" sz="3980" b="1">
                <a:solidFill>
                  <a:srgbClr val="FFFFFF"/>
                </a:solidFill>
                <a:latin typeface="Roboto Bold"/>
                <a:ea typeface="Roboto Bold"/>
                <a:cs typeface="Roboto Bold"/>
                <a:sym typeface="Roboto Bold"/>
              </a:rPr>
              <a:t>Protect </a:t>
            </a:r>
            <a:r>
              <a:rPr lang="en-US" sz="3980">
                <a:solidFill>
                  <a:srgbClr val="FFFFFF"/>
                </a:solidFill>
                <a:latin typeface="Roboto"/>
                <a:ea typeface="Roboto"/>
                <a:cs typeface="Roboto"/>
                <a:sym typeface="Roboto"/>
              </a:rPr>
              <a:t>as much population as possible</a:t>
            </a:r>
          </a:p>
          <a:p>
            <a:pPr marL="859436" lvl="1" indent="-429718" algn="l">
              <a:lnSpc>
                <a:spcPts val="9951"/>
              </a:lnSpc>
              <a:buAutoNum type="arabicPeriod"/>
            </a:pPr>
            <a:r>
              <a:rPr lang="en-US" sz="3980">
                <a:solidFill>
                  <a:srgbClr val="FFFFFF"/>
                </a:solidFill>
                <a:latin typeface="Roboto"/>
                <a:ea typeface="Roboto"/>
                <a:cs typeface="Roboto"/>
                <a:sym typeface="Roboto"/>
              </a:rPr>
              <a:t>Select the most </a:t>
            </a:r>
            <a:r>
              <a:rPr lang="en-US" sz="3980" b="1">
                <a:solidFill>
                  <a:srgbClr val="FFFFFF"/>
                </a:solidFill>
                <a:latin typeface="Roboto Bold"/>
                <a:ea typeface="Roboto Bold"/>
                <a:cs typeface="Roboto Bold"/>
                <a:sym typeface="Roboto Bold"/>
              </a:rPr>
              <a:t>cost efficent</a:t>
            </a:r>
            <a:r>
              <a:rPr lang="en-US" sz="3980">
                <a:solidFill>
                  <a:srgbClr val="FFFFFF"/>
                </a:solidFill>
                <a:latin typeface="Roboto"/>
                <a:ea typeface="Roboto"/>
                <a:cs typeface="Roboto"/>
                <a:sym typeface="Roboto"/>
              </a:rPr>
              <a:t> strategy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1028700" y="334901"/>
            <a:ext cx="2862789" cy="2075522"/>
          </a:xfrm>
          <a:custGeom>
            <a:avLst/>
            <a:gdLst/>
            <a:ahLst/>
            <a:cxnLst/>
            <a:rect l="l" t="t" r="r" b="b"/>
            <a:pathLst>
              <a:path w="2862789" h="2075522">
                <a:moveTo>
                  <a:pt x="0" y="0"/>
                </a:moveTo>
                <a:lnTo>
                  <a:pt x="2862789" y="0"/>
                </a:lnTo>
                <a:lnTo>
                  <a:pt x="2862789" y="2075522"/>
                </a:lnTo>
                <a:lnTo>
                  <a:pt x="0" y="207552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3" name="TextBox 3"/>
          <p:cNvSpPr txBox="1"/>
          <p:nvPr/>
        </p:nvSpPr>
        <p:spPr>
          <a:xfrm>
            <a:off x="6088736" y="280551"/>
            <a:ext cx="6255663" cy="1206741"/>
          </a:xfrm>
          <a:prstGeom prst="rect">
            <a:avLst/>
          </a:prstGeom>
        </p:spPr>
        <p:txBody>
          <a:bodyPr wrap="square" lIns="0" tIns="0" rIns="0" bIns="0" rtlCol="0" anchor="t">
            <a:spAutoFit/>
          </a:bodyPr>
          <a:lstStyle/>
          <a:p>
            <a:pPr algn="ctr">
              <a:lnSpc>
                <a:spcPts val="9926"/>
              </a:lnSpc>
              <a:spcBef>
                <a:spcPct val="0"/>
              </a:spcBef>
            </a:pPr>
            <a:r>
              <a:rPr lang="en-US" sz="7090" b="1" dirty="0">
                <a:solidFill>
                  <a:srgbClr val="FFFFFF"/>
                </a:solidFill>
                <a:latin typeface="Poppins Bold"/>
                <a:ea typeface="Poppins Bold"/>
                <a:cs typeface="Poppins Bold"/>
                <a:sym typeface="Poppins Bold"/>
              </a:rPr>
              <a:t>SIMULATIONS</a:t>
            </a:r>
          </a:p>
        </p:txBody>
      </p:sp>
      <p:sp>
        <p:nvSpPr>
          <p:cNvPr id="4" name="TextBox 4"/>
          <p:cNvSpPr txBox="1"/>
          <p:nvPr/>
        </p:nvSpPr>
        <p:spPr>
          <a:xfrm>
            <a:off x="1028700" y="3009507"/>
            <a:ext cx="16230600" cy="1189990"/>
          </a:xfrm>
          <a:prstGeom prst="rect">
            <a:avLst/>
          </a:prstGeom>
        </p:spPr>
        <p:txBody>
          <a:bodyPr lIns="0" tIns="0" rIns="0" bIns="0" rtlCol="0" anchor="t">
            <a:spAutoFit/>
          </a:bodyPr>
          <a:lstStyle/>
          <a:p>
            <a:pPr algn="l">
              <a:lnSpc>
                <a:spcPts val="4759"/>
              </a:lnSpc>
            </a:pPr>
            <a:r>
              <a:rPr lang="en-US" sz="3399">
                <a:solidFill>
                  <a:srgbClr val="FFFFFF"/>
                </a:solidFill>
                <a:latin typeface="Roboto"/>
                <a:ea typeface="Roboto"/>
                <a:cs typeface="Roboto"/>
                <a:sym typeface="Roboto"/>
              </a:rPr>
              <a:t>8 different starting seeds were selected: Chicago, Atlanta, Los Angeles, Istanbul, London, New York JFK, Pago Pago and Uzhorod</a:t>
            </a:r>
          </a:p>
        </p:txBody>
      </p:sp>
      <p:sp>
        <p:nvSpPr>
          <p:cNvPr id="5" name="TextBox 5"/>
          <p:cNvSpPr txBox="1"/>
          <p:nvPr/>
        </p:nvSpPr>
        <p:spPr>
          <a:xfrm>
            <a:off x="1028700" y="4897755"/>
            <a:ext cx="16230600" cy="589915"/>
          </a:xfrm>
          <a:prstGeom prst="rect">
            <a:avLst/>
          </a:prstGeom>
        </p:spPr>
        <p:txBody>
          <a:bodyPr lIns="0" tIns="0" rIns="0" bIns="0" rtlCol="0" anchor="t">
            <a:spAutoFit/>
          </a:bodyPr>
          <a:lstStyle/>
          <a:p>
            <a:pPr algn="l">
              <a:lnSpc>
                <a:spcPts val="4759"/>
              </a:lnSpc>
            </a:pPr>
            <a:r>
              <a:rPr lang="en-US" sz="3399">
                <a:solidFill>
                  <a:srgbClr val="FFFFFF"/>
                </a:solidFill>
                <a:latin typeface="Roboto"/>
                <a:ea typeface="Roboto"/>
                <a:cs typeface="Roboto"/>
                <a:sym typeface="Roboto"/>
              </a:rPr>
              <a:t>3 different R0 were selected: </a:t>
            </a:r>
            <a:r>
              <a:rPr lang="en-US" sz="3399" b="1">
                <a:solidFill>
                  <a:srgbClr val="FFFFFF"/>
                </a:solidFill>
                <a:latin typeface="Roboto Bold"/>
                <a:ea typeface="Roboto Bold"/>
                <a:cs typeface="Roboto Bold"/>
                <a:sym typeface="Roboto Bold"/>
              </a:rPr>
              <a:t>1.2, 1.9 and 2,8</a:t>
            </a:r>
          </a:p>
        </p:txBody>
      </p:sp>
      <p:sp>
        <p:nvSpPr>
          <p:cNvPr id="6" name="TextBox 6"/>
          <p:cNvSpPr txBox="1"/>
          <p:nvPr/>
        </p:nvSpPr>
        <p:spPr>
          <a:xfrm>
            <a:off x="1028700" y="6182995"/>
            <a:ext cx="16230600" cy="1189990"/>
          </a:xfrm>
          <a:prstGeom prst="rect">
            <a:avLst/>
          </a:prstGeom>
        </p:spPr>
        <p:txBody>
          <a:bodyPr lIns="0" tIns="0" rIns="0" bIns="0" rtlCol="0" anchor="t">
            <a:spAutoFit/>
          </a:bodyPr>
          <a:lstStyle/>
          <a:p>
            <a:pPr algn="l">
              <a:lnSpc>
                <a:spcPts val="4759"/>
              </a:lnSpc>
            </a:pPr>
            <a:r>
              <a:rPr lang="en-US" sz="3399">
                <a:solidFill>
                  <a:srgbClr val="FFFFFF"/>
                </a:solidFill>
                <a:latin typeface="Roboto"/>
                <a:ea typeface="Roboto"/>
                <a:cs typeface="Roboto"/>
                <a:sym typeface="Roboto"/>
              </a:rPr>
              <a:t>Each combination of seed and R0 was run </a:t>
            </a:r>
            <a:r>
              <a:rPr lang="en-US" sz="3399" b="1">
                <a:solidFill>
                  <a:srgbClr val="FFFFFF"/>
                </a:solidFill>
                <a:latin typeface="Roboto Bold"/>
                <a:ea typeface="Roboto Bold"/>
                <a:cs typeface="Roboto Bold"/>
                <a:sym typeface="Roboto Bold"/>
              </a:rPr>
              <a:t>30 times</a:t>
            </a:r>
            <a:r>
              <a:rPr lang="en-US" sz="3399">
                <a:solidFill>
                  <a:srgbClr val="FFFFFF"/>
                </a:solidFill>
                <a:latin typeface="Roboto"/>
                <a:ea typeface="Roboto"/>
                <a:cs typeface="Roboto"/>
                <a:sym typeface="Roboto"/>
              </a:rPr>
              <a:t>, except for R0 = 1.2, which was run </a:t>
            </a:r>
            <a:r>
              <a:rPr lang="en-US" sz="3399" b="1">
                <a:solidFill>
                  <a:srgbClr val="FFFFFF"/>
                </a:solidFill>
                <a:latin typeface="Roboto Bold"/>
                <a:ea typeface="Roboto Bold"/>
                <a:cs typeface="Roboto Bold"/>
                <a:sym typeface="Roboto Bold"/>
              </a:rPr>
              <a:t>50 times</a:t>
            </a:r>
          </a:p>
        </p:txBody>
      </p:sp>
      <p:sp>
        <p:nvSpPr>
          <p:cNvPr id="7" name="TextBox 7"/>
          <p:cNvSpPr txBox="1"/>
          <p:nvPr/>
        </p:nvSpPr>
        <p:spPr>
          <a:xfrm>
            <a:off x="1028700" y="8068310"/>
            <a:ext cx="16230600" cy="1189990"/>
          </a:xfrm>
          <a:prstGeom prst="rect">
            <a:avLst/>
          </a:prstGeom>
        </p:spPr>
        <p:txBody>
          <a:bodyPr lIns="0" tIns="0" rIns="0" bIns="0" rtlCol="0" anchor="t">
            <a:spAutoFit/>
          </a:bodyPr>
          <a:lstStyle/>
          <a:p>
            <a:pPr algn="l">
              <a:lnSpc>
                <a:spcPts val="4759"/>
              </a:lnSpc>
            </a:pPr>
            <a:r>
              <a:rPr lang="en-US" sz="3399">
                <a:solidFill>
                  <a:srgbClr val="FFFFFF"/>
                </a:solidFill>
                <a:latin typeface="Roboto"/>
                <a:ea typeface="Roboto"/>
                <a:cs typeface="Roboto"/>
                <a:sym typeface="Roboto"/>
              </a:rPr>
              <a:t>Due to computational limitations, the runs were capped at </a:t>
            </a:r>
            <a:r>
              <a:rPr lang="en-US" sz="3399" b="1">
                <a:solidFill>
                  <a:srgbClr val="FFFFFF"/>
                </a:solidFill>
                <a:latin typeface="Roboto Bold"/>
                <a:ea typeface="Roboto Bold"/>
                <a:cs typeface="Roboto Bold"/>
                <a:sym typeface="Roboto Bold"/>
              </a:rPr>
              <a:t>548 days</a:t>
            </a:r>
            <a:r>
              <a:rPr lang="en-US" sz="3399">
                <a:solidFill>
                  <a:srgbClr val="FFFFFF"/>
                </a:solidFill>
                <a:latin typeface="Roboto"/>
                <a:ea typeface="Roboto"/>
                <a:cs typeface="Roboto"/>
                <a:sym typeface="Roboto"/>
              </a:rPr>
              <a:t> or </a:t>
            </a:r>
            <a:r>
              <a:rPr lang="en-US" sz="3399" b="1">
                <a:solidFill>
                  <a:srgbClr val="FFFFFF"/>
                </a:solidFill>
                <a:latin typeface="Roboto Bold"/>
                <a:ea typeface="Roboto Bold"/>
                <a:cs typeface="Roboto Bold"/>
                <a:sym typeface="Roboto Bold"/>
              </a:rPr>
              <a:t>1 and a half years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383124" y="2282421"/>
            <a:ext cx="17521752" cy="6351635"/>
          </a:xfrm>
          <a:custGeom>
            <a:avLst/>
            <a:gdLst/>
            <a:ahLst/>
            <a:cxnLst/>
            <a:rect l="l" t="t" r="r" b="b"/>
            <a:pathLst>
              <a:path w="17521752" h="6351635">
                <a:moveTo>
                  <a:pt x="0" y="0"/>
                </a:moveTo>
                <a:lnTo>
                  <a:pt x="17521752" y="0"/>
                </a:lnTo>
                <a:lnTo>
                  <a:pt x="17521752" y="6351635"/>
                </a:lnTo>
                <a:lnTo>
                  <a:pt x="0" y="6351635"/>
                </a:lnTo>
                <a:lnTo>
                  <a:pt x="0" y="0"/>
                </a:lnTo>
                <a:close/>
              </a:path>
            </a:pathLst>
          </a:custGeom>
          <a:blipFill>
            <a:blip r:embed="rId2"/>
            <a:stretch>
              <a:fillRect/>
            </a:stretch>
          </a:blipFill>
        </p:spPr>
        <p:txBody>
          <a:bodyPr/>
          <a:lstStyle/>
          <a:p>
            <a:endParaRPr lang="it-IT"/>
          </a:p>
        </p:txBody>
      </p:sp>
      <p:sp>
        <p:nvSpPr>
          <p:cNvPr id="3" name="TextBox 3"/>
          <p:cNvSpPr txBox="1"/>
          <p:nvPr/>
        </p:nvSpPr>
        <p:spPr>
          <a:xfrm>
            <a:off x="1388328" y="280551"/>
            <a:ext cx="15680472" cy="1206741"/>
          </a:xfrm>
          <a:prstGeom prst="rect">
            <a:avLst/>
          </a:prstGeom>
        </p:spPr>
        <p:txBody>
          <a:bodyPr wrap="square" lIns="0" tIns="0" rIns="0" bIns="0" rtlCol="0" anchor="t">
            <a:spAutoFit/>
          </a:bodyPr>
          <a:lstStyle/>
          <a:p>
            <a:pPr algn="ctr">
              <a:lnSpc>
                <a:spcPts val="9926"/>
              </a:lnSpc>
              <a:spcBef>
                <a:spcPct val="0"/>
              </a:spcBef>
            </a:pPr>
            <a:r>
              <a:rPr lang="en-US" sz="7090" b="1" dirty="0">
                <a:solidFill>
                  <a:srgbClr val="FFFFFF"/>
                </a:solidFill>
                <a:latin typeface="Poppins Bold"/>
                <a:ea typeface="Poppins Bold"/>
                <a:cs typeface="Poppins Bold"/>
                <a:sym typeface="Poppins Bold"/>
              </a:rPr>
              <a:t>RESULTS - OUTBREAK PROBABILITY</a:t>
            </a:r>
          </a:p>
        </p:txBody>
      </p:sp>
      <p:sp>
        <p:nvSpPr>
          <p:cNvPr id="4" name="TextBox 4"/>
          <p:cNvSpPr txBox="1"/>
          <p:nvPr/>
        </p:nvSpPr>
        <p:spPr>
          <a:xfrm>
            <a:off x="1028700" y="1491099"/>
            <a:ext cx="17181663" cy="589915"/>
          </a:xfrm>
          <a:prstGeom prst="rect">
            <a:avLst/>
          </a:prstGeom>
        </p:spPr>
        <p:txBody>
          <a:bodyPr lIns="0" tIns="0" rIns="0" bIns="0" rtlCol="0" anchor="t">
            <a:spAutoFit/>
          </a:bodyPr>
          <a:lstStyle/>
          <a:p>
            <a:pPr algn="ctr">
              <a:lnSpc>
                <a:spcPts val="4759"/>
              </a:lnSpc>
            </a:pPr>
            <a:r>
              <a:rPr lang="en-US" sz="3399">
                <a:solidFill>
                  <a:srgbClr val="FFFFFF"/>
                </a:solidFill>
                <a:latin typeface="Roboto"/>
                <a:ea typeface="Roboto"/>
                <a:cs typeface="Roboto"/>
                <a:sym typeface="Roboto"/>
              </a:rPr>
              <a:t>Outbreak = more than 1% of the nodes is infected</a:t>
            </a:r>
          </a:p>
        </p:txBody>
      </p:sp>
      <p:sp>
        <p:nvSpPr>
          <p:cNvPr id="5" name="TextBox 5"/>
          <p:cNvSpPr txBox="1"/>
          <p:nvPr/>
        </p:nvSpPr>
        <p:spPr>
          <a:xfrm>
            <a:off x="383124" y="8795981"/>
            <a:ext cx="16350863" cy="1279750"/>
          </a:xfrm>
          <a:prstGeom prst="rect">
            <a:avLst/>
          </a:prstGeom>
        </p:spPr>
        <p:txBody>
          <a:bodyPr lIns="0" tIns="0" rIns="0" bIns="0" rtlCol="0" anchor="t">
            <a:spAutoFit/>
          </a:bodyPr>
          <a:lstStyle/>
          <a:p>
            <a:pPr algn="l">
              <a:lnSpc>
                <a:spcPts val="3450"/>
              </a:lnSpc>
            </a:pPr>
            <a:r>
              <a:rPr lang="en-US" sz="2464">
                <a:solidFill>
                  <a:srgbClr val="FFFCFC"/>
                </a:solidFill>
                <a:latin typeface="Open Sans"/>
                <a:ea typeface="Open Sans"/>
                <a:cs typeface="Open Sans"/>
                <a:sym typeface="Open Sans"/>
              </a:rPr>
              <a:t>Hub seeds: outbreak certain under every strategy, at every R₀</a:t>
            </a:r>
          </a:p>
          <a:p>
            <a:pPr algn="l">
              <a:lnSpc>
                <a:spcPts val="3450"/>
              </a:lnSpc>
            </a:pPr>
            <a:r>
              <a:rPr lang="en-US" sz="2464">
                <a:solidFill>
                  <a:srgbClr val="FFFCFC"/>
                </a:solidFill>
                <a:latin typeface="Open Sans"/>
                <a:ea typeface="Open Sans"/>
                <a:cs typeface="Open Sans"/>
                <a:sym typeface="Open Sans"/>
              </a:rPr>
              <a:t>Peripheral seeds: PPG (worst degree) is suppressed by most strategies while UDJ (worst PR) is largely unaffected, CI does the reverse.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1418511" y="2607914"/>
            <a:ext cx="15294796" cy="6165715"/>
          </a:xfrm>
          <a:custGeom>
            <a:avLst/>
            <a:gdLst/>
            <a:ahLst/>
            <a:cxnLst/>
            <a:rect l="l" t="t" r="r" b="b"/>
            <a:pathLst>
              <a:path w="15294796" h="6165715">
                <a:moveTo>
                  <a:pt x="0" y="0"/>
                </a:moveTo>
                <a:lnTo>
                  <a:pt x="15294796" y="0"/>
                </a:lnTo>
                <a:lnTo>
                  <a:pt x="15294796" y="6165714"/>
                </a:lnTo>
                <a:lnTo>
                  <a:pt x="0" y="6165714"/>
                </a:lnTo>
                <a:lnTo>
                  <a:pt x="0" y="0"/>
                </a:lnTo>
                <a:close/>
              </a:path>
            </a:pathLst>
          </a:custGeom>
          <a:blipFill>
            <a:blip r:embed="rId2"/>
            <a:stretch>
              <a:fillRect/>
            </a:stretch>
          </a:blipFill>
        </p:spPr>
        <p:txBody>
          <a:bodyPr/>
          <a:lstStyle/>
          <a:p>
            <a:endParaRPr lang="it-IT"/>
          </a:p>
        </p:txBody>
      </p:sp>
      <p:sp>
        <p:nvSpPr>
          <p:cNvPr id="3" name="TextBox 3"/>
          <p:cNvSpPr txBox="1"/>
          <p:nvPr/>
        </p:nvSpPr>
        <p:spPr>
          <a:xfrm>
            <a:off x="1418511" y="280551"/>
            <a:ext cx="15650289" cy="1206741"/>
          </a:xfrm>
          <a:prstGeom prst="rect">
            <a:avLst/>
          </a:prstGeom>
        </p:spPr>
        <p:txBody>
          <a:bodyPr wrap="square" lIns="0" tIns="0" rIns="0" bIns="0" rtlCol="0" anchor="t">
            <a:spAutoFit/>
          </a:bodyPr>
          <a:lstStyle/>
          <a:p>
            <a:pPr algn="ctr">
              <a:lnSpc>
                <a:spcPts val="9926"/>
              </a:lnSpc>
              <a:spcBef>
                <a:spcPct val="0"/>
              </a:spcBef>
            </a:pPr>
            <a:r>
              <a:rPr lang="en-US" sz="7090" b="1" dirty="0">
                <a:solidFill>
                  <a:srgbClr val="FFFFFF"/>
                </a:solidFill>
                <a:latin typeface="Poppins Bold"/>
                <a:ea typeface="Poppins Bold"/>
                <a:cs typeface="Poppins Bold"/>
                <a:sym typeface="Poppins Bold"/>
              </a:rPr>
              <a:t>RESULTS - INFECTION REDUCTIONS</a:t>
            </a:r>
          </a:p>
        </p:txBody>
      </p:sp>
      <p:sp>
        <p:nvSpPr>
          <p:cNvPr id="4" name="TextBox 4"/>
          <p:cNvSpPr txBox="1"/>
          <p:nvPr/>
        </p:nvSpPr>
        <p:spPr>
          <a:xfrm>
            <a:off x="3409097" y="1742960"/>
            <a:ext cx="11925654" cy="622618"/>
          </a:xfrm>
          <a:prstGeom prst="rect">
            <a:avLst/>
          </a:prstGeom>
        </p:spPr>
        <p:txBody>
          <a:bodyPr lIns="0" tIns="0" rIns="0" bIns="0" rtlCol="0" anchor="t">
            <a:spAutoFit/>
          </a:bodyPr>
          <a:lstStyle/>
          <a:p>
            <a:pPr algn="ctr">
              <a:lnSpc>
                <a:spcPts val="5111"/>
              </a:lnSpc>
            </a:pPr>
            <a:r>
              <a:rPr lang="en-US" sz="3650" b="1">
                <a:solidFill>
                  <a:srgbClr val="FEFEFE"/>
                </a:solidFill>
                <a:latin typeface="Open Sans Bold"/>
                <a:ea typeface="Open Sans Bold"/>
                <a:cs typeface="Open Sans Bold"/>
                <a:sym typeface="Open Sans Bold"/>
              </a:rPr>
              <a:t>Measured on succesful outbreak runs only</a:t>
            </a:r>
          </a:p>
        </p:txBody>
      </p:sp>
      <p:sp>
        <p:nvSpPr>
          <p:cNvPr id="5" name="TextBox 5"/>
          <p:cNvSpPr txBox="1"/>
          <p:nvPr/>
        </p:nvSpPr>
        <p:spPr>
          <a:xfrm>
            <a:off x="1418511" y="9201150"/>
            <a:ext cx="15033814" cy="431696"/>
          </a:xfrm>
          <a:prstGeom prst="rect">
            <a:avLst/>
          </a:prstGeom>
        </p:spPr>
        <p:txBody>
          <a:bodyPr lIns="0" tIns="0" rIns="0" bIns="0" rtlCol="0" anchor="t">
            <a:spAutoFit/>
          </a:bodyPr>
          <a:lstStyle/>
          <a:p>
            <a:pPr algn="l">
              <a:lnSpc>
                <a:spcPts val="3505"/>
              </a:lnSpc>
            </a:pPr>
            <a:r>
              <a:rPr lang="en-US" sz="2504" b="1">
                <a:solidFill>
                  <a:srgbClr val="FFFCFC"/>
                </a:solidFill>
                <a:latin typeface="Open Sans Bold"/>
                <a:ea typeface="Open Sans Bold"/>
                <a:cs typeface="Open Sans Bold"/>
                <a:sym typeface="Open Sans Bold"/>
              </a:rPr>
              <a:t>Degree+PR </a:t>
            </a:r>
            <a:r>
              <a:rPr lang="en-US" sz="2504">
                <a:solidFill>
                  <a:srgbClr val="FFFCFC"/>
                </a:solidFill>
                <a:latin typeface="Open Sans"/>
                <a:ea typeface="Open Sans"/>
                <a:cs typeface="Open Sans"/>
                <a:sym typeface="Open Sans"/>
              </a:rPr>
              <a:t>leads at every R₀. All strategies degrade as R₀ grows, and the gap between them narrows.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1484796" y="1658562"/>
            <a:ext cx="15318408" cy="6969876"/>
          </a:xfrm>
          <a:custGeom>
            <a:avLst/>
            <a:gdLst/>
            <a:ahLst/>
            <a:cxnLst/>
            <a:rect l="l" t="t" r="r" b="b"/>
            <a:pathLst>
              <a:path w="15318408" h="6969876">
                <a:moveTo>
                  <a:pt x="0" y="0"/>
                </a:moveTo>
                <a:lnTo>
                  <a:pt x="15318408" y="0"/>
                </a:lnTo>
                <a:lnTo>
                  <a:pt x="15318408" y="6969876"/>
                </a:lnTo>
                <a:lnTo>
                  <a:pt x="0" y="6969876"/>
                </a:lnTo>
                <a:lnTo>
                  <a:pt x="0" y="0"/>
                </a:lnTo>
                <a:close/>
              </a:path>
            </a:pathLst>
          </a:custGeom>
          <a:blipFill>
            <a:blip r:embed="rId2"/>
            <a:stretch>
              <a:fillRect/>
            </a:stretch>
          </a:blipFill>
        </p:spPr>
        <p:txBody>
          <a:bodyPr/>
          <a:lstStyle/>
          <a:p>
            <a:endParaRPr lang="it-IT"/>
          </a:p>
        </p:txBody>
      </p:sp>
      <p:sp>
        <p:nvSpPr>
          <p:cNvPr id="3" name="TextBox 3"/>
          <p:cNvSpPr txBox="1"/>
          <p:nvPr/>
        </p:nvSpPr>
        <p:spPr>
          <a:xfrm>
            <a:off x="419368" y="494115"/>
            <a:ext cx="17449263" cy="926295"/>
          </a:xfrm>
          <a:prstGeom prst="rect">
            <a:avLst/>
          </a:prstGeom>
        </p:spPr>
        <p:txBody>
          <a:bodyPr lIns="0" tIns="0" rIns="0" bIns="0" rtlCol="0" anchor="t">
            <a:spAutoFit/>
          </a:bodyPr>
          <a:lstStyle/>
          <a:p>
            <a:pPr algn="ctr">
              <a:lnSpc>
                <a:spcPts val="7219"/>
              </a:lnSpc>
              <a:spcBef>
                <a:spcPct val="0"/>
              </a:spcBef>
            </a:pPr>
            <a:r>
              <a:rPr lang="en-US" sz="5156" b="1">
                <a:solidFill>
                  <a:srgbClr val="FFFFFF"/>
                </a:solidFill>
                <a:latin typeface="Poppins Bold"/>
                <a:ea typeface="Poppins Bold"/>
                <a:cs typeface="Poppins Bold"/>
                <a:sym typeface="Poppins Bold"/>
              </a:rPr>
              <a:t>RESULTS - PEAK TIME INCREASE AND SIZE REDUCTION</a:t>
            </a:r>
          </a:p>
        </p:txBody>
      </p:sp>
      <p:sp>
        <p:nvSpPr>
          <p:cNvPr id="4" name="TextBox 4"/>
          <p:cNvSpPr txBox="1"/>
          <p:nvPr/>
        </p:nvSpPr>
        <p:spPr>
          <a:xfrm>
            <a:off x="1028700" y="8828463"/>
            <a:ext cx="16350863" cy="1289946"/>
          </a:xfrm>
          <a:prstGeom prst="rect">
            <a:avLst/>
          </a:prstGeom>
        </p:spPr>
        <p:txBody>
          <a:bodyPr lIns="0" tIns="0" rIns="0" bIns="0" rtlCol="0" anchor="t">
            <a:spAutoFit/>
          </a:bodyPr>
          <a:lstStyle/>
          <a:p>
            <a:pPr algn="l">
              <a:lnSpc>
                <a:spcPts val="3450"/>
              </a:lnSpc>
            </a:pPr>
            <a:r>
              <a:rPr lang="en-US" sz="2464">
                <a:solidFill>
                  <a:srgbClr val="FFFCFC"/>
                </a:solidFill>
                <a:latin typeface="Open Sans"/>
                <a:ea typeface="Open Sans"/>
                <a:cs typeface="Open Sans"/>
                <a:sym typeface="Open Sans"/>
              </a:rPr>
              <a:t>Hub seeds only, outbreak runs only and R0 of 1.2 removed since many baseline peaks were beyond 548 days.  </a:t>
            </a:r>
          </a:p>
          <a:p>
            <a:pPr algn="l">
              <a:lnSpc>
                <a:spcPts val="3450"/>
              </a:lnSpc>
            </a:pPr>
            <a:r>
              <a:rPr lang="en-US" sz="2464">
                <a:solidFill>
                  <a:srgbClr val="FFFCFC"/>
                </a:solidFill>
                <a:latin typeface="Open Sans"/>
                <a:ea typeface="Open Sans"/>
                <a:cs typeface="Open Sans"/>
                <a:sym typeface="Open Sans"/>
              </a:rPr>
              <a:t>The</a:t>
            </a:r>
            <a:r>
              <a:rPr lang="en-US" sz="2464" b="1">
                <a:solidFill>
                  <a:srgbClr val="FFFCFC"/>
                </a:solidFill>
                <a:latin typeface="Open Sans Bold"/>
                <a:ea typeface="Open Sans Bold"/>
                <a:cs typeface="Open Sans Bold"/>
                <a:sym typeface="Open Sans Bold"/>
              </a:rPr>
              <a:t> Collective Influence</a:t>
            </a:r>
            <a:r>
              <a:rPr lang="en-US" sz="2464">
                <a:solidFill>
                  <a:srgbClr val="FFFCFC"/>
                </a:solidFill>
                <a:latin typeface="Open Sans"/>
                <a:ea typeface="Open Sans"/>
                <a:cs typeface="Open Sans"/>
                <a:sym typeface="Open Sans"/>
              </a:rPr>
              <a:t> approach wins over the weighted degree+PageRank strategy achieving </a:t>
            </a:r>
            <a:r>
              <a:rPr lang="en-US" sz="2464" b="1">
                <a:solidFill>
                  <a:srgbClr val="FFFCFC"/>
                </a:solidFill>
                <a:latin typeface="Open Sans Bold"/>
                <a:ea typeface="Open Sans Bold"/>
                <a:cs typeface="Open Sans Bold"/>
                <a:sym typeface="Open Sans Bold"/>
              </a:rPr>
              <a:t>greater epidemic curve flattening</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1877954" y="1420410"/>
            <a:ext cx="14532092" cy="8528521"/>
          </a:xfrm>
          <a:custGeom>
            <a:avLst/>
            <a:gdLst/>
            <a:ahLst/>
            <a:cxnLst/>
            <a:rect l="l" t="t" r="r" b="b"/>
            <a:pathLst>
              <a:path w="14532092" h="8528521">
                <a:moveTo>
                  <a:pt x="0" y="0"/>
                </a:moveTo>
                <a:lnTo>
                  <a:pt x="14532092" y="0"/>
                </a:lnTo>
                <a:lnTo>
                  <a:pt x="14532092" y="8528522"/>
                </a:lnTo>
                <a:lnTo>
                  <a:pt x="0" y="8528522"/>
                </a:lnTo>
                <a:lnTo>
                  <a:pt x="0" y="0"/>
                </a:lnTo>
                <a:close/>
              </a:path>
            </a:pathLst>
          </a:custGeom>
          <a:blipFill>
            <a:blip r:embed="rId2"/>
            <a:stretch>
              <a:fillRect/>
            </a:stretch>
          </a:blipFill>
        </p:spPr>
        <p:txBody>
          <a:bodyPr/>
          <a:lstStyle/>
          <a:p>
            <a:endParaRPr lang="it-IT"/>
          </a:p>
        </p:txBody>
      </p:sp>
      <p:sp>
        <p:nvSpPr>
          <p:cNvPr id="3" name="Freeform 3"/>
          <p:cNvSpPr/>
          <p:nvPr/>
        </p:nvSpPr>
        <p:spPr>
          <a:xfrm>
            <a:off x="1877954" y="1420410"/>
            <a:ext cx="14532092" cy="8528521"/>
          </a:xfrm>
          <a:custGeom>
            <a:avLst/>
            <a:gdLst/>
            <a:ahLst/>
            <a:cxnLst/>
            <a:rect l="l" t="t" r="r" b="b"/>
            <a:pathLst>
              <a:path w="14532092" h="8528521">
                <a:moveTo>
                  <a:pt x="0" y="0"/>
                </a:moveTo>
                <a:lnTo>
                  <a:pt x="14532092" y="0"/>
                </a:lnTo>
                <a:lnTo>
                  <a:pt x="14532092" y="8528522"/>
                </a:lnTo>
                <a:lnTo>
                  <a:pt x="0" y="8528522"/>
                </a:lnTo>
                <a:lnTo>
                  <a:pt x="0" y="0"/>
                </a:lnTo>
                <a:close/>
              </a:path>
            </a:pathLst>
          </a:custGeom>
          <a:blipFill>
            <a:blip r:embed="rId3"/>
            <a:stretch>
              <a:fillRect/>
            </a:stretch>
          </a:blipFill>
        </p:spPr>
        <p:txBody>
          <a:bodyPr/>
          <a:lstStyle/>
          <a:p>
            <a:endParaRPr lang="it-IT"/>
          </a:p>
        </p:txBody>
      </p:sp>
      <p:sp>
        <p:nvSpPr>
          <p:cNvPr id="4" name="TextBox 4"/>
          <p:cNvSpPr txBox="1"/>
          <p:nvPr/>
        </p:nvSpPr>
        <p:spPr>
          <a:xfrm>
            <a:off x="370546" y="261167"/>
            <a:ext cx="17546908" cy="1060183"/>
          </a:xfrm>
          <a:prstGeom prst="rect">
            <a:avLst/>
          </a:prstGeom>
        </p:spPr>
        <p:txBody>
          <a:bodyPr lIns="0" tIns="0" rIns="0" bIns="0" rtlCol="0" anchor="t">
            <a:spAutoFit/>
          </a:bodyPr>
          <a:lstStyle/>
          <a:p>
            <a:pPr algn="ctr">
              <a:lnSpc>
                <a:spcPts val="8239"/>
              </a:lnSpc>
              <a:spcBef>
                <a:spcPct val="0"/>
              </a:spcBef>
            </a:pPr>
            <a:r>
              <a:rPr lang="en-US" sz="5885" b="1">
                <a:solidFill>
                  <a:srgbClr val="FFFFFF"/>
                </a:solidFill>
                <a:latin typeface="Poppins Bold"/>
                <a:ea typeface="Poppins Bold"/>
                <a:cs typeface="Poppins Bold"/>
                <a:sym typeface="Poppins Bold"/>
              </a:rPr>
              <a:t>RESULTS - MEASURES EFFICIENCIES FOR NODES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a:off x="1877954" y="1420410"/>
            <a:ext cx="14532092" cy="8528521"/>
          </a:xfrm>
          <a:custGeom>
            <a:avLst/>
            <a:gdLst/>
            <a:ahLst/>
            <a:cxnLst/>
            <a:rect l="l" t="t" r="r" b="b"/>
            <a:pathLst>
              <a:path w="14532092" h="8528521">
                <a:moveTo>
                  <a:pt x="0" y="0"/>
                </a:moveTo>
                <a:lnTo>
                  <a:pt x="14532092" y="0"/>
                </a:lnTo>
                <a:lnTo>
                  <a:pt x="14532092" y="8528522"/>
                </a:lnTo>
                <a:lnTo>
                  <a:pt x="0" y="8528522"/>
                </a:lnTo>
                <a:lnTo>
                  <a:pt x="0" y="0"/>
                </a:lnTo>
                <a:close/>
              </a:path>
            </a:pathLst>
          </a:custGeom>
          <a:blipFill>
            <a:blip r:embed="rId2"/>
            <a:stretch>
              <a:fillRect/>
            </a:stretch>
          </a:blipFill>
        </p:spPr>
        <p:txBody>
          <a:bodyPr/>
          <a:lstStyle/>
          <a:p>
            <a:endParaRPr lang="it-IT"/>
          </a:p>
        </p:txBody>
      </p:sp>
      <p:sp>
        <p:nvSpPr>
          <p:cNvPr id="3" name="TextBox 3"/>
          <p:cNvSpPr txBox="1"/>
          <p:nvPr/>
        </p:nvSpPr>
        <p:spPr>
          <a:xfrm>
            <a:off x="370546" y="289742"/>
            <a:ext cx="17546908" cy="925562"/>
          </a:xfrm>
          <a:prstGeom prst="rect">
            <a:avLst/>
          </a:prstGeom>
        </p:spPr>
        <p:txBody>
          <a:bodyPr lIns="0" tIns="0" rIns="0" bIns="0" rtlCol="0" anchor="t">
            <a:spAutoFit/>
          </a:bodyPr>
          <a:lstStyle/>
          <a:p>
            <a:pPr algn="ctr">
              <a:lnSpc>
                <a:spcPts val="7259"/>
              </a:lnSpc>
              <a:spcBef>
                <a:spcPct val="0"/>
              </a:spcBef>
            </a:pPr>
            <a:r>
              <a:rPr lang="en-US" sz="5185" b="1">
                <a:solidFill>
                  <a:srgbClr val="FFFFFF"/>
                </a:solidFill>
                <a:latin typeface="Poppins Bold"/>
                <a:ea typeface="Poppins Bold"/>
                <a:cs typeface="Poppins Bold"/>
                <a:sym typeface="Poppins Bold"/>
              </a:rPr>
              <a:t>RESULTS - MEASURES EFFICIENCIES FOR POPULATION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TextBox 2"/>
          <p:cNvSpPr txBox="1"/>
          <p:nvPr/>
        </p:nvSpPr>
        <p:spPr>
          <a:xfrm>
            <a:off x="370546" y="251642"/>
            <a:ext cx="17546908" cy="1135748"/>
          </a:xfrm>
          <a:prstGeom prst="rect">
            <a:avLst/>
          </a:prstGeom>
        </p:spPr>
        <p:txBody>
          <a:bodyPr lIns="0" tIns="0" rIns="0" bIns="0" rtlCol="0" anchor="t">
            <a:spAutoFit/>
          </a:bodyPr>
          <a:lstStyle/>
          <a:p>
            <a:pPr algn="ctr">
              <a:lnSpc>
                <a:spcPts val="8799"/>
              </a:lnSpc>
              <a:spcBef>
                <a:spcPct val="0"/>
              </a:spcBef>
            </a:pPr>
            <a:r>
              <a:rPr lang="en-US" sz="6285" b="1">
                <a:solidFill>
                  <a:srgbClr val="FFFFFF"/>
                </a:solidFill>
                <a:latin typeface="Poppins Bold"/>
                <a:ea typeface="Poppins Bold"/>
                <a:cs typeface="Poppins Bold"/>
                <a:sym typeface="Poppins Bold"/>
              </a:rPr>
              <a:t>ANSWERS TO RESEARCH QUESTIONS</a:t>
            </a:r>
          </a:p>
        </p:txBody>
      </p:sp>
      <p:sp>
        <p:nvSpPr>
          <p:cNvPr id="3" name="TextBox 3"/>
          <p:cNvSpPr txBox="1"/>
          <p:nvPr/>
        </p:nvSpPr>
        <p:spPr>
          <a:xfrm>
            <a:off x="809126" y="1409661"/>
            <a:ext cx="16669748" cy="8522377"/>
          </a:xfrm>
          <a:prstGeom prst="rect">
            <a:avLst/>
          </a:prstGeom>
        </p:spPr>
        <p:txBody>
          <a:bodyPr lIns="0" tIns="0" rIns="0" bIns="0" rtlCol="0" anchor="t">
            <a:spAutoFit/>
          </a:bodyPr>
          <a:lstStyle/>
          <a:p>
            <a:pPr algn="l">
              <a:lnSpc>
                <a:spcPts val="4772"/>
              </a:lnSpc>
            </a:pPr>
            <a:r>
              <a:rPr lang="en-US" sz="2983" b="1">
                <a:solidFill>
                  <a:srgbClr val="FFFFFF"/>
                </a:solidFill>
                <a:latin typeface="Roboto Bold"/>
                <a:ea typeface="Roboto Bold"/>
                <a:cs typeface="Roboto Bold"/>
                <a:sym typeface="Roboto Bold"/>
              </a:rPr>
              <a:t>What are the characteristics of the World Airport Network? Does it have any interesting properties?</a:t>
            </a:r>
          </a:p>
          <a:p>
            <a:pPr marL="644038" lvl="1" indent="-322019" algn="l">
              <a:lnSpc>
                <a:spcPts val="4772"/>
              </a:lnSpc>
              <a:buFont typeface="Arial"/>
              <a:buChar char="•"/>
            </a:pPr>
            <a:r>
              <a:rPr lang="en-US" sz="2983">
                <a:solidFill>
                  <a:srgbClr val="FFFFFF"/>
                </a:solidFill>
                <a:latin typeface="Roboto"/>
                <a:ea typeface="Roboto"/>
                <a:cs typeface="Roboto"/>
                <a:sym typeface="Roboto"/>
              </a:rPr>
              <a:t>The World Airport Network presents a truncated power-law degree distribution and its positive assortativity can be read as a sum of two different “resolutions”</a:t>
            </a:r>
          </a:p>
          <a:p>
            <a:pPr algn="l">
              <a:lnSpc>
                <a:spcPts val="4772"/>
              </a:lnSpc>
            </a:pPr>
            <a:r>
              <a:rPr lang="en-US" sz="2983" b="1">
                <a:solidFill>
                  <a:srgbClr val="FFFFFF"/>
                </a:solidFill>
                <a:latin typeface="Roboto Bold"/>
                <a:ea typeface="Roboto Bold"/>
                <a:cs typeface="Roboto Bold"/>
                <a:sym typeface="Roboto Bold"/>
              </a:rPr>
              <a:t>Is hub targeting the best way to obstruct a disease spread? Are there other preferable approaches?</a:t>
            </a:r>
          </a:p>
          <a:p>
            <a:pPr marL="644038" lvl="1" indent="-322019" algn="l">
              <a:lnSpc>
                <a:spcPts val="4772"/>
              </a:lnSpc>
              <a:buFont typeface="Arial"/>
              <a:buChar char="•"/>
            </a:pPr>
            <a:r>
              <a:rPr lang="en-US" sz="2983">
                <a:solidFill>
                  <a:srgbClr val="FFFFFF"/>
                </a:solidFill>
                <a:latin typeface="Roboto"/>
                <a:ea typeface="Roboto"/>
                <a:cs typeface="Roboto"/>
                <a:sym typeface="Roboto"/>
              </a:rPr>
              <a:t>Targeting nodes with high weighted degree centrality is always suboptimal with respect to the strategy that takes PageRank into account. The CI algorithm is best with respect to peak delay and reduction. </a:t>
            </a:r>
          </a:p>
          <a:p>
            <a:pPr algn="l">
              <a:lnSpc>
                <a:spcPts val="4935"/>
              </a:lnSpc>
            </a:pPr>
            <a:r>
              <a:rPr lang="en-US" sz="3084" b="1">
                <a:solidFill>
                  <a:srgbClr val="FFFFFF"/>
                </a:solidFill>
                <a:latin typeface="Roboto Bold"/>
                <a:ea typeface="Roboto Bold"/>
                <a:cs typeface="Roboto Bold"/>
                <a:sym typeface="Roboto Bold"/>
              </a:rPr>
              <a:t>How do our results change if we factor in the economic aspect of shutting down entire airports?</a:t>
            </a:r>
          </a:p>
          <a:p>
            <a:pPr marL="665994" lvl="1" indent="-332997" algn="l">
              <a:lnSpc>
                <a:spcPts val="4935"/>
              </a:lnSpc>
              <a:buFont typeface="Arial"/>
              <a:buChar char="•"/>
            </a:pPr>
            <a:r>
              <a:rPr lang="en-US" sz="3084">
                <a:solidFill>
                  <a:srgbClr val="FFFFFF"/>
                </a:solidFill>
                <a:latin typeface="Roboto"/>
                <a:ea typeface="Roboto"/>
                <a:cs typeface="Roboto"/>
                <a:sym typeface="Roboto"/>
              </a:rPr>
              <a:t>It is possible to build an efficency frontier to understand which strategies are dominated. All the strategies on the frontier mean that if you spend more you will get more protection, but the steeper the line the more it makes sense to switch the strategy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Freeform 2"/>
          <p:cNvSpPr/>
          <p:nvPr/>
        </p:nvSpPr>
        <p:spPr>
          <a:xfrm rot="874125">
            <a:off x="14700046" y="702221"/>
            <a:ext cx="2994002" cy="2994002"/>
          </a:xfrm>
          <a:custGeom>
            <a:avLst/>
            <a:gdLst/>
            <a:ahLst/>
            <a:cxnLst/>
            <a:rect l="l" t="t" r="r" b="b"/>
            <a:pathLst>
              <a:path w="2994002" h="2994002">
                <a:moveTo>
                  <a:pt x="0" y="0"/>
                </a:moveTo>
                <a:lnTo>
                  <a:pt x="2994002" y="0"/>
                </a:lnTo>
                <a:lnTo>
                  <a:pt x="2994002" y="2994002"/>
                </a:lnTo>
                <a:lnTo>
                  <a:pt x="0" y="299400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3" name="Freeform 3"/>
          <p:cNvSpPr/>
          <p:nvPr/>
        </p:nvSpPr>
        <p:spPr>
          <a:xfrm rot="-708830">
            <a:off x="633841" y="666303"/>
            <a:ext cx="3196662" cy="3278627"/>
          </a:xfrm>
          <a:custGeom>
            <a:avLst/>
            <a:gdLst/>
            <a:ahLst/>
            <a:cxnLst/>
            <a:rect l="l" t="t" r="r" b="b"/>
            <a:pathLst>
              <a:path w="3196662" h="3278627">
                <a:moveTo>
                  <a:pt x="0" y="0"/>
                </a:moveTo>
                <a:lnTo>
                  <a:pt x="3196661" y="0"/>
                </a:lnTo>
                <a:lnTo>
                  <a:pt x="3196661" y="3278627"/>
                </a:lnTo>
                <a:lnTo>
                  <a:pt x="0" y="3278627"/>
                </a:lnTo>
                <a:lnTo>
                  <a:pt x="0" y="0"/>
                </a:lnTo>
                <a:close/>
              </a:path>
            </a:pathLst>
          </a:custGeom>
          <a:blipFill>
            <a:blip r:embed="rId3"/>
            <a:stretch>
              <a:fillRect/>
            </a:stretch>
          </a:blipFill>
          <a:ln cap="sq">
            <a:noFill/>
            <a:prstDash val="solid"/>
            <a:miter/>
          </a:ln>
        </p:spPr>
        <p:txBody>
          <a:bodyPr/>
          <a:lstStyle/>
          <a:p>
            <a:endParaRPr lang="it-IT"/>
          </a:p>
        </p:txBody>
      </p:sp>
      <p:sp>
        <p:nvSpPr>
          <p:cNvPr id="4" name="TextBox 4"/>
          <p:cNvSpPr txBox="1"/>
          <p:nvPr/>
        </p:nvSpPr>
        <p:spPr>
          <a:xfrm>
            <a:off x="332076" y="1645294"/>
            <a:ext cx="17546908" cy="2011436"/>
          </a:xfrm>
          <a:prstGeom prst="rect">
            <a:avLst/>
          </a:prstGeom>
        </p:spPr>
        <p:txBody>
          <a:bodyPr lIns="0" tIns="0" rIns="0" bIns="0" rtlCol="0" anchor="t">
            <a:spAutoFit/>
          </a:bodyPr>
          <a:lstStyle/>
          <a:p>
            <a:pPr algn="ctr">
              <a:lnSpc>
                <a:spcPts val="15658"/>
              </a:lnSpc>
              <a:spcBef>
                <a:spcPct val="0"/>
              </a:spcBef>
            </a:pPr>
            <a:r>
              <a:rPr lang="en-US" sz="11184" b="1">
                <a:solidFill>
                  <a:srgbClr val="FFFFFF"/>
                </a:solidFill>
                <a:latin typeface="Poppins Bold"/>
                <a:ea typeface="Poppins Bold"/>
                <a:cs typeface="Poppins Bold"/>
                <a:sym typeface="Poppins Bold"/>
              </a:rPr>
              <a:t>CONCLUSION</a:t>
            </a:r>
          </a:p>
        </p:txBody>
      </p:sp>
      <p:sp>
        <p:nvSpPr>
          <p:cNvPr id="5" name="TextBox 5"/>
          <p:cNvSpPr txBox="1"/>
          <p:nvPr/>
        </p:nvSpPr>
        <p:spPr>
          <a:xfrm>
            <a:off x="593031" y="4590056"/>
            <a:ext cx="17429441" cy="1002114"/>
          </a:xfrm>
          <a:prstGeom prst="rect">
            <a:avLst/>
          </a:prstGeom>
        </p:spPr>
        <p:txBody>
          <a:bodyPr lIns="0" tIns="0" rIns="0" bIns="0" rtlCol="0" anchor="t">
            <a:spAutoFit/>
          </a:bodyPr>
          <a:lstStyle/>
          <a:p>
            <a:pPr algn="ctr">
              <a:lnSpc>
                <a:spcPts val="8290"/>
              </a:lnSpc>
            </a:pPr>
            <a:r>
              <a:rPr lang="en-US" sz="5921" b="1">
                <a:solidFill>
                  <a:srgbClr val="E00000"/>
                </a:solidFill>
                <a:latin typeface="Open Sans Bold"/>
                <a:ea typeface="Open Sans Bold"/>
                <a:cs typeface="Open Sans Bold"/>
                <a:sym typeface="Open Sans Bold"/>
              </a:rPr>
              <a:t>There is no single best answer for all scenarios</a:t>
            </a:r>
          </a:p>
        </p:txBody>
      </p:sp>
      <p:sp>
        <p:nvSpPr>
          <p:cNvPr id="6" name="TextBox 6"/>
          <p:cNvSpPr txBox="1"/>
          <p:nvPr/>
        </p:nvSpPr>
        <p:spPr>
          <a:xfrm>
            <a:off x="979813" y="6535144"/>
            <a:ext cx="16655877" cy="1735907"/>
          </a:xfrm>
          <a:prstGeom prst="rect">
            <a:avLst/>
          </a:prstGeom>
        </p:spPr>
        <p:txBody>
          <a:bodyPr lIns="0" tIns="0" rIns="0" bIns="0" rtlCol="0" anchor="t">
            <a:spAutoFit/>
          </a:bodyPr>
          <a:lstStyle/>
          <a:p>
            <a:pPr algn="ctr">
              <a:lnSpc>
                <a:spcPts val="6961"/>
              </a:lnSpc>
            </a:pPr>
            <a:r>
              <a:rPr lang="en-US" sz="4972" b="1">
                <a:solidFill>
                  <a:srgbClr val="FFFCFC"/>
                </a:solidFill>
                <a:latin typeface="Open Sans Bold"/>
                <a:ea typeface="Open Sans Bold"/>
                <a:cs typeface="Open Sans Bold"/>
                <a:sym typeface="Open Sans Bold"/>
              </a:rPr>
              <a:t>Knowledge on disease aggressiveness and starting points is key to selecting the most effective strategy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TextBox 2"/>
          <p:cNvSpPr txBox="1"/>
          <p:nvPr/>
        </p:nvSpPr>
        <p:spPr>
          <a:xfrm>
            <a:off x="2564421" y="4545579"/>
            <a:ext cx="13159158" cy="1072017"/>
          </a:xfrm>
          <a:prstGeom prst="rect">
            <a:avLst/>
          </a:prstGeom>
        </p:spPr>
        <p:txBody>
          <a:bodyPr lIns="0" tIns="0" rIns="0" bIns="0" rtlCol="0" anchor="t">
            <a:spAutoFit/>
          </a:bodyPr>
          <a:lstStyle/>
          <a:p>
            <a:pPr algn="ctr">
              <a:lnSpc>
                <a:spcPts val="8717"/>
              </a:lnSpc>
            </a:pPr>
            <a:r>
              <a:rPr lang="en-US" sz="6226" b="1">
                <a:solidFill>
                  <a:srgbClr val="FFFCFC"/>
                </a:solidFill>
                <a:latin typeface="Open Sans Bold"/>
                <a:ea typeface="Open Sans Bold"/>
                <a:cs typeface="Open Sans Bold"/>
                <a:sym typeface="Open Sans Bold"/>
              </a:rPr>
              <a:t>Thank you for the kind attention!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9A5FF"/>
        </a:solidFill>
        <a:effectLst/>
      </p:bgPr>
    </p:bg>
    <p:spTree>
      <p:nvGrpSpPr>
        <p:cNvPr id="1" name=""/>
        <p:cNvGrpSpPr/>
        <p:nvPr/>
      </p:nvGrpSpPr>
      <p:grpSpPr>
        <a:xfrm>
          <a:off x="0" y="0"/>
          <a:ext cx="0" cy="0"/>
          <a:chOff x="0" y="0"/>
          <a:chExt cx="0" cy="0"/>
        </a:xfrm>
      </p:grpSpPr>
      <p:sp>
        <p:nvSpPr>
          <p:cNvPr id="2" name="TextBox 2"/>
          <p:cNvSpPr txBox="1"/>
          <p:nvPr/>
        </p:nvSpPr>
        <p:spPr>
          <a:xfrm>
            <a:off x="705242" y="150178"/>
            <a:ext cx="6152758" cy="1576069"/>
          </a:xfrm>
          <a:prstGeom prst="rect">
            <a:avLst/>
          </a:prstGeom>
        </p:spPr>
        <p:txBody>
          <a:bodyPr wrap="square" lIns="0" tIns="0" rIns="0" bIns="0" rtlCol="0" anchor="t">
            <a:spAutoFit/>
          </a:bodyPr>
          <a:lstStyle/>
          <a:p>
            <a:pPr algn="ctr">
              <a:lnSpc>
                <a:spcPts val="12880"/>
              </a:lnSpc>
            </a:pPr>
            <a:r>
              <a:rPr lang="en-US" sz="9200" b="1" dirty="0">
                <a:solidFill>
                  <a:srgbClr val="FFFFFF"/>
                </a:solidFill>
                <a:latin typeface="Roboto Bold"/>
                <a:ea typeface="Roboto Bold"/>
                <a:cs typeface="Roboto Bold"/>
                <a:sym typeface="Roboto Bold"/>
              </a:rPr>
              <a:t>References</a:t>
            </a:r>
          </a:p>
        </p:txBody>
      </p:sp>
      <p:sp>
        <p:nvSpPr>
          <p:cNvPr id="3" name="TextBox 3"/>
          <p:cNvSpPr txBox="1"/>
          <p:nvPr/>
        </p:nvSpPr>
        <p:spPr>
          <a:xfrm>
            <a:off x="342574" y="1913205"/>
            <a:ext cx="17602851" cy="7912911"/>
          </a:xfrm>
          <a:prstGeom prst="rect">
            <a:avLst/>
          </a:prstGeom>
        </p:spPr>
        <p:txBody>
          <a:bodyPr lIns="0" tIns="0" rIns="0" bIns="0" rtlCol="0" anchor="t">
            <a:spAutoFit/>
          </a:bodyPr>
          <a:lstStyle/>
          <a:p>
            <a:pPr marL="748759" lvl="1" indent="-374380" algn="l">
              <a:lnSpc>
                <a:spcPts val="4855"/>
              </a:lnSpc>
              <a:buAutoNum type="arabicPeriod"/>
            </a:pPr>
            <a:r>
              <a:rPr lang="en-US" sz="3468" b="1" dirty="0" err="1">
                <a:solidFill>
                  <a:srgbClr val="FFFFFF"/>
                </a:solidFill>
                <a:latin typeface="Roboto Bold"/>
                <a:ea typeface="Roboto Bold"/>
                <a:cs typeface="Roboto Bold"/>
                <a:sym typeface="Roboto Bold"/>
              </a:rPr>
              <a:t>Colizza</a:t>
            </a:r>
            <a:r>
              <a:rPr lang="en-US" sz="3468" b="1" dirty="0">
                <a:solidFill>
                  <a:srgbClr val="FFFFFF"/>
                </a:solidFill>
                <a:latin typeface="Roboto Bold"/>
                <a:ea typeface="Roboto Bold"/>
                <a:cs typeface="Roboto Bold"/>
                <a:sym typeface="Roboto Bold"/>
              </a:rPr>
              <a:t>, V., Barrat, A., Barthélemy, M., &amp; Vespignani, A. (2006)</a:t>
            </a:r>
            <a:r>
              <a:rPr lang="en-US" sz="3468" dirty="0">
                <a:solidFill>
                  <a:srgbClr val="FFFFFF"/>
                </a:solidFill>
                <a:latin typeface="Roboto"/>
                <a:ea typeface="Roboto"/>
                <a:cs typeface="Roboto"/>
                <a:sym typeface="Roboto"/>
              </a:rPr>
              <a:t>. The role of the airline transportation network in the prediction and predictability of global epidemics. Proceedings of the National Academy of Sciences (PNAS), 103(7), 2015-2020</a:t>
            </a:r>
          </a:p>
          <a:p>
            <a:pPr marL="748759" lvl="1" indent="-374380" algn="l">
              <a:lnSpc>
                <a:spcPts val="4855"/>
              </a:lnSpc>
              <a:buAutoNum type="arabicPeriod"/>
            </a:pPr>
            <a:r>
              <a:rPr lang="en-US" sz="3468" b="1" dirty="0">
                <a:solidFill>
                  <a:srgbClr val="FFFFFF"/>
                </a:solidFill>
                <a:latin typeface="Roboto Bold"/>
                <a:ea typeface="Roboto Bold"/>
                <a:cs typeface="Roboto Bold"/>
                <a:sym typeface="Roboto Bold"/>
              </a:rPr>
              <a:t>Şimşek, A. (2021)</a:t>
            </a:r>
            <a:r>
              <a:rPr lang="en-US" sz="3468" dirty="0">
                <a:solidFill>
                  <a:srgbClr val="FFFFFF"/>
                </a:solidFill>
                <a:latin typeface="Roboto"/>
                <a:ea typeface="Roboto"/>
                <a:cs typeface="Roboto"/>
                <a:sym typeface="Roboto"/>
              </a:rPr>
              <a:t>. Estimating the Expected Influence Capacities of Nodes in Complex Networks under the Susceptible-Infectious-Recovered (SIR) Model. Complexity, 2021</a:t>
            </a:r>
          </a:p>
          <a:p>
            <a:pPr marL="748759" lvl="1" indent="-374380" algn="l">
              <a:lnSpc>
                <a:spcPts val="4855"/>
              </a:lnSpc>
              <a:buAutoNum type="arabicPeriod"/>
            </a:pPr>
            <a:r>
              <a:rPr lang="en-US" sz="3468" b="1" dirty="0" err="1">
                <a:solidFill>
                  <a:srgbClr val="FFFFFF"/>
                </a:solidFill>
                <a:latin typeface="Roboto Bold"/>
                <a:ea typeface="Roboto Bold"/>
                <a:cs typeface="Roboto Bold"/>
                <a:sym typeface="Roboto Bold"/>
              </a:rPr>
              <a:t>Balcan</a:t>
            </a:r>
            <a:r>
              <a:rPr lang="en-US" sz="3468" b="1" dirty="0">
                <a:solidFill>
                  <a:srgbClr val="FFFFFF"/>
                </a:solidFill>
                <a:latin typeface="Roboto Bold"/>
                <a:ea typeface="Roboto Bold"/>
                <a:cs typeface="Roboto Bold"/>
                <a:sym typeface="Roboto Bold"/>
              </a:rPr>
              <a:t>, D., </a:t>
            </a:r>
            <a:r>
              <a:rPr lang="en-US" sz="3468" b="1" dirty="0" err="1">
                <a:solidFill>
                  <a:srgbClr val="FFFFFF"/>
                </a:solidFill>
                <a:latin typeface="Roboto Bold"/>
                <a:ea typeface="Roboto Bold"/>
                <a:cs typeface="Roboto Bold"/>
                <a:sym typeface="Roboto Bold"/>
              </a:rPr>
              <a:t>Colizza</a:t>
            </a:r>
            <a:r>
              <a:rPr lang="en-US" sz="3468" b="1" dirty="0">
                <a:solidFill>
                  <a:srgbClr val="FFFFFF"/>
                </a:solidFill>
                <a:latin typeface="Roboto Bold"/>
                <a:ea typeface="Roboto Bold"/>
                <a:cs typeface="Roboto Bold"/>
                <a:sym typeface="Roboto Bold"/>
              </a:rPr>
              <a:t>, V., Gonçalves, B., Hu, H., </a:t>
            </a:r>
            <a:r>
              <a:rPr lang="en-US" sz="3468" b="1" dirty="0" err="1">
                <a:solidFill>
                  <a:srgbClr val="FFFFFF"/>
                </a:solidFill>
                <a:latin typeface="Roboto Bold"/>
                <a:ea typeface="Roboto Bold"/>
                <a:cs typeface="Roboto Bold"/>
                <a:sym typeface="Roboto Bold"/>
              </a:rPr>
              <a:t>Ramasco</a:t>
            </a:r>
            <a:r>
              <a:rPr lang="en-US" sz="3468" b="1" dirty="0">
                <a:solidFill>
                  <a:srgbClr val="FFFFFF"/>
                </a:solidFill>
                <a:latin typeface="Roboto Bold"/>
                <a:ea typeface="Roboto Bold"/>
                <a:cs typeface="Roboto Bold"/>
                <a:sym typeface="Roboto Bold"/>
              </a:rPr>
              <a:t>, J. J., &amp; Vespignani, A. (2009)</a:t>
            </a:r>
            <a:r>
              <a:rPr lang="en-US" sz="3468" dirty="0">
                <a:solidFill>
                  <a:srgbClr val="FFFFFF"/>
                </a:solidFill>
                <a:latin typeface="Roboto"/>
                <a:ea typeface="Roboto"/>
                <a:cs typeface="Roboto"/>
                <a:sym typeface="Roboto"/>
              </a:rPr>
              <a:t>. Multiscale mobility networks and the spatial spreading of infectious diseases. Proceedings of the National Academy of Sciences (PNAS), 106(51), 21484-21489</a:t>
            </a:r>
          </a:p>
          <a:p>
            <a:pPr marL="748759" lvl="1" indent="-374380" algn="l">
              <a:lnSpc>
                <a:spcPts val="4855"/>
              </a:lnSpc>
              <a:buAutoNum type="arabicPeriod"/>
            </a:pPr>
            <a:r>
              <a:rPr lang="en-US" sz="3468" b="1" dirty="0">
                <a:solidFill>
                  <a:srgbClr val="FFFFFF"/>
                </a:solidFill>
                <a:latin typeface="Roboto Bold"/>
                <a:ea typeface="Roboto Bold"/>
                <a:cs typeface="Roboto Bold"/>
                <a:sym typeface="Roboto Bold"/>
              </a:rPr>
              <a:t>Doina </a:t>
            </a:r>
            <a:r>
              <a:rPr lang="en-US" sz="3468" b="1" dirty="0" err="1">
                <a:solidFill>
                  <a:srgbClr val="FFFFFF"/>
                </a:solidFill>
                <a:latin typeface="Roboto Bold"/>
                <a:ea typeface="Roboto Bold"/>
                <a:cs typeface="Roboto Bold"/>
                <a:sym typeface="Roboto Bold"/>
              </a:rPr>
              <a:t>BucurI</a:t>
            </a:r>
            <a:r>
              <a:rPr lang="en-US" sz="3468" b="1" dirty="0">
                <a:solidFill>
                  <a:srgbClr val="FFFFFF"/>
                </a:solidFill>
                <a:latin typeface="Roboto Bold"/>
                <a:ea typeface="Roboto Bold"/>
                <a:cs typeface="Roboto Bold"/>
                <a:sym typeface="Roboto Bold"/>
              </a:rPr>
              <a:t>, Petter Holme (2020).</a:t>
            </a:r>
            <a:r>
              <a:rPr lang="en-US" sz="3468" dirty="0">
                <a:solidFill>
                  <a:srgbClr val="FFFFFF"/>
                </a:solidFill>
                <a:latin typeface="Roboto"/>
                <a:ea typeface="Roboto"/>
                <a:cs typeface="Roboto"/>
                <a:sym typeface="Roboto"/>
              </a:rPr>
              <a:t> Beyond ranking nodes: Predicting epidemic outbreak sizes by network centralities</a:t>
            </a:r>
          </a:p>
          <a:p>
            <a:pPr marL="748759" lvl="1" indent="-374380" algn="l">
              <a:lnSpc>
                <a:spcPts val="4855"/>
              </a:lnSpc>
              <a:buAutoNum type="arabicPeriod"/>
            </a:pPr>
            <a:r>
              <a:rPr lang="en-US" sz="3468" b="1" dirty="0">
                <a:solidFill>
                  <a:srgbClr val="FFFFFF"/>
                </a:solidFill>
                <a:latin typeface="Roboto Bold"/>
                <a:ea typeface="Roboto Bold"/>
                <a:cs typeface="Roboto Bold"/>
                <a:sym typeface="Roboto Bold"/>
                <a:hlinkClick r:id="rId2" tooltip="https://www.pnas.org/doi/full/10.1073/pnas.0400087101#con1"/>
              </a:rPr>
              <a:t>A. Barrat</a:t>
            </a:r>
            <a:r>
              <a:rPr lang="en-US" sz="3468" b="1" dirty="0">
                <a:solidFill>
                  <a:srgbClr val="FFFFFF"/>
                </a:solidFill>
                <a:latin typeface="Roboto Bold"/>
                <a:ea typeface="Roboto Bold"/>
                <a:cs typeface="Roboto Bold"/>
                <a:sym typeface="Roboto Bold"/>
              </a:rPr>
              <a:t>, </a:t>
            </a:r>
            <a:r>
              <a:rPr lang="en-US" sz="3468" b="1" dirty="0">
                <a:solidFill>
                  <a:srgbClr val="FFFFFF"/>
                </a:solidFill>
                <a:latin typeface="Roboto Bold"/>
                <a:ea typeface="Roboto Bold"/>
                <a:cs typeface="Roboto Bold"/>
                <a:sym typeface="Roboto Bold"/>
                <a:hlinkClick r:id="rId3" tooltip="https://www.pnas.org/doi/full/10.1073/pnas.0400087101#con2"/>
              </a:rPr>
              <a:t>M. Barthélemy</a:t>
            </a:r>
            <a:r>
              <a:rPr lang="en-US" sz="3468" b="1" dirty="0">
                <a:solidFill>
                  <a:srgbClr val="FFFFFF"/>
                </a:solidFill>
                <a:latin typeface="Roboto Bold"/>
                <a:ea typeface="Roboto Bold"/>
                <a:cs typeface="Roboto Bold"/>
                <a:sym typeface="Roboto Bold"/>
              </a:rPr>
              <a:t>, </a:t>
            </a:r>
            <a:r>
              <a:rPr lang="en-US" sz="3468" b="1" dirty="0">
                <a:solidFill>
                  <a:srgbClr val="FFFFFF"/>
                </a:solidFill>
                <a:latin typeface="Roboto Bold"/>
                <a:ea typeface="Roboto Bold"/>
                <a:cs typeface="Roboto Bold"/>
                <a:sym typeface="Roboto Bold"/>
                <a:hlinkClick r:id="rId4" tooltip="https://www.pnas.org/doi/full/10.1073/pnas.0400087101#con3"/>
              </a:rPr>
              <a:t>R. Pastor-</a:t>
            </a:r>
            <a:r>
              <a:rPr lang="en-US" sz="3468" b="1" dirty="0" err="1">
                <a:solidFill>
                  <a:srgbClr val="FFFFFF"/>
                </a:solidFill>
                <a:latin typeface="Roboto Bold"/>
                <a:ea typeface="Roboto Bold"/>
                <a:cs typeface="Roboto Bold"/>
                <a:sym typeface="Roboto Bold"/>
                <a:hlinkClick r:id="rId4" tooltip="https://www.pnas.org/doi/full/10.1073/pnas.0400087101#con3"/>
              </a:rPr>
              <a:t>Satorras</a:t>
            </a:r>
            <a:r>
              <a:rPr lang="en-US" sz="3468" b="1" dirty="0">
                <a:solidFill>
                  <a:srgbClr val="FFFFFF"/>
                </a:solidFill>
                <a:latin typeface="Roboto Bold"/>
                <a:ea typeface="Roboto Bold"/>
                <a:cs typeface="Roboto Bold"/>
                <a:sym typeface="Roboto Bold"/>
              </a:rPr>
              <a:t>, and </a:t>
            </a:r>
            <a:r>
              <a:rPr lang="en-US" sz="3468" b="1" dirty="0">
                <a:solidFill>
                  <a:srgbClr val="FFFFFF"/>
                </a:solidFill>
                <a:latin typeface="Roboto Bold"/>
                <a:ea typeface="Roboto Bold"/>
                <a:cs typeface="Roboto Bold"/>
                <a:sym typeface="Roboto Bold"/>
                <a:hlinkClick r:id="rId5" tooltip="https://www.pnas.org/doi/full/10.1073/pnas.0400087101#con4"/>
              </a:rPr>
              <a:t>A. Vespignani</a:t>
            </a:r>
            <a:r>
              <a:rPr lang="en-US" sz="3468" b="1" dirty="0">
                <a:solidFill>
                  <a:srgbClr val="FFFFFF"/>
                </a:solidFill>
                <a:latin typeface="Roboto Bold"/>
                <a:ea typeface="Roboto Bold"/>
                <a:cs typeface="Roboto Bold"/>
                <a:sym typeface="Roboto Bold"/>
              </a:rPr>
              <a:t> (2004)</a:t>
            </a:r>
            <a:r>
              <a:rPr lang="en-US" sz="3468" dirty="0">
                <a:solidFill>
                  <a:srgbClr val="FFFFFF"/>
                </a:solidFill>
                <a:latin typeface="Roboto"/>
                <a:ea typeface="Roboto"/>
                <a:cs typeface="Roboto"/>
                <a:sym typeface="Roboto"/>
              </a:rPr>
              <a:t> The architecture of complex weighted networks</a:t>
            </a:r>
          </a:p>
          <a:p>
            <a:pPr algn="l">
              <a:lnSpc>
                <a:spcPts val="4855"/>
              </a:lnSpc>
            </a:pPr>
            <a:endParaRPr lang="en-US" sz="3468" dirty="0">
              <a:solidFill>
                <a:srgbClr val="FFFFFF"/>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2305</Words>
  <Application>Microsoft Office PowerPoint</Application>
  <PresentationFormat>Personalizzato</PresentationFormat>
  <Paragraphs>291</Paragraphs>
  <Slides>41</Slides>
  <Notes>0</Notes>
  <HiddenSlides>0</HiddenSlides>
  <MMClips>0</MMClips>
  <ScaleCrop>false</ScaleCrop>
  <HeadingPairs>
    <vt:vector size="6" baseType="variant">
      <vt:variant>
        <vt:lpstr>Caratteri utilizzati</vt:lpstr>
      </vt:variant>
      <vt:variant>
        <vt:i4>11</vt:i4>
      </vt:variant>
      <vt:variant>
        <vt:lpstr>Tema</vt:lpstr>
      </vt:variant>
      <vt:variant>
        <vt:i4>1</vt:i4>
      </vt:variant>
      <vt:variant>
        <vt:lpstr>Titoli diapositive</vt:lpstr>
      </vt:variant>
      <vt:variant>
        <vt:i4>41</vt:i4>
      </vt:variant>
    </vt:vector>
  </HeadingPairs>
  <TitlesOfParts>
    <vt:vector size="53" baseType="lpstr">
      <vt:lpstr>Roboto Bold</vt:lpstr>
      <vt:lpstr>Open Sans Bold</vt:lpstr>
      <vt:lpstr>Calibri</vt:lpstr>
      <vt:lpstr>Roboto Bold Italics</vt:lpstr>
      <vt:lpstr>Roboto Italics</vt:lpstr>
      <vt:lpstr>Lato Bold</vt:lpstr>
      <vt:lpstr>Lato</vt:lpstr>
      <vt:lpstr>Roboto</vt:lpstr>
      <vt:lpstr>Open Sans</vt:lpstr>
      <vt:lpstr>Poppins Bold</vt:lpstr>
      <vt:lpstr>Arial</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Marco Minchella</dc:title>
  <cp:lastModifiedBy>m25487</cp:lastModifiedBy>
  <cp:revision>5</cp:revision>
  <dcterms:created xsi:type="dcterms:W3CDTF">2006-08-16T00:00:00Z</dcterms:created>
  <dcterms:modified xsi:type="dcterms:W3CDTF">2026-09-07T16:57:48Z</dcterms:modified>
  <dc:identifier>DAG_RGEgXHg</dc:identifier>
</cp:coreProperties>
</file>